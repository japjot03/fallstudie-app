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 id="275" r:id="rId20"/>
    <p:sldId id="276" r:id="rId21"/>
    <p:sldId id="277" r:id="rId22"/>
    <p:sldId id="278" r:id="rId23"/>
    <p:sldId id="279" r:id="rId24"/>
    <p:sldId id="280" r:id="rId25"/>
    <p:sldId id="281"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7"/>
    <p:restoredTop sz="94610"/>
  </p:normalViewPr>
  <p:slideViewPr>
    <p:cSldViewPr snapToGrid="0" snapToObjects="1">
      <p:cViewPr>
        <p:scale>
          <a:sx n="48" d="100"/>
          <a:sy n="48" d="100"/>
        </p:scale>
        <p:origin x="1288" y="3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00816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 vorstellen: Name, Ausbildungsberuf, Thema des Projekts. Ein Satz zum Ziel der App.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in 20 Sekunden durchgehen. Schwerpunkt ankündigen: Punkt 2 bis 4.</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Begründen, warum abgegrenzt wurde: Zeitrahmen des Projekts und Fokus auf die Kernfunktion.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Überleitung: Jetzt die App selbst zeigen. Ankündigen, dass die Liste beim Vorführen abgehakt wird.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Nach jeder vorgeführten Funktion einmal klicken – der Haken erscheint. So bleibt für alle sichtbar, wo wir im Ablauf stehen.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 Code-Typ einmal vorführen und dann klicken. Reihenfolge frei – die Klicks folgen der Kartenreihenfolge von links nach rechts.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Überleitung von der Bedienung zur technischen Umsetzung.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Überblick geben, dann auf den folgenden Folien je Plugin den Code zeigen. Alle laufen über die Capacitor-Bridge zwischen Vue-Frontend und Android-Runtime.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Erklären: checkPermissions liefert den aktuellen Status, erst danach wird requestPermissions aufgerufen. Der Rückgabewert entscheidet, ob der Scanner überhaupt startet.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 die Fallunterscheidung hervorheben: nativ liefert der Picker eine Datei-URI, im Browser nur einen webPath, aus dem ein Blob geholt wird.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Guter Moment, um die Typ-Erkennung aus Kapitel 4 mit dem Code zu verbinden: valueType steuert, was passiert.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Zeigen, dass die generische Funktion einmal existiert und von mehreren Stellen wiederverwendet wird.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Wichtiger Punkt: Haptik ist nicht überall verfügbar. Der try/catch verhindert, dass die App im Browser abbricht.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Erklären, warum normalisiert wird: alte Einträge können ein anderes Format haben als die aktuelle Version.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Unterschied betonen: shareText für den reinen Wert, shareFile für den Export einer Datei.</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Zusammenhang zur vorigen Folie: erst schreiben, dann die URI der Datei an Share übergeben.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Ankündigen: Zu jedem Problem gibt es eine Lösung – das ist der Kern dieses Abschnitts.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 auf die Code-Folie zum Barcode Plugin zurückverweisen: genau diese Funktion löst das Problem.</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Betonen, dass die Fehlermeldung in die falsche Richtung führte – die Suche nach der Ursache hat mehr Zeit gekostet als die Behebung.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Offen sagen, dass hier ein KI-Werkzeug beim Muster geholfen hat – das passt zum Kapitel Angewendete Tools.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Guter Anknüpfungspunkt an die Folie Erkannter Typ bestimmt die Aktion: ohne saubere Erkennung landet alles im Typ Text.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 erwähnen, welche Geräte konkret genutzt wurden und ob dabei Unterschiede aufgefallen sind.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Kurzer Abschnitt – Werkzeuge nennen und begründen.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Zwei Blöcke: oben die Werkzeuge rund um die Entwicklung, unten der eigentliche Stack der App. Bei Claude und Codex ehrlich sagen, wofür sie genutzt wurden.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Mit einem klaren Satz abschließen, dann Blick ins Publikum und auf Fragen warten.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40080" y="960120"/>
            <a:ext cx="137160" cy="457200"/>
          </a:xfrm>
          <a:prstGeom prst="rect">
            <a:avLst/>
          </a:prstGeom>
          <a:solidFill>
            <a:srgbClr val="00D9A3"/>
          </a:solidFill>
          <a:ln w="12700">
            <a:solidFill>
              <a:srgbClr val="00D9A3"/>
            </a:solidFill>
            <a:prstDash val="solid"/>
          </a:ln>
        </p:spPr>
        <p:txBody>
          <a:bodyPr/>
          <a:lstStyle/>
          <a:p>
            <a:endParaRPr lang="en-US"/>
          </a:p>
        </p:txBody>
      </p:sp>
      <p:sp>
        <p:nvSpPr>
          <p:cNvPr id="3" name="Shape 1"/>
          <p:cNvSpPr/>
          <p:nvPr/>
        </p:nvSpPr>
        <p:spPr>
          <a:xfrm>
            <a:off x="914400" y="960120"/>
            <a:ext cx="45720" cy="457200"/>
          </a:xfrm>
          <a:prstGeom prst="rect">
            <a:avLst/>
          </a:prstGeom>
          <a:solidFill>
            <a:srgbClr val="00D9A3"/>
          </a:solidFill>
          <a:ln w="12700">
            <a:solidFill>
              <a:srgbClr val="00D9A3"/>
            </a:solidFill>
            <a:prstDash val="solid"/>
          </a:ln>
        </p:spPr>
        <p:txBody>
          <a:bodyPr/>
          <a:lstStyle/>
          <a:p>
            <a:endParaRPr lang="en-US"/>
          </a:p>
        </p:txBody>
      </p:sp>
      <p:sp>
        <p:nvSpPr>
          <p:cNvPr id="4" name="Shape 2"/>
          <p:cNvSpPr/>
          <p:nvPr/>
        </p:nvSpPr>
        <p:spPr>
          <a:xfrm>
            <a:off x="1143000" y="960120"/>
            <a:ext cx="45720" cy="457200"/>
          </a:xfrm>
          <a:prstGeom prst="rect">
            <a:avLst/>
          </a:prstGeom>
          <a:solidFill>
            <a:srgbClr val="00D9A3"/>
          </a:solidFill>
          <a:ln w="12700">
            <a:solidFill>
              <a:srgbClr val="00D9A3"/>
            </a:solidFill>
            <a:prstDash val="solid"/>
          </a:ln>
        </p:spPr>
        <p:txBody>
          <a:bodyPr/>
          <a:lstStyle/>
          <a:p>
            <a:endParaRPr lang="en-US"/>
          </a:p>
        </p:txBody>
      </p:sp>
      <p:sp>
        <p:nvSpPr>
          <p:cNvPr id="5" name="Shape 3"/>
          <p:cNvSpPr/>
          <p:nvPr/>
        </p:nvSpPr>
        <p:spPr>
          <a:xfrm>
            <a:off x="1463040" y="960120"/>
            <a:ext cx="45720" cy="457200"/>
          </a:xfrm>
          <a:prstGeom prst="rect">
            <a:avLst/>
          </a:prstGeom>
          <a:solidFill>
            <a:srgbClr val="00D9A3"/>
          </a:solidFill>
          <a:ln w="12700">
            <a:solidFill>
              <a:srgbClr val="00D9A3"/>
            </a:solidFill>
            <a:prstDash val="solid"/>
          </a:ln>
        </p:spPr>
        <p:txBody>
          <a:bodyPr/>
          <a:lstStyle/>
          <a:p>
            <a:endParaRPr lang="en-US"/>
          </a:p>
        </p:txBody>
      </p:sp>
      <p:sp>
        <p:nvSpPr>
          <p:cNvPr id="6" name="Shape 4"/>
          <p:cNvSpPr/>
          <p:nvPr/>
        </p:nvSpPr>
        <p:spPr>
          <a:xfrm>
            <a:off x="1645920" y="960120"/>
            <a:ext cx="91440" cy="457200"/>
          </a:xfrm>
          <a:prstGeom prst="rect">
            <a:avLst/>
          </a:prstGeom>
          <a:solidFill>
            <a:srgbClr val="00D9A3"/>
          </a:solidFill>
          <a:ln w="12700">
            <a:solidFill>
              <a:srgbClr val="00D9A3"/>
            </a:solidFill>
            <a:prstDash val="solid"/>
          </a:ln>
        </p:spPr>
        <p:txBody>
          <a:bodyPr/>
          <a:lstStyle/>
          <a:p>
            <a:endParaRPr lang="en-US"/>
          </a:p>
        </p:txBody>
      </p:sp>
      <p:sp>
        <p:nvSpPr>
          <p:cNvPr id="7" name="Shape 5"/>
          <p:cNvSpPr/>
          <p:nvPr/>
        </p:nvSpPr>
        <p:spPr>
          <a:xfrm>
            <a:off x="1965960" y="960120"/>
            <a:ext cx="45720" cy="457200"/>
          </a:xfrm>
          <a:prstGeom prst="rect">
            <a:avLst/>
          </a:prstGeom>
          <a:solidFill>
            <a:srgbClr val="00D9A3"/>
          </a:solidFill>
          <a:ln w="12700">
            <a:solidFill>
              <a:srgbClr val="00D9A3"/>
            </a:solidFill>
            <a:prstDash val="solid"/>
          </a:ln>
        </p:spPr>
        <p:txBody>
          <a:bodyPr/>
          <a:lstStyle/>
          <a:p>
            <a:endParaRPr lang="en-US"/>
          </a:p>
        </p:txBody>
      </p:sp>
      <p:sp>
        <p:nvSpPr>
          <p:cNvPr id="8" name="Shape 6"/>
          <p:cNvSpPr/>
          <p:nvPr/>
        </p:nvSpPr>
        <p:spPr>
          <a:xfrm>
            <a:off x="2148840" y="960120"/>
            <a:ext cx="45720" cy="457200"/>
          </a:xfrm>
          <a:prstGeom prst="rect">
            <a:avLst/>
          </a:prstGeom>
          <a:solidFill>
            <a:srgbClr val="00D9A3"/>
          </a:solidFill>
          <a:ln w="12700">
            <a:solidFill>
              <a:srgbClr val="00D9A3"/>
            </a:solidFill>
            <a:prstDash val="solid"/>
          </a:ln>
        </p:spPr>
        <p:txBody>
          <a:bodyPr/>
          <a:lstStyle/>
          <a:p>
            <a:endParaRPr lang="en-US"/>
          </a:p>
        </p:txBody>
      </p:sp>
      <p:sp>
        <p:nvSpPr>
          <p:cNvPr id="9" name="Shape 7"/>
          <p:cNvSpPr/>
          <p:nvPr/>
        </p:nvSpPr>
        <p:spPr>
          <a:xfrm>
            <a:off x="2377440" y="960120"/>
            <a:ext cx="182880" cy="457200"/>
          </a:xfrm>
          <a:prstGeom prst="rect">
            <a:avLst/>
          </a:prstGeom>
          <a:solidFill>
            <a:srgbClr val="00D9A3"/>
          </a:solidFill>
          <a:ln w="12700">
            <a:solidFill>
              <a:srgbClr val="00D9A3"/>
            </a:solidFill>
            <a:prstDash val="solid"/>
          </a:ln>
        </p:spPr>
        <p:txBody>
          <a:bodyPr/>
          <a:lstStyle/>
          <a:p>
            <a:endParaRPr lang="en-US"/>
          </a:p>
        </p:txBody>
      </p:sp>
      <p:sp>
        <p:nvSpPr>
          <p:cNvPr id="10" name="Shape 8"/>
          <p:cNvSpPr/>
          <p:nvPr/>
        </p:nvSpPr>
        <p:spPr>
          <a:xfrm>
            <a:off x="2697480" y="960120"/>
            <a:ext cx="91440" cy="457200"/>
          </a:xfrm>
          <a:prstGeom prst="rect">
            <a:avLst/>
          </a:prstGeom>
          <a:solidFill>
            <a:srgbClr val="00D9A3"/>
          </a:solidFill>
          <a:ln w="12700">
            <a:solidFill>
              <a:srgbClr val="00D9A3"/>
            </a:solidFill>
            <a:prstDash val="solid"/>
          </a:ln>
        </p:spPr>
        <p:txBody>
          <a:bodyPr/>
          <a:lstStyle/>
          <a:p>
            <a:endParaRPr lang="en-US"/>
          </a:p>
        </p:txBody>
      </p:sp>
      <p:sp>
        <p:nvSpPr>
          <p:cNvPr id="11" name="Shape 9"/>
          <p:cNvSpPr/>
          <p:nvPr/>
        </p:nvSpPr>
        <p:spPr>
          <a:xfrm>
            <a:off x="2926080" y="960120"/>
            <a:ext cx="45720" cy="457200"/>
          </a:xfrm>
          <a:prstGeom prst="rect">
            <a:avLst/>
          </a:prstGeom>
          <a:solidFill>
            <a:srgbClr val="00D9A3"/>
          </a:solidFill>
          <a:ln w="12700">
            <a:solidFill>
              <a:srgbClr val="00D9A3"/>
            </a:solidFill>
            <a:prstDash val="solid"/>
          </a:ln>
        </p:spPr>
        <p:txBody>
          <a:bodyPr/>
          <a:lstStyle/>
          <a:p>
            <a:endParaRPr lang="en-US"/>
          </a:p>
        </p:txBody>
      </p:sp>
      <p:sp>
        <p:nvSpPr>
          <p:cNvPr id="12" name="Shape 10"/>
          <p:cNvSpPr/>
          <p:nvPr/>
        </p:nvSpPr>
        <p:spPr>
          <a:xfrm>
            <a:off x="3200400" y="960120"/>
            <a:ext cx="45720" cy="457200"/>
          </a:xfrm>
          <a:prstGeom prst="rect">
            <a:avLst/>
          </a:prstGeom>
          <a:solidFill>
            <a:srgbClr val="00D9A3"/>
          </a:solidFill>
          <a:ln w="12700">
            <a:solidFill>
              <a:srgbClr val="00D9A3"/>
            </a:solidFill>
            <a:prstDash val="solid"/>
          </a:ln>
        </p:spPr>
        <p:txBody>
          <a:bodyPr/>
          <a:lstStyle/>
          <a:p>
            <a:endParaRPr lang="en-US"/>
          </a:p>
        </p:txBody>
      </p:sp>
      <p:sp>
        <p:nvSpPr>
          <p:cNvPr id="13" name="Shape 11"/>
          <p:cNvSpPr/>
          <p:nvPr/>
        </p:nvSpPr>
        <p:spPr>
          <a:xfrm>
            <a:off x="3429000" y="960120"/>
            <a:ext cx="45720" cy="457200"/>
          </a:xfrm>
          <a:prstGeom prst="rect">
            <a:avLst/>
          </a:prstGeom>
          <a:solidFill>
            <a:srgbClr val="00D9A3"/>
          </a:solidFill>
          <a:ln w="12700">
            <a:solidFill>
              <a:srgbClr val="00D9A3"/>
            </a:solidFill>
            <a:prstDash val="solid"/>
          </a:ln>
        </p:spPr>
        <p:txBody>
          <a:bodyPr/>
          <a:lstStyle/>
          <a:p>
            <a:endParaRPr lang="en-US"/>
          </a:p>
        </p:txBody>
      </p:sp>
      <p:sp>
        <p:nvSpPr>
          <p:cNvPr id="14" name="Shape 12"/>
          <p:cNvSpPr/>
          <p:nvPr/>
        </p:nvSpPr>
        <p:spPr>
          <a:xfrm>
            <a:off x="3611880" y="960120"/>
            <a:ext cx="182880" cy="457200"/>
          </a:xfrm>
          <a:prstGeom prst="rect">
            <a:avLst/>
          </a:prstGeom>
          <a:solidFill>
            <a:srgbClr val="00D9A3"/>
          </a:solidFill>
          <a:ln w="12700">
            <a:solidFill>
              <a:srgbClr val="00D9A3"/>
            </a:solidFill>
            <a:prstDash val="solid"/>
          </a:ln>
        </p:spPr>
        <p:txBody>
          <a:bodyPr/>
          <a:lstStyle/>
          <a:p>
            <a:endParaRPr lang="en-US"/>
          </a:p>
        </p:txBody>
      </p:sp>
      <p:sp>
        <p:nvSpPr>
          <p:cNvPr id="15" name="Shape 13"/>
          <p:cNvSpPr/>
          <p:nvPr/>
        </p:nvSpPr>
        <p:spPr>
          <a:xfrm>
            <a:off x="3931920" y="960120"/>
            <a:ext cx="45720" cy="457200"/>
          </a:xfrm>
          <a:prstGeom prst="rect">
            <a:avLst/>
          </a:prstGeom>
          <a:solidFill>
            <a:srgbClr val="00D9A3"/>
          </a:solidFill>
          <a:ln w="12700">
            <a:solidFill>
              <a:srgbClr val="00D9A3"/>
            </a:solidFill>
            <a:prstDash val="solid"/>
          </a:ln>
        </p:spPr>
        <p:txBody>
          <a:bodyPr/>
          <a:lstStyle/>
          <a:p>
            <a:endParaRPr lang="en-US"/>
          </a:p>
        </p:txBody>
      </p:sp>
      <p:sp>
        <p:nvSpPr>
          <p:cNvPr id="16" name="Shape 14"/>
          <p:cNvSpPr/>
          <p:nvPr/>
        </p:nvSpPr>
        <p:spPr>
          <a:xfrm>
            <a:off x="4160520" y="960120"/>
            <a:ext cx="45720" cy="457200"/>
          </a:xfrm>
          <a:prstGeom prst="rect">
            <a:avLst/>
          </a:prstGeom>
          <a:solidFill>
            <a:srgbClr val="00D9A3"/>
          </a:solidFill>
          <a:ln w="12700">
            <a:solidFill>
              <a:srgbClr val="00D9A3"/>
            </a:solidFill>
            <a:prstDash val="solid"/>
          </a:ln>
        </p:spPr>
        <p:txBody>
          <a:bodyPr/>
          <a:lstStyle/>
          <a:p>
            <a:endParaRPr lang="en-US"/>
          </a:p>
        </p:txBody>
      </p:sp>
      <p:sp>
        <p:nvSpPr>
          <p:cNvPr id="17" name="Text 15"/>
          <p:cNvSpPr/>
          <p:nvPr/>
        </p:nvSpPr>
        <p:spPr>
          <a:xfrm>
            <a:off x="640080" y="2121408"/>
            <a:ext cx="10515600" cy="914400"/>
          </a:xfrm>
          <a:prstGeom prst="rect">
            <a:avLst/>
          </a:prstGeom>
          <a:noFill/>
          <a:ln/>
        </p:spPr>
        <p:txBody>
          <a:bodyPr wrap="square" lIns="0" tIns="0" rIns="0" bIns="0" rtlCol="0" anchor="ctr"/>
          <a:lstStyle/>
          <a:p>
            <a:pPr marL="0" indent="0">
              <a:buNone/>
            </a:pPr>
            <a:r>
              <a:rPr lang="en-US" sz="4600" b="1" dirty="0">
                <a:solidFill>
                  <a:srgbClr val="E8EDF5"/>
                </a:solidFill>
                <a:latin typeface="Arial" pitchFamily="34" charset="0"/>
                <a:ea typeface="Arial" pitchFamily="34" charset="-122"/>
                <a:cs typeface="Arial" pitchFamily="34" charset="-120"/>
              </a:rPr>
              <a:t>Barcode Scanner App</a:t>
            </a:r>
            <a:endParaRPr lang="en-US" sz="4600" dirty="0"/>
          </a:p>
        </p:txBody>
      </p:sp>
      <p:sp>
        <p:nvSpPr>
          <p:cNvPr id="19" name="Shape 17"/>
          <p:cNvSpPr/>
          <p:nvPr/>
        </p:nvSpPr>
        <p:spPr>
          <a:xfrm>
            <a:off x="640080" y="3794760"/>
            <a:ext cx="1828800" cy="18288"/>
          </a:xfrm>
          <a:prstGeom prst="rect">
            <a:avLst/>
          </a:prstGeom>
          <a:solidFill>
            <a:srgbClr val="24314A"/>
          </a:solidFill>
          <a:ln w="12700">
            <a:solidFill>
              <a:srgbClr val="24314A"/>
            </a:solidFill>
            <a:prstDash val="solid"/>
          </a:ln>
        </p:spPr>
        <p:txBody>
          <a:bodyPr/>
          <a:lstStyle/>
          <a:p>
            <a:endParaRPr lang="en-US"/>
          </a:p>
        </p:txBody>
      </p:sp>
      <p:sp>
        <p:nvSpPr>
          <p:cNvPr id="21" name="Text 19"/>
          <p:cNvSpPr/>
          <p:nvPr/>
        </p:nvSpPr>
        <p:spPr>
          <a:xfrm>
            <a:off x="640080" y="4839159"/>
            <a:ext cx="5486400" cy="1097280"/>
          </a:xfrm>
          <a:prstGeom prst="rect">
            <a:avLst/>
          </a:prstGeom>
          <a:noFill/>
          <a:ln/>
        </p:spPr>
        <p:txBody>
          <a:bodyPr wrap="square" lIns="0" tIns="0" rIns="0" bIns="0" rtlCol="0" anchor="ctr"/>
          <a:lstStyle/>
          <a:p>
            <a:pPr>
              <a:lnSpc>
                <a:spcPts val="2200"/>
              </a:lnSpc>
            </a:pPr>
            <a:r>
              <a:rPr lang="en-US" sz="1400" b="1" dirty="0">
                <a:solidFill>
                  <a:srgbClr val="E8EDF5"/>
                </a:solidFill>
                <a:latin typeface="Calibri" pitchFamily="34" charset="0"/>
                <a:ea typeface="Calibri" pitchFamily="34" charset="-122"/>
                <a:cs typeface="Calibri" pitchFamily="34" charset="-120"/>
              </a:rPr>
              <a:t>Cedrik Blankenhorn</a:t>
            </a:r>
          </a:p>
          <a:p>
            <a:pPr>
              <a:lnSpc>
                <a:spcPts val="2200"/>
              </a:lnSpc>
            </a:pPr>
            <a:r>
              <a:rPr lang="en-US" sz="1400" b="1" dirty="0">
                <a:solidFill>
                  <a:srgbClr val="E8EDF5"/>
                </a:solidFill>
                <a:latin typeface="Calibri" pitchFamily="34" charset="0"/>
                <a:cs typeface="Calibri" pitchFamily="34" charset="-120"/>
              </a:rPr>
              <a:t>Japjot Singh</a:t>
            </a:r>
          </a:p>
          <a:p>
            <a:pPr>
              <a:lnSpc>
                <a:spcPts val="2200"/>
              </a:lnSpc>
            </a:pPr>
            <a:r>
              <a:rPr lang="en-US" sz="1400" b="1" dirty="0">
                <a:solidFill>
                  <a:srgbClr val="E8EDF5"/>
                </a:solidFill>
                <a:latin typeface="Calibri" pitchFamily="34" charset="0"/>
                <a:cs typeface="Calibri" pitchFamily="34" charset="-120"/>
              </a:rPr>
              <a:t>Leonardo Moreno Zwachte</a:t>
            </a:r>
          </a:p>
          <a:p>
            <a:pPr>
              <a:lnSpc>
                <a:spcPts val="2200"/>
              </a:lnSpc>
            </a:pPr>
            <a:r>
              <a:rPr lang="en-US" sz="1400" b="1" dirty="0">
                <a:solidFill>
                  <a:srgbClr val="E8EDF5"/>
                </a:solidFill>
                <a:latin typeface="Calibri" pitchFamily="34" charset="0"/>
                <a:cs typeface="Calibri" pitchFamily="34" charset="-120"/>
              </a:rPr>
              <a:t>Paul </a:t>
            </a:r>
            <a:r>
              <a:rPr lang="en-US" sz="1400" b="1" dirty="0" err="1">
                <a:solidFill>
                  <a:srgbClr val="E8EDF5"/>
                </a:solidFill>
                <a:latin typeface="Calibri" pitchFamily="34" charset="0"/>
                <a:cs typeface="Calibri" pitchFamily="34" charset="-120"/>
              </a:rPr>
              <a:t>Genswein</a:t>
            </a:r>
            <a:endParaRPr lang="en-US" sz="1400" dirty="0"/>
          </a:p>
        </p:txBody>
      </p:sp>
      <p:sp>
        <p:nvSpPr>
          <p:cNvPr id="22" name="Shape 20"/>
          <p:cNvSpPr/>
          <p:nvPr/>
        </p:nvSpPr>
        <p:spPr>
          <a:xfrm>
            <a:off x="9509760" y="5029200"/>
            <a:ext cx="123444" cy="1097280"/>
          </a:xfrm>
          <a:prstGeom prst="rect">
            <a:avLst/>
          </a:prstGeom>
          <a:solidFill>
            <a:srgbClr val="1B2638"/>
          </a:solidFill>
          <a:ln w="12700">
            <a:solidFill>
              <a:srgbClr val="1B2638"/>
            </a:solidFill>
            <a:prstDash val="solid"/>
          </a:ln>
        </p:spPr>
        <p:txBody>
          <a:bodyPr/>
          <a:lstStyle/>
          <a:p>
            <a:endParaRPr lang="en-US"/>
          </a:p>
        </p:txBody>
      </p:sp>
      <p:sp>
        <p:nvSpPr>
          <p:cNvPr id="23" name="Shape 21"/>
          <p:cNvSpPr/>
          <p:nvPr/>
        </p:nvSpPr>
        <p:spPr>
          <a:xfrm>
            <a:off x="9756648" y="5029200"/>
            <a:ext cx="41148" cy="1097280"/>
          </a:xfrm>
          <a:prstGeom prst="rect">
            <a:avLst/>
          </a:prstGeom>
          <a:solidFill>
            <a:srgbClr val="1B2638"/>
          </a:solidFill>
          <a:ln w="12700">
            <a:solidFill>
              <a:srgbClr val="1B2638"/>
            </a:solidFill>
            <a:prstDash val="solid"/>
          </a:ln>
        </p:spPr>
        <p:txBody>
          <a:bodyPr/>
          <a:lstStyle/>
          <a:p>
            <a:endParaRPr lang="en-US"/>
          </a:p>
        </p:txBody>
      </p:sp>
      <p:sp>
        <p:nvSpPr>
          <p:cNvPr id="24" name="Shape 22"/>
          <p:cNvSpPr/>
          <p:nvPr/>
        </p:nvSpPr>
        <p:spPr>
          <a:xfrm>
            <a:off x="9962388" y="5029200"/>
            <a:ext cx="41148" cy="1097280"/>
          </a:xfrm>
          <a:prstGeom prst="rect">
            <a:avLst/>
          </a:prstGeom>
          <a:solidFill>
            <a:srgbClr val="1B2638"/>
          </a:solidFill>
          <a:ln w="12700">
            <a:solidFill>
              <a:srgbClr val="1B2638"/>
            </a:solidFill>
            <a:prstDash val="solid"/>
          </a:ln>
        </p:spPr>
        <p:txBody>
          <a:bodyPr/>
          <a:lstStyle/>
          <a:p>
            <a:endParaRPr lang="en-US"/>
          </a:p>
        </p:txBody>
      </p:sp>
      <p:sp>
        <p:nvSpPr>
          <p:cNvPr id="25" name="Shape 23"/>
          <p:cNvSpPr/>
          <p:nvPr/>
        </p:nvSpPr>
        <p:spPr>
          <a:xfrm>
            <a:off x="10250424" y="5029200"/>
            <a:ext cx="41148" cy="1097280"/>
          </a:xfrm>
          <a:prstGeom prst="rect">
            <a:avLst/>
          </a:prstGeom>
          <a:solidFill>
            <a:srgbClr val="1B2638"/>
          </a:solidFill>
          <a:ln w="12700">
            <a:solidFill>
              <a:srgbClr val="1B2638"/>
            </a:solidFill>
            <a:prstDash val="solid"/>
          </a:ln>
        </p:spPr>
        <p:txBody>
          <a:bodyPr/>
          <a:lstStyle/>
          <a:p>
            <a:endParaRPr lang="en-US"/>
          </a:p>
        </p:txBody>
      </p:sp>
      <p:sp>
        <p:nvSpPr>
          <p:cNvPr id="26" name="Shape 24"/>
          <p:cNvSpPr/>
          <p:nvPr/>
        </p:nvSpPr>
        <p:spPr>
          <a:xfrm>
            <a:off x="10415016" y="5029200"/>
            <a:ext cx="82296" cy="1097280"/>
          </a:xfrm>
          <a:prstGeom prst="rect">
            <a:avLst/>
          </a:prstGeom>
          <a:solidFill>
            <a:srgbClr val="1B2638"/>
          </a:solidFill>
          <a:ln w="12700">
            <a:solidFill>
              <a:srgbClr val="1B2638"/>
            </a:solidFill>
            <a:prstDash val="solid"/>
          </a:ln>
        </p:spPr>
        <p:txBody>
          <a:bodyPr/>
          <a:lstStyle/>
          <a:p>
            <a:endParaRPr lang="en-US"/>
          </a:p>
        </p:txBody>
      </p:sp>
      <p:sp>
        <p:nvSpPr>
          <p:cNvPr id="27" name="Shape 25"/>
          <p:cNvSpPr/>
          <p:nvPr/>
        </p:nvSpPr>
        <p:spPr>
          <a:xfrm>
            <a:off x="10703052" y="5029200"/>
            <a:ext cx="41148" cy="1097280"/>
          </a:xfrm>
          <a:prstGeom prst="rect">
            <a:avLst/>
          </a:prstGeom>
          <a:solidFill>
            <a:srgbClr val="1B2638"/>
          </a:solidFill>
          <a:ln w="12700">
            <a:solidFill>
              <a:srgbClr val="1B2638"/>
            </a:solidFill>
            <a:prstDash val="solid"/>
          </a:ln>
        </p:spPr>
        <p:txBody>
          <a:bodyPr/>
          <a:lstStyle/>
          <a:p>
            <a:endParaRPr lang="en-US"/>
          </a:p>
        </p:txBody>
      </p:sp>
      <p:sp>
        <p:nvSpPr>
          <p:cNvPr id="28" name="Shape 26"/>
          <p:cNvSpPr/>
          <p:nvPr/>
        </p:nvSpPr>
        <p:spPr>
          <a:xfrm>
            <a:off x="10867644" y="5029200"/>
            <a:ext cx="41148" cy="1097280"/>
          </a:xfrm>
          <a:prstGeom prst="rect">
            <a:avLst/>
          </a:prstGeom>
          <a:solidFill>
            <a:srgbClr val="1B2638"/>
          </a:solidFill>
          <a:ln w="12700">
            <a:solidFill>
              <a:srgbClr val="1B2638"/>
            </a:solidFill>
            <a:prstDash val="solid"/>
          </a:ln>
        </p:spPr>
        <p:txBody>
          <a:bodyPr/>
          <a:lstStyle/>
          <a:p>
            <a:endParaRPr lang="en-US"/>
          </a:p>
        </p:txBody>
      </p:sp>
      <p:sp>
        <p:nvSpPr>
          <p:cNvPr id="29" name="Shape 27"/>
          <p:cNvSpPr/>
          <p:nvPr/>
        </p:nvSpPr>
        <p:spPr>
          <a:xfrm>
            <a:off x="11073384" y="5029200"/>
            <a:ext cx="164592" cy="1097280"/>
          </a:xfrm>
          <a:prstGeom prst="rect">
            <a:avLst/>
          </a:prstGeom>
          <a:solidFill>
            <a:srgbClr val="1B2638"/>
          </a:solidFill>
          <a:ln w="12700">
            <a:solidFill>
              <a:srgbClr val="1B2638"/>
            </a:solidFill>
            <a:prstDash val="solid"/>
          </a:ln>
        </p:spPr>
        <p:txBody>
          <a:bodyPr/>
          <a:lstStyle/>
          <a:p>
            <a:endParaRPr lang="en-US"/>
          </a:p>
        </p:txBody>
      </p:sp>
      <p:sp>
        <p:nvSpPr>
          <p:cNvPr id="30" name="Shape 28"/>
          <p:cNvSpPr/>
          <p:nvPr/>
        </p:nvSpPr>
        <p:spPr>
          <a:xfrm>
            <a:off x="11361420" y="5029200"/>
            <a:ext cx="82296" cy="1097280"/>
          </a:xfrm>
          <a:prstGeom prst="rect">
            <a:avLst/>
          </a:prstGeom>
          <a:solidFill>
            <a:srgbClr val="1B2638"/>
          </a:solidFill>
          <a:ln w="12700">
            <a:solidFill>
              <a:srgbClr val="1B2638"/>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274320"/>
          </a:xfrm>
          <a:prstGeom prst="rect">
            <a:avLst/>
          </a:prstGeom>
          <a:noFill/>
          <a:ln/>
        </p:spPr>
        <p:txBody>
          <a:bodyPr wrap="square" lIns="0" tIns="0" rIns="0" bIns="0" rtlCol="0" anchor="ctr"/>
          <a:lstStyle/>
          <a:p>
            <a:pPr marL="0" indent="0">
              <a:buNone/>
            </a:pPr>
            <a:r>
              <a:rPr lang="en-US" sz="1200" kern="0" spc="100" dirty="0">
                <a:solidFill>
                  <a:srgbClr val="8FA0B8"/>
                </a:solidFill>
                <a:latin typeface="Courier New" pitchFamily="34" charset="0"/>
                <a:ea typeface="Courier New" pitchFamily="34" charset="-122"/>
                <a:cs typeface="Courier New" pitchFamily="34" charset="-120"/>
              </a:rPr>
              <a:t>AGENDA</a:t>
            </a:r>
            <a:endParaRPr lang="en-US" sz="1200" dirty="0"/>
          </a:p>
        </p:txBody>
      </p:sp>
      <p:sp>
        <p:nvSpPr>
          <p:cNvPr id="3" name="Text 1"/>
          <p:cNvSpPr/>
          <p:nvPr/>
        </p:nvSpPr>
        <p:spPr>
          <a:xfrm>
            <a:off x="640080" y="777240"/>
            <a:ext cx="10881360" cy="685800"/>
          </a:xfrm>
          <a:prstGeom prst="rect">
            <a:avLst/>
          </a:prstGeom>
          <a:noFill/>
          <a:ln/>
        </p:spPr>
        <p:txBody>
          <a:bodyPr wrap="square" lIns="0" tIns="0" rIns="0" bIns="0" rtlCol="0" anchor="ctr"/>
          <a:lstStyle/>
          <a:p>
            <a:pPr marL="0" indent="0">
              <a:buNone/>
            </a:pPr>
            <a:r>
              <a:rPr lang="en-US" sz="3400" b="1" dirty="0">
                <a:solidFill>
                  <a:srgbClr val="E8EDF5"/>
                </a:solidFill>
                <a:latin typeface="Arial" pitchFamily="34" charset="0"/>
                <a:ea typeface="Arial" pitchFamily="34" charset="-122"/>
                <a:cs typeface="Arial" pitchFamily="34" charset="-120"/>
              </a:rPr>
              <a:t>Inhalt</a:t>
            </a:r>
            <a:endParaRPr lang="en-US" sz="3400" dirty="0"/>
          </a:p>
        </p:txBody>
      </p:sp>
      <p:sp>
        <p:nvSpPr>
          <p:cNvPr id="4" name="Shape 2"/>
          <p:cNvSpPr/>
          <p:nvPr/>
        </p:nvSpPr>
        <p:spPr>
          <a:xfrm>
            <a:off x="640080" y="1993392"/>
            <a:ext cx="475488" cy="475488"/>
          </a:xfrm>
          <a:prstGeom prst="ellipse">
            <a:avLst/>
          </a:prstGeom>
          <a:solidFill>
            <a:srgbClr val="00D9A3"/>
          </a:solidFill>
          <a:ln w="12700">
            <a:solidFill>
              <a:srgbClr val="00D9A3"/>
            </a:solidFill>
            <a:prstDash val="solid"/>
          </a:ln>
        </p:spPr>
        <p:txBody>
          <a:bodyPr/>
          <a:lstStyle/>
          <a:p>
            <a:endParaRPr lang="en-US"/>
          </a:p>
        </p:txBody>
      </p:sp>
      <p:sp>
        <p:nvSpPr>
          <p:cNvPr id="5" name="Text 3"/>
          <p:cNvSpPr/>
          <p:nvPr/>
        </p:nvSpPr>
        <p:spPr>
          <a:xfrm>
            <a:off x="640080" y="1993392"/>
            <a:ext cx="475488" cy="475488"/>
          </a:xfrm>
          <a:prstGeom prst="rect">
            <a:avLst/>
          </a:prstGeom>
          <a:noFill/>
          <a:ln/>
        </p:spPr>
        <p:txBody>
          <a:bodyPr wrap="square" lIns="0" tIns="0" rIns="0" bIns="0" rtlCol="0" anchor="ctr"/>
          <a:lstStyle/>
          <a:p>
            <a:pPr marL="0" indent="0" algn="ctr">
              <a:buNone/>
            </a:pPr>
            <a:r>
              <a:rPr lang="en-US" sz="1500" b="1" dirty="0">
                <a:solidFill>
                  <a:srgbClr val="0B1220"/>
                </a:solidFill>
                <a:latin typeface="Arial" pitchFamily="34" charset="0"/>
                <a:ea typeface="Arial" pitchFamily="34" charset="-122"/>
                <a:cs typeface="Arial" pitchFamily="34" charset="-120"/>
              </a:rPr>
              <a:t>1</a:t>
            </a:r>
            <a:endParaRPr lang="en-US" sz="1500" dirty="0"/>
          </a:p>
        </p:txBody>
      </p:sp>
      <p:sp>
        <p:nvSpPr>
          <p:cNvPr id="6" name="Text 4"/>
          <p:cNvSpPr/>
          <p:nvPr/>
        </p:nvSpPr>
        <p:spPr>
          <a:xfrm>
            <a:off x="1417320" y="1965960"/>
            <a:ext cx="4572000" cy="530352"/>
          </a:xfrm>
          <a:prstGeom prst="rect">
            <a:avLst/>
          </a:prstGeom>
          <a:noFill/>
          <a:ln/>
        </p:spPr>
        <p:txBody>
          <a:bodyPr wrap="square" lIns="0" tIns="0" rIns="0" bIns="0" rtlCol="0" anchor="ctr"/>
          <a:lstStyle/>
          <a:p>
            <a:pPr marL="0" indent="0">
              <a:buNone/>
            </a:pPr>
            <a:r>
              <a:rPr lang="en-US" sz="2200" b="1" dirty="0">
                <a:solidFill>
                  <a:srgbClr val="E8EDF5"/>
                </a:solidFill>
                <a:latin typeface="Arial" pitchFamily="34" charset="0"/>
                <a:ea typeface="Arial" pitchFamily="34" charset="-122"/>
                <a:cs typeface="Arial" pitchFamily="34" charset="-120"/>
              </a:rPr>
              <a:t>Abgrenzung</a:t>
            </a:r>
            <a:endParaRPr lang="en-US" sz="2200" dirty="0"/>
          </a:p>
        </p:txBody>
      </p:sp>
      <p:sp>
        <p:nvSpPr>
          <p:cNvPr id="8" name="Shape 6"/>
          <p:cNvSpPr/>
          <p:nvPr/>
        </p:nvSpPr>
        <p:spPr>
          <a:xfrm>
            <a:off x="640080" y="2834640"/>
            <a:ext cx="475488" cy="475488"/>
          </a:xfrm>
          <a:prstGeom prst="ellipse">
            <a:avLst/>
          </a:prstGeom>
          <a:solidFill>
            <a:srgbClr val="00D9A3"/>
          </a:solidFill>
          <a:ln w="12700">
            <a:solidFill>
              <a:srgbClr val="00D9A3"/>
            </a:solidFill>
            <a:prstDash val="solid"/>
          </a:ln>
        </p:spPr>
        <p:txBody>
          <a:bodyPr/>
          <a:lstStyle/>
          <a:p>
            <a:endParaRPr lang="en-US"/>
          </a:p>
        </p:txBody>
      </p:sp>
      <p:sp>
        <p:nvSpPr>
          <p:cNvPr id="9" name="Text 7"/>
          <p:cNvSpPr/>
          <p:nvPr/>
        </p:nvSpPr>
        <p:spPr>
          <a:xfrm>
            <a:off x="640080" y="2834640"/>
            <a:ext cx="475488" cy="475488"/>
          </a:xfrm>
          <a:prstGeom prst="rect">
            <a:avLst/>
          </a:prstGeom>
          <a:noFill/>
          <a:ln/>
        </p:spPr>
        <p:txBody>
          <a:bodyPr wrap="square" lIns="0" tIns="0" rIns="0" bIns="0" rtlCol="0" anchor="ctr"/>
          <a:lstStyle/>
          <a:p>
            <a:pPr marL="0" indent="0" algn="ctr">
              <a:buNone/>
            </a:pPr>
            <a:r>
              <a:rPr lang="en-US" sz="1500" b="1" dirty="0">
                <a:solidFill>
                  <a:srgbClr val="0B1220"/>
                </a:solidFill>
                <a:latin typeface="Arial" pitchFamily="34" charset="0"/>
                <a:ea typeface="Arial" pitchFamily="34" charset="-122"/>
                <a:cs typeface="Arial" pitchFamily="34" charset="-120"/>
              </a:rPr>
              <a:t>2</a:t>
            </a:r>
            <a:endParaRPr lang="en-US" sz="1500" dirty="0"/>
          </a:p>
        </p:txBody>
      </p:sp>
      <p:sp>
        <p:nvSpPr>
          <p:cNvPr id="10" name="Text 8"/>
          <p:cNvSpPr/>
          <p:nvPr/>
        </p:nvSpPr>
        <p:spPr>
          <a:xfrm>
            <a:off x="1417320" y="2807208"/>
            <a:ext cx="4572000" cy="530352"/>
          </a:xfrm>
          <a:prstGeom prst="rect">
            <a:avLst/>
          </a:prstGeom>
          <a:noFill/>
          <a:ln/>
        </p:spPr>
        <p:txBody>
          <a:bodyPr wrap="square" lIns="0" tIns="0" rIns="0" bIns="0" rtlCol="0" anchor="ctr"/>
          <a:lstStyle/>
          <a:p>
            <a:pPr marL="0" indent="0">
              <a:buNone/>
            </a:pPr>
            <a:r>
              <a:rPr lang="en-US" sz="2200" b="1" dirty="0">
                <a:solidFill>
                  <a:srgbClr val="E8EDF5"/>
                </a:solidFill>
                <a:latin typeface="Arial" pitchFamily="34" charset="0"/>
                <a:ea typeface="Arial" pitchFamily="34" charset="-122"/>
                <a:cs typeface="Arial" pitchFamily="34" charset="-120"/>
              </a:rPr>
              <a:t>App verwalten</a:t>
            </a:r>
            <a:endParaRPr lang="en-US" sz="2200" dirty="0"/>
          </a:p>
        </p:txBody>
      </p:sp>
      <p:sp>
        <p:nvSpPr>
          <p:cNvPr id="12" name="Shape 10"/>
          <p:cNvSpPr/>
          <p:nvPr/>
        </p:nvSpPr>
        <p:spPr>
          <a:xfrm>
            <a:off x="640080" y="3675888"/>
            <a:ext cx="475488" cy="475488"/>
          </a:xfrm>
          <a:prstGeom prst="ellipse">
            <a:avLst/>
          </a:prstGeom>
          <a:solidFill>
            <a:srgbClr val="00D9A3"/>
          </a:solidFill>
          <a:ln w="12700">
            <a:solidFill>
              <a:srgbClr val="00D9A3"/>
            </a:solidFill>
            <a:prstDash val="solid"/>
          </a:ln>
        </p:spPr>
        <p:txBody>
          <a:bodyPr/>
          <a:lstStyle/>
          <a:p>
            <a:endParaRPr lang="en-US"/>
          </a:p>
        </p:txBody>
      </p:sp>
      <p:sp>
        <p:nvSpPr>
          <p:cNvPr id="13" name="Text 11"/>
          <p:cNvSpPr/>
          <p:nvPr/>
        </p:nvSpPr>
        <p:spPr>
          <a:xfrm>
            <a:off x="640080" y="3675888"/>
            <a:ext cx="475488" cy="475488"/>
          </a:xfrm>
          <a:prstGeom prst="rect">
            <a:avLst/>
          </a:prstGeom>
          <a:noFill/>
          <a:ln/>
        </p:spPr>
        <p:txBody>
          <a:bodyPr wrap="square" lIns="0" tIns="0" rIns="0" bIns="0" rtlCol="0" anchor="ctr"/>
          <a:lstStyle/>
          <a:p>
            <a:pPr marL="0" indent="0" algn="ctr">
              <a:buNone/>
            </a:pPr>
            <a:r>
              <a:rPr lang="en-US" sz="1500" b="1" dirty="0">
                <a:solidFill>
                  <a:srgbClr val="0B1220"/>
                </a:solidFill>
                <a:latin typeface="Arial" pitchFamily="34" charset="0"/>
                <a:ea typeface="Arial" pitchFamily="34" charset="-122"/>
                <a:cs typeface="Arial" pitchFamily="34" charset="-120"/>
              </a:rPr>
              <a:t>3</a:t>
            </a:r>
            <a:endParaRPr lang="en-US" sz="1500" dirty="0"/>
          </a:p>
        </p:txBody>
      </p:sp>
      <p:sp>
        <p:nvSpPr>
          <p:cNvPr id="14" name="Text 12"/>
          <p:cNvSpPr/>
          <p:nvPr/>
        </p:nvSpPr>
        <p:spPr>
          <a:xfrm>
            <a:off x="1417320" y="3648456"/>
            <a:ext cx="4572000" cy="530352"/>
          </a:xfrm>
          <a:prstGeom prst="rect">
            <a:avLst/>
          </a:prstGeom>
          <a:noFill/>
          <a:ln/>
        </p:spPr>
        <p:txBody>
          <a:bodyPr wrap="square" lIns="0" tIns="0" rIns="0" bIns="0" rtlCol="0" anchor="ctr"/>
          <a:lstStyle/>
          <a:p>
            <a:pPr marL="0" indent="0">
              <a:buNone/>
            </a:pPr>
            <a:r>
              <a:rPr lang="en-US" sz="2200" b="1" dirty="0">
                <a:solidFill>
                  <a:srgbClr val="E8EDF5"/>
                </a:solidFill>
                <a:latin typeface="Arial" pitchFamily="34" charset="0"/>
                <a:ea typeface="Arial" pitchFamily="34" charset="-122"/>
                <a:cs typeface="Arial" pitchFamily="34" charset="-120"/>
              </a:rPr>
              <a:t>Code</a:t>
            </a:r>
            <a:endParaRPr lang="en-US" sz="2200" dirty="0"/>
          </a:p>
        </p:txBody>
      </p:sp>
      <p:sp>
        <p:nvSpPr>
          <p:cNvPr id="16" name="Shape 14"/>
          <p:cNvSpPr/>
          <p:nvPr/>
        </p:nvSpPr>
        <p:spPr>
          <a:xfrm>
            <a:off x="640080" y="4517136"/>
            <a:ext cx="475488" cy="475488"/>
          </a:xfrm>
          <a:prstGeom prst="ellipse">
            <a:avLst/>
          </a:prstGeom>
          <a:solidFill>
            <a:srgbClr val="00D9A3"/>
          </a:solidFill>
          <a:ln w="12700">
            <a:solidFill>
              <a:srgbClr val="00D9A3"/>
            </a:solidFill>
            <a:prstDash val="solid"/>
          </a:ln>
        </p:spPr>
        <p:txBody>
          <a:bodyPr/>
          <a:lstStyle/>
          <a:p>
            <a:endParaRPr lang="en-US"/>
          </a:p>
        </p:txBody>
      </p:sp>
      <p:sp>
        <p:nvSpPr>
          <p:cNvPr id="17" name="Text 15"/>
          <p:cNvSpPr/>
          <p:nvPr/>
        </p:nvSpPr>
        <p:spPr>
          <a:xfrm>
            <a:off x="640080" y="4517136"/>
            <a:ext cx="475488" cy="475488"/>
          </a:xfrm>
          <a:prstGeom prst="rect">
            <a:avLst/>
          </a:prstGeom>
          <a:noFill/>
          <a:ln/>
        </p:spPr>
        <p:txBody>
          <a:bodyPr wrap="square" lIns="0" tIns="0" rIns="0" bIns="0" rtlCol="0" anchor="ctr"/>
          <a:lstStyle/>
          <a:p>
            <a:pPr marL="0" indent="0" algn="ctr">
              <a:buNone/>
            </a:pPr>
            <a:r>
              <a:rPr lang="en-US" sz="1500" b="1" dirty="0">
                <a:solidFill>
                  <a:srgbClr val="0B1220"/>
                </a:solidFill>
                <a:latin typeface="Arial" pitchFamily="34" charset="0"/>
                <a:ea typeface="Arial" pitchFamily="34" charset="-122"/>
                <a:cs typeface="Arial" pitchFamily="34" charset="-120"/>
              </a:rPr>
              <a:t>4</a:t>
            </a:r>
            <a:endParaRPr lang="en-US" sz="1500" dirty="0"/>
          </a:p>
        </p:txBody>
      </p:sp>
      <p:sp>
        <p:nvSpPr>
          <p:cNvPr id="18" name="Text 16"/>
          <p:cNvSpPr/>
          <p:nvPr/>
        </p:nvSpPr>
        <p:spPr>
          <a:xfrm>
            <a:off x="1417320" y="4489704"/>
            <a:ext cx="4572000" cy="530352"/>
          </a:xfrm>
          <a:prstGeom prst="rect">
            <a:avLst/>
          </a:prstGeom>
          <a:noFill/>
          <a:ln/>
        </p:spPr>
        <p:txBody>
          <a:bodyPr wrap="square" lIns="0" tIns="0" rIns="0" bIns="0" rtlCol="0" anchor="ctr"/>
          <a:lstStyle/>
          <a:p>
            <a:pPr marL="0" indent="0">
              <a:buNone/>
            </a:pPr>
            <a:r>
              <a:rPr lang="en-US" sz="2200" b="1" dirty="0">
                <a:solidFill>
                  <a:srgbClr val="E8EDF5"/>
                </a:solidFill>
                <a:latin typeface="Arial" pitchFamily="34" charset="0"/>
                <a:ea typeface="Arial" pitchFamily="34" charset="-122"/>
                <a:cs typeface="Arial" pitchFamily="34" charset="-120"/>
              </a:rPr>
              <a:t>Erfahrungen / Probleme</a:t>
            </a:r>
            <a:endParaRPr lang="en-US" sz="2200" dirty="0"/>
          </a:p>
        </p:txBody>
      </p:sp>
      <p:sp>
        <p:nvSpPr>
          <p:cNvPr id="20" name="Shape 18"/>
          <p:cNvSpPr/>
          <p:nvPr/>
        </p:nvSpPr>
        <p:spPr>
          <a:xfrm>
            <a:off x="640080" y="5358384"/>
            <a:ext cx="475488" cy="475488"/>
          </a:xfrm>
          <a:prstGeom prst="ellipse">
            <a:avLst/>
          </a:prstGeom>
          <a:solidFill>
            <a:srgbClr val="00D9A3"/>
          </a:solidFill>
          <a:ln w="12700">
            <a:solidFill>
              <a:srgbClr val="00D9A3"/>
            </a:solidFill>
            <a:prstDash val="solid"/>
          </a:ln>
        </p:spPr>
        <p:txBody>
          <a:bodyPr/>
          <a:lstStyle/>
          <a:p>
            <a:endParaRPr lang="en-US"/>
          </a:p>
        </p:txBody>
      </p:sp>
      <p:sp>
        <p:nvSpPr>
          <p:cNvPr id="21" name="Text 19"/>
          <p:cNvSpPr/>
          <p:nvPr/>
        </p:nvSpPr>
        <p:spPr>
          <a:xfrm>
            <a:off x="640080" y="5358384"/>
            <a:ext cx="475488" cy="475488"/>
          </a:xfrm>
          <a:prstGeom prst="rect">
            <a:avLst/>
          </a:prstGeom>
          <a:noFill/>
          <a:ln/>
        </p:spPr>
        <p:txBody>
          <a:bodyPr wrap="square" lIns="0" tIns="0" rIns="0" bIns="0" rtlCol="0" anchor="ctr"/>
          <a:lstStyle/>
          <a:p>
            <a:pPr marL="0" indent="0" algn="ctr">
              <a:buNone/>
            </a:pPr>
            <a:r>
              <a:rPr lang="en-US" sz="1500" b="1" dirty="0">
                <a:solidFill>
                  <a:srgbClr val="0B1220"/>
                </a:solidFill>
                <a:latin typeface="Arial" pitchFamily="34" charset="0"/>
                <a:ea typeface="Arial" pitchFamily="34" charset="-122"/>
                <a:cs typeface="Arial" pitchFamily="34" charset="-120"/>
              </a:rPr>
              <a:t>5</a:t>
            </a:r>
            <a:endParaRPr lang="en-US" sz="1500" dirty="0"/>
          </a:p>
        </p:txBody>
      </p:sp>
      <p:sp>
        <p:nvSpPr>
          <p:cNvPr id="22" name="Text 20"/>
          <p:cNvSpPr/>
          <p:nvPr/>
        </p:nvSpPr>
        <p:spPr>
          <a:xfrm>
            <a:off x="1417320" y="5330952"/>
            <a:ext cx="4572000" cy="530352"/>
          </a:xfrm>
          <a:prstGeom prst="rect">
            <a:avLst/>
          </a:prstGeom>
          <a:noFill/>
          <a:ln/>
        </p:spPr>
        <p:txBody>
          <a:bodyPr wrap="square" lIns="0" tIns="0" rIns="0" bIns="0" rtlCol="0" anchor="ctr"/>
          <a:lstStyle/>
          <a:p>
            <a:pPr marL="0" indent="0">
              <a:buNone/>
            </a:pPr>
            <a:r>
              <a:rPr lang="en-US" sz="2200" b="1" dirty="0">
                <a:solidFill>
                  <a:srgbClr val="E8EDF5"/>
                </a:solidFill>
                <a:latin typeface="Arial" pitchFamily="34" charset="0"/>
                <a:ea typeface="Arial" pitchFamily="34" charset="-122"/>
                <a:cs typeface="Arial" pitchFamily="34" charset="-120"/>
              </a:rPr>
              <a:t>Angewendete Tools</a:t>
            </a:r>
            <a:endParaRPr lang="en-US" sz="2200" dirty="0"/>
          </a:p>
        </p:txBody>
      </p:sp>
      <p:sp>
        <p:nvSpPr>
          <p:cNvPr id="24" name="Shape 22"/>
          <p:cNvSpPr/>
          <p:nvPr/>
        </p:nvSpPr>
        <p:spPr>
          <a:xfrm>
            <a:off x="640080" y="6172200"/>
            <a:ext cx="109728" cy="274320"/>
          </a:xfrm>
          <a:prstGeom prst="rect">
            <a:avLst/>
          </a:prstGeom>
          <a:solidFill>
            <a:srgbClr val="1B2638"/>
          </a:solidFill>
          <a:ln w="12700">
            <a:solidFill>
              <a:srgbClr val="1B2638"/>
            </a:solidFill>
            <a:prstDash val="solid"/>
          </a:ln>
        </p:spPr>
        <p:txBody>
          <a:bodyPr/>
          <a:lstStyle/>
          <a:p>
            <a:endParaRPr lang="en-US"/>
          </a:p>
        </p:txBody>
      </p:sp>
      <p:sp>
        <p:nvSpPr>
          <p:cNvPr id="25" name="Shape 23"/>
          <p:cNvSpPr/>
          <p:nvPr/>
        </p:nvSpPr>
        <p:spPr>
          <a:xfrm>
            <a:off x="859536" y="6172200"/>
            <a:ext cx="36576" cy="274320"/>
          </a:xfrm>
          <a:prstGeom prst="rect">
            <a:avLst/>
          </a:prstGeom>
          <a:solidFill>
            <a:srgbClr val="1B2638"/>
          </a:solidFill>
          <a:ln w="12700">
            <a:solidFill>
              <a:srgbClr val="1B2638"/>
            </a:solidFill>
            <a:prstDash val="solid"/>
          </a:ln>
        </p:spPr>
        <p:txBody>
          <a:bodyPr/>
          <a:lstStyle/>
          <a:p>
            <a:endParaRPr lang="en-US"/>
          </a:p>
        </p:txBody>
      </p:sp>
      <p:sp>
        <p:nvSpPr>
          <p:cNvPr id="26" name="Shape 24"/>
          <p:cNvSpPr/>
          <p:nvPr/>
        </p:nvSpPr>
        <p:spPr>
          <a:xfrm>
            <a:off x="1042416" y="6172200"/>
            <a:ext cx="36576" cy="274320"/>
          </a:xfrm>
          <a:prstGeom prst="rect">
            <a:avLst/>
          </a:prstGeom>
          <a:solidFill>
            <a:srgbClr val="1B2638"/>
          </a:solidFill>
          <a:ln w="12700">
            <a:solidFill>
              <a:srgbClr val="1B2638"/>
            </a:solidFill>
            <a:prstDash val="solid"/>
          </a:ln>
        </p:spPr>
        <p:txBody>
          <a:bodyPr/>
          <a:lstStyle/>
          <a:p>
            <a:endParaRPr lang="en-US"/>
          </a:p>
        </p:txBody>
      </p:sp>
      <p:sp>
        <p:nvSpPr>
          <p:cNvPr id="27" name="Shape 25"/>
          <p:cNvSpPr/>
          <p:nvPr/>
        </p:nvSpPr>
        <p:spPr>
          <a:xfrm>
            <a:off x="1298448" y="6172200"/>
            <a:ext cx="36576" cy="274320"/>
          </a:xfrm>
          <a:prstGeom prst="rect">
            <a:avLst/>
          </a:prstGeom>
          <a:solidFill>
            <a:srgbClr val="1B2638"/>
          </a:solidFill>
          <a:ln w="12700">
            <a:solidFill>
              <a:srgbClr val="1B2638"/>
            </a:solidFill>
            <a:prstDash val="solid"/>
          </a:ln>
        </p:spPr>
        <p:txBody>
          <a:bodyPr/>
          <a:lstStyle/>
          <a:p>
            <a:endParaRPr lang="en-US"/>
          </a:p>
        </p:txBody>
      </p:sp>
      <p:sp>
        <p:nvSpPr>
          <p:cNvPr id="28" name="Shape 26"/>
          <p:cNvSpPr/>
          <p:nvPr/>
        </p:nvSpPr>
        <p:spPr>
          <a:xfrm>
            <a:off x="1444752" y="6172200"/>
            <a:ext cx="73152" cy="274320"/>
          </a:xfrm>
          <a:prstGeom prst="rect">
            <a:avLst/>
          </a:prstGeom>
          <a:solidFill>
            <a:srgbClr val="1B2638"/>
          </a:solidFill>
          <a:ln w="12700">
            <a:solidFill>
              <a:srgbClr val="1B2638"/>
            </a:solidFill>
            <a:prstDash val="solid"/>
          </a:ln>
        </p:spPr>
        <p:txBody>
          <a:bodyPr/>
          <a:lstStyle/>
          <a:p>
            <a:endParaRPr lang="en-US"/>
          </a:p>
        </p:txBody>
      </p:sp>
      <p:sp>
        <p:nvSpPr>
          <p:cNvPr id="29" name="Shape 27"/>
          <p:cNvSpPr/>
          <p:nvPr/>
        </p:nvSpPr>
        <p:spPr>
          <a:xfrm>
            <a:off x="1700784" y="6172200"/>
            <a:ext cx="36576" cy="274320"/>
          </a:xfrm>
          <a:prstGeom prst="rect">
            <a:avLst/>
          </a:prstGeom>
          <a:solidFill>
            <a:srgbClr val="1B2638"/>
          </a:solidFill>
          <a:ln w="12700">
            <a:solidFill>
              <a:srgbClr val="1B2638"/>
            </a:solidFill>
            <a:prstDash val="solid"/>
          </a:ln>
        </p:spPr>
        <p:txBody>
          <a:bodyPr/>
          <a:lstStyle/>
          <a:p>
            <a:endParaRPr lang="en-US"/>
          </a:p>
        </p:txBody>
      </p:sp>
      <p:sp>
        <p:nvSpPr>
          <p:cNvPr id="30" name="Shape 28"/>
          <p:cNvSpPr/>
          <p:nvPr/>
        </p:nvSpPr>
        <p:spPr>
          <a:xfrm>
            <a:off x="1847088" y="6172200"/>
            <a:ext cx="36576" cy="274320"/>
          </a:xfrm>
          <a:prstGeom prst="rect">
            <a:avLst/>
          </a:prstGeom>
          <a:solidFill>
            <a:srgbClr val="1B2638"/>
          </a:solidFill>
          <a:ln w="12700">
            <a:solidFill>
              <a:srgbClr val="1B2638"/>
            </a:solidFill>
            <a:prstDash val="solid"/>
          </a:ln>
        </p:spPr>
        <p:txBody>
          <a:bodyPr/>
          <a:lstStyle/>
          <a:p>
            <a:endParaRPr lang="en-US"/>
          </a:p>
        </p:txBody>
      </p:sp>
      <p:sp>
        <p:nvSpPr>
          <p:cNvPr id="31" name="Shape 29"/>
          <p:cNvSpPr/>
          <p:nvPr/>
        </p:nvSpPr>
        <p:spPr>
          <a:xfrm>
            <a:off x="2029968" y="6172200"/>
            <a:ext cx="146304" cy="274320"/>
          </a:xfrm>
          <a:prstGeom prst="rect">
            <a:avLst/>
          </a:prstGeom>
          <a:solidFill>
            <a:srgbClr val="1B2638"/>
          </a:solidFill>
          <a:ln w="12700">
            <a:solidFill>
              <a:srgbClr val="1B2638"/>
            </a:solidFill>
            <a:prstDash val="solid"/>
          </a:ln>
        </p:spPr>
        <p:txBody>
          <a:bodyPr/>
          <a:lstStyle/>
          <a:p>
            <a:endParaRPr lang="en-US"/>
          </a:p>
        </p:txBody>
      </p:sp>
      <p:sp>
        <p:nvSpPr>
          <p:cNvPr id="32" name="Shape 30"/>
          <p:cNvSpPr/>
          <p:nvPr/>
        </p:nvSpPr>
        <p:spPr>
          <a:xfrm>
            <a:off x="2286000" y="6172200"/>
            <a:ext cx="73152" cy="274320"/>
          </a:xfrm>
          <a:prstGeom prst="rect">
            <a:avLst/>
          </a:prstGeom>
          <a:solidFill>
            <a:srgbClr val="1B2638"/>
          </a:solidFill>
          <a:ln w="12700">
            <a:solidFill>
              <a:srgbClr val="1B2638"/>
            </a:solidFill>
            <a:prstDash val="solid"/>
          </a:ln>
        </p:spPr>
        <p:txBody>
          <a:bodyPr/>
          <a:lstStyle/>
          <a:p>
            <a:endParaRPr lang="en-US"/>
          </a:p>
        </p:txBody>
      </p:sp>
      <p:sp>
        <p:nvSpPr>
          <p:cNvPr id="33" name="Shape 31"/>
          <p:cNvSpPr/>
          <p:nvPr/>
        </p:nvSpPr>
        <p:spPr>
          <a:xfrm>
            <a:off x="2468880" y="6172200"/>
            <a:ext cx="36576" cy="274320"/>
          </a:xfrm>
          <a:prstGeom prst="rect">
            <a:avLst/>
          </a:prstGeom>
          <a:solidFill>
            <a:srgbClr val="1B2638"/>
          </a:solidFill>
          <a:ln w="12700">
            <a:solidFill>
              <a:srgbClr val="1B2638"/>
            </a:solidFill>
            <a:prstDash val="solid"/>
          </a:ln>
        </p:spPr>
        <p:txBody>
          <a:bodyPr/>
          <a:lstStyle/>
          <a:p>
            <a:endParaRPr lang="en-US"/>
          </a:p>
        </p:txBody>
      </p:sp>
      <p:sp>
        <p:nvSpPr>
          <p:cNvPr id="34" name="Shape 32"/>
          <p:cNvSpPr/>
          <p:nvPr/>
        </p:nvSpPr>
        <p:spPr>
          <a:xfrm>
            <a:off x="2688336" y="6172200"/>
            <a:ext cx="36576" cy="274320"/>
          </a:xfrm>
          <a:prstGeom prst="rect">
            <a:avLst/>
          </a:prstGeom>
          <a:solidFill>
            <a:srgbClr val="1B2638"/>
          </a:solidFill>
          <a:ln w="12700">
            <a:solidFill>
              <a:srgbClr val="1B2638"/>
            </a:solidFill>
            <a:prstDash val="solid"/>
          </a:ln>
        </p:spPr>
        <p:txBody>
          <a:bodyPr/>
          <a:lstStyle/>
          <a:p>
            <a:endParaRPr lang="en-US"/>
          </a:p>
        </p:txBody>
      </p:sp>
      <p:sp>
        <p:nvSpPr>
          <p:cNvPr id="35" name="Shape 33"/>
          <p:cNvSpPr/>
          <p:nvPr/>
        </p:nvSpPr>
        <p:spPr>
          <a:xfrm>
            <a:off x="2871216" y="6172200"/>
            <a:ext cx="36576" cy="274320"/>
          </a:xfrm>
          <a:prstGeom prst="rect">
            <a:avLst/>
          </a:prstGeom>
          <a:solidFill>
            <a:srgbClr val="1B2638"/>
          </a:solidFill>
          <a:ln w="12700">
            <a:solidFill>
              <a:srgbClr val="1B2638"/>
            </a:solidFill>
            <a:prstDash val="solid"/>
          </a:ln>
        </p:spPr>
        <p:txBody>
          <a:bodyPr/>
          <a:lstStyle/>
          <a:p>
            <a:endParaRPr lang="en-US"/>
          </a:p>
        </p:txBody>
      </p:sp>
      <p:sp>
        <p:nvSpPr>
          <p:cNvPr id="36" name="Shape 34"/>
          <p:cNvSpPr/>
          <p:nvPr/>
        </p:nvSpPr>
        <p:spPr>
          <a:xfrm>
            <a:off x="3017520" y="6172200"/>
            <a:ext cx="146304" cy="274320"/>
          </a:xfrm>
          <a:prstGeom prst="rect">
            <a:avLst/>
          </a:prstGeom>
          <a:solidFill>
            <a:srgbClr val="1B2638"/>
          </a:solidFill>
          <a:ln w="12700">
            <a:solidFill>
              <a:srgbClr val="1B2638"/>
            </a:solidFill>
            <a:prstDash val="solid"/>
          </a:ln>
        </p:spPr>
        <p:txBody>
          <a:bodyPr/>
          <a:lstStyle/>
          <a:p>
            <a:endParaRPr lang="en-US"/>
          </a:p>
        </p:txBody>
      </p:sp>
      <p:sp>
        <p:nvSpPr>
          <p:cNvPr id="37" name="Shape 35"/>
          <p:cNvSpPr/>
          <p:nvPr/>
        </p:nvSpPr>
        <p:spPr>
          <a:xfrm>
            <a:off x="3273552" y="6172200"/>
            <a:ext cx="36576" cy="274320"/>
          </a:xfrm>
          <a:prstGeom prst="rect">
            <a:avLst/>
          </a:prstGeom>
          <a:solidFill>
            <a:srgbClr val="1B2638"/>
          </a:solidFill>
          <a:ln w="12700">
            <a:solidFill>
              <a:srgbClr val="1B2638"/>
            </a:solidFill>
            <a:prstDash val="solid"/>
          </a:ln>
        </p:spPr>
        <p:txBody>
          <a:bodyPr/>
          <a:lstStyle/>
          <a:p>
            <a:endParaRPr lang="en-US"/>
          </a:p>
        </p:txBody>
      </p:sp>
      <p:sp>
        <p:nvSpPr>
          <p:cNvPr id="38" name="Shape 36"/>
          <p:cNvSpPr/>
          <p:nvPr/>
        </p:nvSpPr>
        <p:spPr>
          <a:xfrm>
            <a:off x="3456432" y="6172200"/>
            <a:ext cx="36576" cy="274320"/>
          </a:xfrm>
          <a:prstGeom prst="rect">
            <a:avLst/>
          </a:prstGeom>
          <a:solidFill>
            <a:srgbClr val="1B2638"/>
          </a:solidFill>
          <a:ln w="12700">
            <a:solidFill>
              <a:srgbClr val="1B2638"/>
            </a:solidFill>
            <a:prstDash val="solid"/>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640080" y="411480"/>
            <a:ext cx="548640" cy="274320"/>
          </a:xfrm>
          <a:prstGeom prst="rect">
            <a:avLst/>
          </a:prstGeom>
          <a:noFill/>
          <a:ln/>
        </p:spPr>
        <p:txBody>
          <a:bodyPr wrap="square" lIns="0" tIns="0" rIns="0" bIns="0" rtlCol="0" anchor="ctr"/>
          <a:lstStyle/>
          <a:p>
            <a:pPr marL="0" indent="0">
              <a:buNone/>
            </a:pPr>
            <a:r>
              <a:rPr lang="en-US" sz="1200" b="1" dirty="0">
                <a:solidFill>
                  <a:srgbClr val="00D9A3"/>
                </a:solidFill>
                <a:latin typeface="Courier New" pitchFamily="34" charset="0"/>
                <a:ea typeface="Courier New" pitchFamily="34" charset="-122"/>
                <a:cs typeface="Courier New" pitchFamily="34" charset="-120"/>
              </a:rPr>
              <a:t>01</a:t>
            </a:r>
            <a:endParaRPr lang="en-US" sz="1200" dirty="0"/>
          </a:p>
        </p:txBody>
      </p:sp>
      <p:sp>
        <p:nvSpPr>
          <p:cNvPr id="3" name="Text 1"/>
          <p:cNvSpPr/>
          <p:nvPr/>
        </p:nvSpPr>
        <p:spPr>
          <a:xfrm>
            <a:off x="1143000" y="411480"/>
            <a:ext cx="7315200" cy="274320"/>
          </a:xfrm>
          <a:prstGeom prst="rect">
            <a:avLst/>
          </a:prstGeom>
          <a:noFill/>
          <a:ln/>
        </p:spPr>
        <p:txBody>
          <a:bodyPr wrap="square" lIns="0" tIns="0" rIns="0" bIns="0" rtlCol="0" anchor="ctr"/>
          <a:lstStyle/>
          <a:p>
            <a:pPr marL="0" indent="0">
              <a:buNone/>
            </a:pPr>
            <a:r>
              <a:rPr lang="en-US" sz="1200" kern="0" spc="100" dirty="0">
                <a:solidFill>
                  <a:srgbClr val="8FA0B8"/>
                </a:solidFill>
                <a:latin typeface="Courier New" pitchFamily="34" charset="0"/>
                <a:ea typeface="Courier New" pitchFamily="34" charset="-122"/>
                <a:cs typeface="Courier New" pitchFamily="34" charset="-120"/>
              </a:rPr>
              <a:t>SCOPE</a:t>
            </a:r>
            <a:endParaRPr lang="en-US" sz="1200" dirty="0"/>
          </a:p>
        </p:txBody>
      </p:sp>
      <p:sp>
        <p:nvSpPr>
          <p:cNvPr id="4" name="Text 2"/>
          <p:cNvSpPr/>
          <p:nvPr/>
        </p:nvSpPr>
        <p:spPr>
          <a:xfrm>
            <a:off x="640080" y="777240"/>
            <a:ext cx="10881360" cy="685800"/>
          </a:xfrm>
          <a:prstGeom prst="rect">
            <a:avLst/>
          </a:prstGeom>
          <a:noFill/>
          <a:ln/>
        </p:spPr>
        <p:txBody>
          <a:bodyPr wrap="square" lIns="0" tIns="0" rIns="0" bIns="0" rtlCol="0" anchor="ctr"/>
          <a:lstStyle/>
          <a:p>
            <a:pPr marL="0" indent="0">
              <a:buNone/>
            </a:pPr>
            <a:r>
              <a:rPr lang="en-US" sz="3400" b="1" dirty="0">
                <a:solidFill>
                  <a:srgbClr val="E8EDF5"/>
                </a:solidFill>
                <a:latin typeface="Arial" pitchFamily="34" charset="0"/>
                <a:ea typeface="Arial" pitchFamily="34" charset="-122"/>
                <a:cs typeface="Arial" pitchFamily="34" charset="-120"/>
              </a:rPr>
              <a:t>Abgrenzung</a:t>
            </a:r>
            <a:endParaRPr lang="en-US" sz="3400" dirty="0"/>
          </a:p>
        </p:txBody>
      </p:sp>
      <p:sp>
        <p:nvSpPr>
          <p:cNvPr id="6" name="Shape 4"/>
          <p:cNvSpPr/>
          <p:nvPr/>
        </p:nvSpPr>
        <p:spPr>
          <a:xfrm>
            <a:off x="640080" y="2148840"/>
            <a:ext cx="5285232" cy="3246120"/>
          </a:xfrm>
          <a:prstGeom prst="roundRect">
            <a:avLst>
              <a:gd name="adj" fmla="val 1690"/>
            </a:avLst>
          </a:prstGeom>
          <a:solidFill>
            <a:srgbClr val="151E2E"/>
          </a:solidFill>
          <a:ln w="12700">
            <a:solidFill>
              <a:srgbClr val="24314A"/>
            </a:solidFill>
            <a:prstDash val="solid"/>
          </a:ln>
        </p:spPr>
        <p:txBody>
          <a:bodyPr/>
          <a:lstStyle/>
          <a:p>
            <a:endParaRPr lang="en-US"/>
          </a:p>
        </p:txBody>
      </p:sp>
      <p:sp>
        <p:nvSpPr>
          <p:cNvPr id="7" name="Shape 5"/>
          <p:cNvSpPr/>
          <p:nvPr/>
        </p:nvSpPr>
        <p:spPr>
          <a:xfrm>
            <a:off x="1005840" y="2487168"/>
            <a:ext cx="146304" cy="146304"/>
          </a:xfrm>
          <a:prstGeom prst="ellipse">
            <a:avLst/>
          </a:prstGeom>
          <a:solidFill>
            <a:srgbClr val="00D9A3"/>
          </a:solidFill>
          <a:ln w="12700">
            <a:solidFill>
              <a:srgbClr val="00D9A3"/>
            </a:solidFill>
            <a:prstDash val="solid"/>
          </a:ln>
        </p:spPr>
        <p:txBody>
          <a:bodyPr/>
          <a:lstStyle/>
          <a:p>
            <a:endParaRPr lang="en-US"/>
          </a:p>
        </p:txBody>
      </p:sp>
      <p:sp>
        <p:nvSpPr>
          <p:cNvPr id="8" name="Text 6"/>
          <p:cNvSpPr/>
          <p:nvPr/>
        </p:nvSpPr>
        <p:spPr>
          <a:xfrm>
            <a:off x="1280160" y="2395728"/>
            <a:ext cx="4480560" cy="320040"/>
          </a:xfrm>
          <a:prstGeom prst="rect">
            <a:avLst/>
          </a:prstGeom>
          <a:noFill/>
          <a:ln/>
        </p:spPr>
        <p:txBody>
          <a:bodyPr wrap="square" lIns="0" tIns="0" rIns="0" bIns="0" rtlCol="0" anchor="ctr"/>
          <a:lstStyle/>
          <a:p>
            <a:pPr marL="0" indent="0">
              <a:buNone/>
            </a:pPr>
            <a:r>
              <a:rPr lang="en-US" sz="2000" b="1" dirty="0">
                <a:solidFill>
                  <a:srgbClr val="E8EDF5"/>
                </a:solidFill>
                <a:latin typeface="Arial" pitchFamily="34" charset="0"/>
                <a:ea typeface="Arial" pitchFamily="34" charset="-122"/>
                <a:cs typeface="Arial" pitchFamily="34" charset="-120"/>
              </a:rPr>
              <a:t>Teil des Projekts</a:t>
            </a:r>
            <a:endParaRPr lang="en-US" sz="2000" dirty="0"/>
          </a:p>
        </p:txBody>
      </p:sp>
      <p:sp>
        <p:nvSpPr>
          <p:cNvPr id="9" name="Text 7"/>
          <p:cNvSpPr/>
          <p:nvPr/>
        </p:nvSpPr>
        <p:spPr>
          <a:xfrm>
            <a:off x="1024128" y="2926080"/>
            <a:ext cx="4572000" cy="228600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E8EDF5"/>
                </a:solidFill>
                <a:latin typeface="Calibri" pitchFamily="34" charset="0"/>
                <a:ea typeface="Calibri" pitchFamily="34" charset="-122"/>
                <a:cs typeface="Calibri" pitchFamily="34" charset="-120"/>
              </a:rPr>
              <a:t>Android als Zielplattform</a:t>
            </a:r>
            <a:endParaRPr lang="en-US" sz="1400" dirty="0"/>
          </a:p>
          <a:p>
            <a:pPr marL="342900" indent="-342900">
              <a:spcAft>
                <a:spcPts val="1000"/>
              </a:spcAft>
              <a:buSzPct val="100000"/>
              <a:buChar char="•"/>
            </a:pPr>
            <a:r>
              <a:rPr lang="en-US" sz="1400" dirty="0">
                <a:solidFill>
                  <a:srgbClr val="E8EDF5"/>
                </a:solidFill>
                <a:latin typeface="Calibri" pitchFamily="34" charset="0"/>
                <a:ea typeface="Calibri" pitchFamily="34" charset="-122"/>
                <a:cs typeface="Calibri" pitchFamily="34" charset="-120"/>
              </a:rPr>
              <a:t>Barcodes scannen und speichern</a:t>
            </a:r>
            <a:endParaRPr lang="en-US" sz="1400" dirty="0"/>
          </a:p>
          <a:p>
            <a:pPr marL="342900" indent="-342900">
              <a:spcAft>
                <a:spcPts val="1000"/>
              </a:spcAft>
              <a:buSzPct val="100000"/>
              <a:buChar char="•"/>
            </a:pPr>
            <a:r>
              <a:rPr lang="en-US" sz="1400" dirty="0">
                <a:solidFill>
                  <a:srgbClr val="E8EDF5"/>
                </a:solidFill>
                <a:latin typeface="Calibri" pitchFamily="34" charset="0"/>
                <a:ea typeface="Calibri" pitchFamily="34" charset="-122"/>
                <a:cs typeface="Calibri" pitchFamily="34" charset="-120"/>
              </a:rPr>
              <a:t>Verwaltung der gescannten Codes</a:t>
            </a:r>
            <a:endParaRPr lang="en-US" sz="1400" dirty="0"/>
          </a:p>
          <a:p>
            <a:pPr marL="342900" indent="-342900">
              <a:spcAft>
                <a:spcPts val="1000"/>
              </a:spcAft>
              <a:buSzPct val="100000"/>
              <a:buChar char="•"/>
            </a:pPr>
            <a:r>
              <a:rPr lang="en-US" sz="1400" dirty="0">
                <a:solidFill>
                  <a:srgbClr val="E8EDF5"/>
                </a:solidFill>
                <a:latin typeface="Calibri" pitchFamily="34" charset="0"/>
                <a:ea typeface="Calibri" pitchFamily="34" charset="-122"/>
                <a:cs typeface="Calibri" pitchFamily="34" charset="-120"/>
              </a:rPr>
              <a:t>Weiterverarbeitung nach Code-Typ</a:t>
            </a:r>
            <a:endParaRPr lang="en-US" sz="1400" dirty="0"/>
          </a:p>
          <a:p>
            <a:pPr marL="342900" indent="-342900">
              <a:spcAft>
                <a:spcPts val="1000"/>
              </a:spcAft>
              <a:buSzPct val="100000"/>
              <a:buChar char="•"/>
            </a:pPr>
            <a:r>
              <a:rPr lang="en-US" sz="1400" dirty="0">
                <a:solidFill>
                  <a:srgbClr val="E8EDF5"/>
                </a:solidFill>
                <a:latin typeface="Calibri" pitchFamily="34" charset="0"/>
                <a:ea typeface="Calibri" pitchFamily="34" charset="-122"/>
                <a:cs typeface="Calibri" pitchFamily="34" charset="-120"/>
              </a:rPr>
              <a:t>Lokale Datenhaltung auf dem </a:t>
            </a:r>
            <a:r>
              <a:rPr lang="en-US" sz="1400" dirty="0" err="1">
                <a:solidFill>
                  <a:srgbClr val="E8EDF5"/>
                </a:solidFill>
                <a:latin typeface="Calibri" pitchFamily="34" charset="0"/>
                <a:ea typeface="Calibri" pitchFamily="34" charset="-122"/>
                <a:cs typeface="Calibri" pitchFamily="34" charset="-120"/>
              </a:rPr>
              <a:t>Gerät</a:t>
            </a:r>
            <a:endParaRPr lang="en-US" sz="1400" dirty="0">
              <a:solidFill>
                <a:srgbClr val="E8EDF5"/>
              </a:solidFill>
              <a:latin typeface="Calibri" pitchFamily="34" charset="0"/>
              <a:ea typeface="Calibri" pitchFamily="34" charset="-122"/>
              <a:cs typeface="Calibri" pitchFamily="34" charset="-120"/>
            </a:endParaRPr>
          </a:p>
          <a:p>
            <a:pPr marL="342900" indent="-342900">
              <a:spcAft>
                <a:spcPts val="1000"/>
              </a:spcAft>
              <a:buSzPct val="100000"/>
              <a:buChar char="•"/>
            </a:pPr>
            <a:r>
              <a:rPr lang="en-US" sz="1400" dirty="0">
                <a:solidFill>
                  <a:srgbClr val="E8EDF5"/>
                </a:solidFill>
                <a:latin typeface="Calibri" pitchFamily="34" charset="0"/>
                <a:cs typeface="Calibri" pitchFamily="34" charset="-120"/>
              </a:rPr>
              <a:t> </a:t>
            </a:r>
            <a:r>
              <a:rPr lang="en-US" sz="1400" dirty="0" err="1">
                <a:solidFill>
                  <a:srgbClr val="E8EDF5"/>
                </a:solidFill>
                <a:latin typeface="Calibri" pitchFamily="34" charset="0"/>
                <a:cs typeface="Calibri" pitchFamily="34" charset="-120"/>
              </a:rPr>
              <a:t>Konvertierung</a:t>
            </a:r>
            <a:r>
              <a:rPr lang="en-US" sz="1400" dirty="0">
                <a:solidFill>
                  <a:srgbClr val="E8EDF5"/>
                </a:solidFill>
                <a:latin typeface="Calibri" pitchFamily="34" charset="0"/>
                <a:cs typeface="Calibri" pitchFamily="34" charset="-120"/>
              </a:rPr>
              <a:t> in .</a:t>
            </a:r>
            <a:r>
              <a:rPr lang="en-US" sz="1400" dirty="0" err="1">
                <a:solidFill>
                  <a:srgbClr val="E8EDF5"/>
                </a:solidFill>
                <a:latin typeface="Calibri" pitchFamily="34" charset="0"/>
                <a:cs typeface="Calibri" pitchFamily="34" charset="-120"/>
              </a:rPr>
              <a:t>apk-Datei</a:t>
            </a:r>
            <a:endParaRPr lang="en-US" sz="1400" dirty="0"/>
          </a:p>
        </p:txBody>
      </p:sp>
      <p:sp>
        <p:nvSpPr>
          <p:cNvPr id="10" name="Shape 8"/>
          <p:cNvSpPr/>
          <p:nvPr/>
        </p:nvSpPr>
        <p:spPr>
          <a:xfrm>
            <a:off x="6263640" y="2148840"/>
            <a:ext cx="5285232" cy="3246120"/>
          </a:xfrm>
          <a:prstGeom prst="roundRect">
            <a:avLst>
              <a:gd name="adj" fmla="val 1690"/>
            </a:avLst>
          </a:prstGeom>
          <a:solidFill>
            <a:srgbClr val="151E2E"/>
          </a:solidFill>
          <a:ln w="12700">
            <a:solidFill>
              <a:srgbClr val="24314A"/>
            </a:solidFill>
            <a:prstDash val="solid"/>
          </a:ln>
        </p:spPr>
        <p:txBody>
          <a:bodyPr/>
          <a:lstStyle/>
          <a:p>
            <a:endParaRPr lang="en-US"/>
          </a:p>
        </p:txBody>
      </p:sp>
      <p:sp>
        <p:nvSpPr>
          <p:cNvPr id="11" name="Shape 9"/>
          <p:cNvSpPr/>
          <p:nvPr/>
        </p:nvSpPr>
        <p:spPr>
          <a:xfrm>
            <a:off x="6629400" y="2487168"/>
            <a:ext cx="146304" cy="146304"/>
          </a:xfrm>
          <a:prstGeom prst="ellipse">
            <a:avLst/>
          </a:prstGeom>
          <a:solidFill>
            <a:srgbClr val="FFB020"/>
          </a:solidFill>
          <a:ln w="12700">
            <a:solidFill>
              <a:srgbClr val="FFB020"/>
            </a:solidFill>
            <a:prstDash val="solid"/>
          </a:ln>
        </p:spPr>
        <p:txBody>
          <a:bodyPr/>
          <a:lstStyle/>
          <a:p>
            <a:endParaRPr lang="en-US"/>
          </a:p>
        </p:txBody>
      </p:sp>
      <p:sp>
        <p:nvSpPr>
          <p:cNvPr id="12" name="Text 10"/>
          <p:cNvSpPr/>
          <p:nvPr/>
        </p:nvSpPr>
        <p:spPr>
          <a:xfrm>
            <a:off x="6903720" y="2395728"/>
            <a:ext cx="4480560" cy="320040"/>
          </a:xfrm>
          <a:prstGeom prst="rect">
            <a:avLst/>
          </a:prstGeom>
          <a:noFill/>
          <a:ln/>
        </p:spPr>
        <p:txBody>
          <a:bodyPr wrap="square" lIns="0" tIns="0" rIns="0" bIns="0" rtlCol="0" anchor="ctr"/>
          <a:lstStyle/>
          <a:p>
            <a:pPr marL="0" indent="0">
              <a:buNone/>
            </a:pPr>
            <a:r>
              <a:rPr lang="en-US" sz="2000" b="1" dirty="0">
                <a:solidFill>
                  <a:srgbClr val="E8EDF5"/>
                </a:solidFill>
                <a:latin typeface="Arial" pitchFamily="34" charset="0"/>
                <a:ea typeface="Arial" pitchFamily="34" charset="-122"/>
                <a:cs typeface="Arial" pitchFamily="34" charset="-120"/>
              </a:rPr>
              <a:t>Nicht Teil des Projekts</a:t>
            </a:r>
            <a:endParaRPr lang="en-US" sz="2000" dirty="0"/>
          </a:p>
        </p:txBody>
      </p:sp>
      <p:sp>
        <p:nvSpPr>
          <p:cNvPr id="13" name="Text 11"/>
          <p:cNvSpPr/>
          <p:nvPr/>
        </p:nvSpPr>
        <p:spPr>
          <a:xfrm>
            <a:off x="6647688" y="2926080"/>
            <a:ext cx="4572000" cy="228600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E8EDF5"/>
                </a:solidFill>
                <a:latin typeface="Calibri" pitchFamily="34" charset="0"/>
                <a:ea typeface="Calibri" pitchFamily="34" charset="-122"/>
                <a:cs typeface="Calibri" pitchFamily="34" charset="-120"/>
              </a:rPr>
              <a:t>iOS-Version und Web-Build</a:t>
            </a:r>
            <a:endParaRPr lang="en-US" sz="1400" dirty="0"/>
          </a:p>
          <a:p>
            <a:pPr marL="342900" indent="-342900">
              <a:spcAft>
                <a:spcPts val="1000"/>
              </a:spcAft>
              <a:buSzPct val="100000"/>
              <a:buChar char="•"/>
            </a:pPr>
            <a:r>
              <a:rPr lang="en-US" sz="1400" dirty="0">
                <a:solidFill>
                  <a:srgbClr val="E8EDF5"/>
                </a:solidFill>
                <a:latin typeface="Calibri" pitchFamily="34" charset="0"/>
                <a:ea typeface="Calibri" pitchFamily="34" charset="-122"/>
                <a:cs typeface="Calibri" pitchFamily="34" charset="-120"/>
              </a:rPr>
              <a:t>Synchronisation zwischen Geräten</a:t>
            </a:r>
            <a:endParaRPr lang="en-US" sz="1400" dirty="0"/>
          </a:p>
          <a:p>
            <a:pPr marL="342900" indent="-342900">
              <a:spcAft>
                <a:spcPts val="1000"/>
              </a:spcAft>
              <a:buSzPct val="100000"/>
              <a:buChar char="•"/>
            </a:pPr>
            <a:r>
              <a:rPr lang="en-US" sz="1400" dirty="0">
                <a:solidFill>
                  <a:srgbClr val="E8EDF5"/>
                </a:solidFill>
                <a:latin typeface="Calibri" pitchFamily="34" charset="0"/>
                <a:ea typeface="Calibri" pitchFamily="34" charset="-122"/>
                <a:cs typeface="Calibri" pitchFamily="34" charset="-120"/>
              </a:rPr>
              <a:t>Automatisierte Tests</a:t>
            </a:r>
            <a:endParaRPr lang="en-US" sz="1400" dirty="0"/>
          </a:p>
          <a:p>
            <a:pPr marL="342900" indent="-342900">
              <a:spcAft>
                <a:spcPts val="1000"/>
              </a:spcAft>
              <a:buSzPct val="100000"/>
              <a:buChar char="•"/>
            </a:pPr>
            <a:r>
              <a:rPr lang="en-US" sz="1400" dirty="0">
                <a:solidFill>
                  <a:srgbClr val="E8EDF5"/>
                </a:solidFill>
                <a:latin typeface="Calibri" pitchFamily="34" charset="0"/>
                <a:ea typeface="Calibri" pitchFamily="34" charset="-122"/>
                <a:cs typeface="Calibri" pitchFamily="34" charset="-120"/>
              </a:rPr>
              <a:t>Veröffentlichung im Play Store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51E2E"/>
        </a:solidFill>
        <a:effectLst/>
      </p:bgPr>
    </p:bg>
    <p:spTree>
      <p:nvGrpSpPr>
        <p:cNvPr id="1" name=""/>
        <p:cNvGrpSpPr/>
        <p:nvPr/>
      </p:nvGrpSpPr>
      <p:grpSpPr>
        <a:xfrm>
          <a:off x="0" y="0"/>
          <a:ext cx="0" cy="0"/>
          <a:chOff x="0" y="0"/>
          <a:chExt cx="0" cy="0"/>
        </a:xfrm>
      </p:grpSpPr>
      <p:sp>
        <p:nvSpPr>
          <p:cNvPr id="2" name="Text 0"/>
          <p:cNvSpPr/>
          <p:nvPr/>
        </p:nvSpPr>
        <p:spPr>
          <a:xfrm>
            <a:off x="548640" y="1371600"/>
            <a:ext cx="3200400" cy="2377440"/>
          </a:xfrm>
          <a:prstGeom prst="rect">
            <a:avLst/>
          </a:prstGeom>
          <a:noFill/>
          <a:ln/>
        </p:spPr>
        <p:txBody>
          <a:bodyPr wrap="square" lIns="0" tIns="0" rIns="0" bIns="0" rtlCol="0" anchor="ctr"/>
          <a:lstStyle/>
          <a:p>
            <a:pPr marL="0" indent="0">
              <a:buNone/>
            </a:pPr>
            <a:r>
              <a:rPr lang="en-US" sz="13000" b="1" dirty="0">
                <a:solidFill>
                  <a:srgbClr val="1B2638"/>
                </a:solidFill>
                <a:latin typeface="Arial" pitchFamily="34" charset="0"/>
                <a:ea typeface="Arial" pitchFamily="34" charset="-122"/>
                <a:cs typeface="Arial" pitchFamily="34" charset="-120"/>
              </a:rPr>
              <a:t>02</a:t>
            </a:r>
            <a:endParaRPr lang="en-US" sz="13000" dirty="0"/>
          </a:p>
        </p:txBody>
      </p:sp>
      <p:sp>
        <p:nvSpPr>
          <p:cNvPr id="3" name="Text 1"/>
          <p:cNvSpPr/>
          <p:nvPr/>
        </p:nvSpPr>
        <p:spPr>
          <a:xfrm>
            <a:off x="3108960" y="2148840"/>
            <a:ext cx="7863840" cy="822960"/>
          </a:xfrm>
          <a:prstGeom prst="rect">
            <a:avLst/>
          </a:prstGeom>
          <a:noFill/>
          <a:ln/>
        </p:spPr>
        <p:txBody>
          <a:bodyPr wrap="square" lIns="0" tIns="0" rIns="0" bIns="0" rtlCol="0" anchor="ctr"/>
          <a:lstStyle/>
          <a:p>
            <a:pPr marL="0" indent="0">
              <a:buNone/>
            </a:pPr>
            <a:r>
              <a:rPr lang="en-US" sz="4000" b="1" dirty="0">
                <a:solidFill>
                  <a:srgbClr val="E8EDF5"/>
                </a:solidFill>
                <a:latin typeface="Arial" pitchFamily="34" charset="0"/>
                <a:ea typeface="Arial" pitchFamily="34" charset="-122"/>
                <a:cs typeface="Arial" pitchFamily="34" charset="-120"/>
              </a:rPr>
              <a:t>App </a:t>
            </a:r>
            <a:r>
              <a:rPr lang="en-US" sz="4000" b="1" dirty="0" err="1">
                <a:solidFill>
                  <a:srgbClr val="E8EDF5"/>
                </a:solidFill>
                <a:latin typeface="Arial" pitchFamily="34" charset="0"/>
                <a:ea typeface="Arial" pitchFamily="34" charset="-122"/>
                <a:cs typeface="Arial" pitchFamily="34" charset="-120"/>
              </a:rPr>
              <a:t>Vorstellung</a:t>
            </a:r>
            <a:endParaRPr lang="en-US" sz="4000" dirty="0"/>
          </a:p>
        </p:txBody>
      </p:sp>
      <p:sp>
        <p:nvSpPr>
          <p:cNvPr id="4" name="Text 2"/>
          <p:cNvSpPr/>
          <p:nvPr/>
        </p:nvSpPr>
        <p:spPr>
          <a:xfrm>
            <a:off x="3154680" y="3017520"/>
            <a:ext cx="7680960" cy="365760"/>
          </a:xfrm>
          <a:prstGeom prst="rect">
            <a:avLst/>
          </a:prstGeom>
          <a:noFill/>
          <a:ln/>
        </p:spPr>
        <p:txBody>
          <a:bodyPr wrap="square" lIns="0" tIns="0" rIns="0" bIns="0" rtlCol="0" anchor="ctr"/>
          <a:lstStyle/>
          <a:p>
            <a:pPr marL="0" indent="0">
              <a:buNone/>
            </a:pPr>
            <a:r>
              <a:rPr lang="en-US" sz="1600" dirty="0">
                <a:solidFill>
                  <a:srgbClr val="8FA0B8"/>
                </a:solidFill>
                <a:latin typeface="Calibri" pitchFamily="34" charset="0"/>
                <a:ea typeface="Calibri" pitchFamily="34" charset="-122"/>
                <a:cs typeface="Calibri" pitchFamily="34" charset="-120"/>
              </a:rPr>
              <a:t>Funktionen aus Sicht der Anwenderin und des Anwenders</a:t>
            </a:r>
            <a:endParaRPr lang="en-US" sz="1600" dirty="0"/>
          </a:p>
        </p:txBody>
      </p:sp>
      <p:sp>
        <p:nvSpPr>
          <p:cNvPr id="5" name="Shape 3"/>
          <p:cNvSpPr/>
          <p:nvPr/>
        </p:nvSpPr>
        <p:spPr>
          <a:xfrm>
            <a:off x="3154680" y="3749040"/>
            <a:ext cx="109728" cy="320040"/>
          </a:xfrm>
          <a:prstGeom prst="rect">
            <a:avLst/>
          </a:prstGeom>
          <a:solidFill>
            <a:srgbClr val="00D9A3"/>
          </a:solidFill>
          <a:ln w="12700">
            <a:solidFill>
              <a:srgbClr val="00D9A3"/>
            </a:solidFill>
            <a:prstDash val="solid"/>
          </a:ln>
        </p:spPr>
        <p:txBody>
          <a:bodyPr/>
          <a:lstStyle/>
          <a:p>
            <a:endParaRPr lang="en-US"/>
          </a:p>
        </p:txBody>
      </p:sp>
      <p:sp>
        <p:nvSpPr>
          <p:cNvPr id="6" name="Shape 4"/>
          <p:cNvSpPr/>
          <p:nvPr/>
        </p:nvSpPr>
        <p:spPr>
          <a:xfrm>
            <a:off x="3374136" y="3749040"/>
            <a:ext cx="36576" cy="320040"/>
          </a:xfrm>
          <a:prstGeom prst="rect">
            <a:avLst/>
          </a:prstGeom>
          <a:solidFill>
            <a:srgbClr val="00D9A3"/>
          </a:solidFill>
          <a:ln w="12700">
            <a:solidFill>
              <a:srgbClr val="00D9A3"/>
            </a:solidFill>
            <a:prstDash val="solid"/>
          </a:ln>
        </p:spPr>
        <p:txBody>
          <a:bodyPr/>
          <a:lstStyle/>
          <a:p>
            <a:endParaRPr lang="en-US"/>
          </a:p>
        </p:txBody>
      </p:sp>
      <p:sp>
        <p:nvSpPr>
          <p:cNvPr id="7" name="Shape 5"/>
          <p:cNvSpPr/>
          <p:nvPr/>
        </p:nvSpPr>
        <p:spPr>
          <a:xfrm>
            <a:off x="3557016" y="3749040"/>
            <a:ext cx="36576" cy="320040"/>
          </a:xfrm>
          <a:prstGeom prst="rect">
            <a:avLst/>
          </a:prstGeom>
          <a:solidFill>
            <a:srgbClr val="00D9A3"/>
          </a:solidFill>
          <a:ln w="12700">
            <a:solidFill>
              <a:srgbClr val="00D9A3"/>
            </a:solidFill>
            <a:prstDash val="solid"/>
          </a:ln>
        </p:spPr>
        <p:txBody>
          <a:bodyPr/>
          <a:lstStyle/>
          <a:p>
            <a:endParaRPr lang="en-US"/>
          </a:p>
        </p:txBody>
      </p:sp>
      <p:sp>
        <p:nvSpPr>
          <p:cNvPr id="8" name="Shape 6"/>
          <p:cNvSpPr/>
          <p:nvPr/>
        </p:nvSpPr>
        <p:spPr>
          <a:xfrm>
            <a:off x="3813048" y="3749040"/>
            <a:ext cx="36576" cy="320040"/>
          </a:xfrm>
          <a:prstGeom prst="rect">
            <a:avLst/>
          </a:prstGeom>
          <a:solidFill>
            <a:srgbClr val="00D9A3"/>
          </a:solidFill>
          <a:ln w="12700">
            <a:solidFill>
              <a:srgbClr val="00D9A3"/>
            </a:solidFill>
            <a:prstDash val="solid"/>
          </a:ln>
        </p:spPr>
        <p:txBody>
          <a:bodyPr/>
          <a:lstStyle/>
          <a:p>
            <a:endParaRPr lang="en-US"/>
          </a:p>
        </p:txBody>
      </p:sp>
      <p:sp>
        <p:nvSpPr>
          <p:cNvPr id="9" name="Shape 7"/>
          <p:cNvSpPr/>
          <p:nvPr/>
        </p:nvSpPr>
        <p:spPr>
          <a:xfrm>
            <a:off x="3959352" y="3749040"/>
            <a:ext cx="73152" cy="320040"/>
          </a:xfrm>
          <a:prstGeom prst="rect">
            <a:avLst/>
          </a:prstGeom>
          <a:solidFill>
            <a:srgbClr val="00D9A3"/>
          </a:solidFill>
          <a:ln w="12700">
            <a:solidFill>
              <a:srgbClr val="00D9A3"/>
            </a:solidFill>
            <a:prstDash val="solid"/>
          </a:ln>
        </p:spPr>
        <p:txBody>
          <a:bodyPr/>
          <a:lstStyle/>
          <a:p>
            <a:endParaRPr lang="en-US"/>
          </a:p>
        </p:txBody>
      </p:sp>
      <p:sp>
        <p:nvSpPr>
          <p:cNvPr id="10" name="Shape 8"/>
          <p:cNvSpPr/>
          <p:nvPr/>
        </p:nvSpPr>
        <p:spPr>
          <a:xfrm>
            <a:off x="4215384" y="3749040"/>
            <a:ext cx="36576" cy="320040"/>
          </a:xfrm>
          <a:prstGeom prst="rect">
            <a:avLst/>
          </a:prstGeom>
          <a:solidFill>
            <a:srgbClr val="00D9A3"/>
          </a:solidFill>
          <a:ln w="12700">
            <a:solidFill>
              <a:srgbClr val="00D9A3"/>
            </a:solidFill>
            <a:prstDash val="solid"/>
          </a:ln>
        </p:spPr>
        <p:txBody>
          <a:bodyPr/>
          <a:lstStyle/>
          <a:p>
            <a:endParaRPr lang="en-US"/>
          </a:p>
        </p:txBody>
      </p:sp>
      <p:sp>
        <p:nvSpPr>
          <p:cNvPr id="11" name="Shape 9"/>
          <p:cNvSpPr/>
          <p:nvPr/>
        </p:nvSpPr>
        <p:spPr>
          <a:xfrm>
            <a:off x="4361688" y="3749040"/>
            <a:ext cx="36576" cy="320040"/>
          </a:xfrm>
          <a:prstGeom prst="rect">
            <a:avLst/>
          </a:prstGeom>
          <a:solidFill>
            <a:srgbClr val="00D9A3"/>
          </a:solidFill>
          <a:ln w="12700">
            <a:solidFill>
              <a:srgbClr val="00D9A3"/>
            </a:solidFill>
            <a:prstDash val="solid"/>
          </a:ln>
        </p:spPr>
        <p:txBody>
          <a:bodyPr/>
          <a:lstStyle/>
          <a:p>
            <a:endParaRPr lang="en-US"/>
          </a:p>
        </p:txBody>
      </p:sp>
      <p:sp>
        <p:nvSpPr>
          <p:cNvPr id="12" name="Shape 10"/>
          <p:cNvSpPr/>
          <p:nvPr/>
        </p:nvSpPr>
        <p:spPr>
          <a:xfrm>
            <a:off x="4544568" y="3749040"/>
            <a:ext cx="146304" cy="320040"/>
          </a:xfrm>
          <a:prstGeom prst="rect">
            <a:avLst/>
          </a:prstGeom>
          <a:solidFill>
            <a:srgbClr val="00D9A3"/>
          </a:solidFill>
          <a:ln w="12700">
            <a:solidFill>
              <a:srgbClr val="00D9A3"/>
            </a:solidFill>
            <a:prstDash val="solid"/>
          </a:ln>
        </p:spPr>
        <p:txBody>
          <a:bodyPr/>
          <a:lstStyle/>
          <a:p>
            <a:endParaRPr lang="en-US"/>
          </a:p>
        </p:txBody>
      </p:sp>
      <p:sp>
        <p:nvSpPr>
          <p:cNvPr id="13" name="Shape 11"/>
          <p:cNvSpPr/>
          <p:nvPr/>
        </p:nvSpPr>
        <p:spPr>
          <a:xfrm>
            <a:off x="4800600" y="3749040"/>
            <a:ext cx="73152" cy="320040"/>
          </a:xfrm>
          <a:prstGeom prst="rect">
            <a:avLst/>
          </a:prstGeom>
          <a:solidFill>
            <a:srgbClr val="00D9A3"/>
          </a:solidFill>
          <a:ln w="12700">
            <a:solidFill>
              <a:srgbClr val="00D9A3"/>
            </a:solidFill>
            <a:prstDash val="solid"/>
          </a:ln>
        </p:spPr>
        <p:txBody>
          <a:bodyPr/>
          <a:lstStyle/>
          <a:p>
            <a:endParaRPr lang="en-US"/>
          </a:p>
        </p:txBody>
      </p:sp>
      <p:sp>
        <p:nvSpPr>
          <p:cNvPr id="14" name="Shape 12"/>
          <p:cNvSpPr/>
          <p:nvPr/>
        </p:nvSpPr>
        <p:spPr>
          <a:xfrm>
            <a:off x="4983480" y="3749040"/>
            <a:ext cx="36576" cy="320040"/>
          </a:xfrm>
          <a:prstGeom prst="rect">
            <a:avLst/>
          </a:prstGeom>
          <a:solidFill>
            <a:srgbClr val="00D9A3"/>
          </a:solidFill>
          <a:ln w="12700">
            <a:solidFill>
              <a:srgbClr val="00D9A3"/>
            </a:solidFill>
            <a:prstDash val="solid"/>
          </a:ln>
        </p:spPr>
        <p:txBody>
          <a:bodyPr/>
          <a:lstStyle/>
          <a:p>
            <a:endParaRPr lang="en-US"/>
          </a:p>
        </p:txBody>
      </p:sp>
      <p:sp>
        <p:nvSpPr>
          <p:cNvPr id="15" name="Shape 13"/>
          <p:cNvSpPr/>
          <p:nvPr/>
        </p:nvSpPr>
        <p:spPr>
          <a:xfrm>
            <a:off x="5202936" y="3749040"/>
            <a:ext cx="36576" cy="320040"/>
          </a:xfrm>
          <a:prstGeom prst="rect">
            <a:avLst/>
          </a:prstGeom>
          <a:solidFill>
            <a:srgbClr val="00D9A3"/>
          </a:solidFill>
          <a:ln w="12700">
            <a:solidFill>
              <a:srgbClr val="00D9A3"/>
            </a:solidFill>
            <a:prstDash val="solid"/>
          </a:ln>
        </p:spPr>
        <p:txBody>
          <a:bodyPr/>
          <a:lstStyle/>
          <a:p>
            <a:endParaRPr lang="en-US"/>
          </a:p>
        </p:txBody>
      </p:sp>
      <p:sp>
        <p:nvSpPr>
          <p:cNvPr id="16" name="Shape 14"/>
          <p:cNvSpPr/>
          <p:nvPr/>
        </p:nvSpPr>
        <p:spPr>
          <a:xfrm>
            <a:off x="5385816" y="3749040"/>
            <a:ext cx="36576" cy="320040"/>
          </a:xfrm>
          <a:prstGeom prst="rect">
            <a:avLst/>
          </a:prstGeom>
          <a:solidFill>
            <a:srgbClr val="00D9A3"/>
          </a:solidFill>
          <a:ln w="12700">
            <a:solidFill>
              <a:srgbClr val="00D9A3"/>
            </a:solidFill>
            <a:prstDash val="solid"/>
          </a:ln>
        </p:spPr>
        <p:txBody>
          <a:bodyPr/>
          <a:lstStyle/>
          <a:p>
            <a:endParaRPr lang="en-US"/>
          </a:p>
        </p:txBody>
      </p:sp>
      <p:sp>
        <p:nvSpPr>
          <p:cNvPr id="17" name="Shape 15"/>
          <p:cNvSpPr/>
          <p:nvPr/>
        </p:nvSpPr>
        <p:spPr>
          <a:xfrm>
            <a:off x="5532120" y="3749040"/>
            <a:ext cx="146304" cy="320040"/>
          </a:xfrm>
          <a:prstGeom prst="rect">
            <a:avLst/>
          </a:prstGeom>
          <a:solidFill>
            <a:srgbClr val="00D9A3"/>
          </a:solidFill>
          <a:ln w="12700">
            <a:solidFill>
              <a:srgbClr val="00D9A3"/>
            </a:solidFill>
            <a:prstDash val="solid"/>
          </a:ln>
        </p:spPr>
        <p:txBody>
          <a:bodyPr/>
          <a:lstStyle/>
          <a:p>
            <a:endParaRPr lang="en-US"/>
          </a:p>
        </p:txBody>
      </p:sp>
      <p:sp>
        <p:nvSpPr>
          <p:cNvPr id="18" name="Shape 16"/>
          <p:cNvSpPr/>
          <p:nvPr/>
        </p:nvSpPr>
        <p:spPr>
          <a:xfrm>
            <a:off x="5788152" y="3749040"/>
            <a:ext cx="36576" cy="320040"/>
          </a:xfrm>
          <a:prstGeom prst="rect">
            <a:avLst/>
          </a:prstGeom>
          <a:solidFill>
            <a:srgbClr val="00D9A3"/>
          </a:solidFill>
          <a:ln w="12700">
            <a:solidFill>
              <a:srgbClr val="00D9A3"/>
            </a:solidFill>
            <a:prstDash val="solid"/>
          </a:ln>
        </p:spPr>
        <p:txBody>
          <a:bodyPr/>
          <a:lstStyle/>
          <a:p>
            <a:endParaRPr lang="en-US"/>
          </a:p>
        </p:txBody>
      </p:sp>
      <p:sp>
        <p:nvSpPr>
          <p:cNvPr id="19" name="Shape 17"/>
          <p:cNvSpPr/>
          <p:nvPr/>
        </p:nvSpPr>
        <p:spPr>
          <a:xfrm>
            <a:off x="5971032" y="3749040"/>
            <a:ext cx="36576" cy="320040"/>
          </a:xfrm>
          <a:prstGeom prst="rect">
            <a:avLst/>
          </a:prstGeom>
          <a:solidFill>
            <a:srgbClr val="00D9A3"/>
          </a:solidFill>
          <a:ln w="12700">
            <a:solidFill>
              <a:srgbClr val="00D9A3"/>
            </a:solidFill>
            <a:prstDash val="solid"/>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640080" y="411480"/>
            <a:ext cx="548640" cy="274320"/>
          </a:xfrm>
          <a:prstGeom prst="rect">
            <a:avLst/>
          </a:prstGeom>
          <a:noFill/>
          <a:ln/>
        </p:spPr>
        <p:txBody>
          <a:bodyPr wrap="square" lIns="0" tIns="0" rIns="0" bIns="0" rtlCol="0" anchor="ctr"/>
          <a:lstStyle/>
          <a:p>
            <a:pPr marL="0" indent="0">
              <a:buNone/>
            </a:pPr>
            <a:r>
              <a:rPr lang="en-US" sz="1200" b="1" dirty="0">
                <a:solidFill>
                  <a:srgbClr val="00D9A3"/>
                </a:solidFill>
                <a:latin typeface="Courier New" pitchFamily="34" charset="0"/>
                <a:ea typeface="Courier New" pitchFamily="34" charset="-122"/>
                <a:cs typeface="Courier New" pitchFamily="34" charset="-120"/>
              </a:rPr>
              <a:t>02</a:t>
            </a:r>
            <a:endParaRPr lang="en-US" sz="1200" dirty="0"/>
          </a:p>
        </p:txBody>
      </p:sp>
      <p:sp>
        <p:nvSpPr>
          <p:cNvPr id="3" name="Text 1"/>
          <p:cNvSpPr/>
          <p:nvPr/>
        </p:nvSpPr>
        <p:spPr>
          <a:xfrm>
            <a:off x="1143000" y="411480"/>
            <a:ext cx="7315200" cy="274320"/>
          </a:xfrm>
          <a:prstGeom prst="rect">
            <a:avLst/>
          </a:prstGeom>
          <a:noFill/>
          <a:ln/>
        </p:spPr>
        <p:txBody>
          <a:bodyPr wrap="square" lIns="0" tIns="0" rIns="0" bIns="0" rtlCol="0" anchor="ctr"/>
          <a:lstStyle/>
          <a:p>
            <a:pPr marL="0" indent="0">
              <a:buNone/>
            </a:pPr>
            <a:r>
              <a:rPr lang="en-US" sz="1200" kern="0" spc="100" dirty="0">
                <a:solidFill>
                  <a:srgbClr val="8FA0B8"/>
                </a:solidFill>
                <a:latin typeface="Courier New" pitchFamily="34" charset="0"/>
                <a:ea typeface="Courier New" pitchFamily="34" charset="-122"/>
                <a:cs typeface="Courier New" pitchFamily="34" charset="-120"/>
              </a:rPr>
              <a:t>APP VERWALTEN</a:t>
            </a:r>
            <a:endParaRPr lang="en-US" sz="1200" dirty="0"/>
          </a:p>
        </p:txBody>
      </p:sp>
      <p:sp>
        <p:nvSpPr>
          <p:cNvPr id="4" name="Text 2"/>
          <p:cNvSpPr/>
          <p:nvPr/>
        </p:nvSpPr>
        <p:spPr>
          <a:xfrm>
            <a:off x="640080" y="777240"/>
            <a:ext cx="10881360" cy="685800"/>
          </a:xfrm>
          <a:prstGeom prst="rect">
            <a:avLst/>
          </a:prstGeom>
          <a:noFill/>
          <a:ln/>
        </p:spPr>
        <p:txBody>
          <a:bodyPr wrap="square" lIns="0" tIns="0" rIns="0" bIns="0" rtlCol="0" anchor="ctr"/>
          <a:lstStyle/>
          <a:p>
            <a:pPr marL="0" indent="0">
              <a:buNone/>
            </a:pPr>
            <a:r>
              <a:rPr lang="en-US" sz="3400" b="1" dirty="0">
                <a:solidFill>
                  <a:srgbClr val="E8EDF5"/>
                </a:solidFill>
                <a:latin typeface="Arial" pitchFamily="34" charset="0"/>
                <a:ea typeface="Arial" pitchFamily="34" charset="-122"/>
                <a:cs typeface="Arial" pitchFamily="34" charset="-120"/>
              </a:rPr>
              <a:t>Funktionsüberblick</a:t>
            </a:r>
            <a:endParaRPr lang="en-US" sz="3400" dirty="0"/>
          </a:p>
        </p:txBody>
      </p:sp>
      <p:grpSp>
        <p:nvGrpSpPr>
          <p:cNvPr id="25" name="Gruppieren 24">
            <a:extLst>
              <a:ext uri="{FF2B5EF4-FFF2-40B4-BE49-F238E27FC236}">
                <a16:creationId xmlns:a16="http://schemas.microsoft.com/office/drawing/2014/main" id="{42D51094-8BC5-ED1F-D8E5-2B3C5EFBA7FE}"/>
              </a:ext>
            </a:extLst>
          </p:cNvPr>
          <p:cNvGrpSpPr/>
          <p:nvPr/>
        </p:nvGrpSpPr>
        <p:grpSpPr>
          <a:xfrm>
            <a:off x="640080" y="2103120"/>
            <a:ext cx="10908792" cy="566928"/>
            <a:chOff x="640080" y="2103120"/>
            <a:chExt cx="10908792" cy="566928"/>
          </a:xfrm>
        </p:grpSpPr>
        <p:sp>
          <p:nvSpPr>
            <p:cNvPr id="6" name="Shape 4"/>
            <p:cNvSpPr/>
            <p:nvPr/>
          </p:nvSpPr>
          <p:spPr>
            <a:xfrm>
              <a:off x="640080" y="2103120"/>
              <a:ext cx="10908792" cy="566928"/>
            </a:xfrm>
            <a:prstGeom prst="roundRect">
              <a:avLst>
                <a:gd name="adj" fmla="val 8065"/>
              </a:avLst>
            </a:prstGeom>
            <a:solidFill>
              <a:srgbClr val="151E2E"/>
            </a:solidFill>
            <a:ln w="12700">
              <a:solidFill>
                <a:srgbClr val="24314A"/>
              </a:solidFill>
              <a:prstDash val="solid"/>
            </a:ln>
          </p:spPr>
          <p:txBody>
            <a:bodyPr/>
            <a:lstStyle/>
            <a:p>
              <a:endParaRPr lang="en-US"/>
            </a:p>
          </p:txBody>
        </p:sp>
        <p:sp>
          <p:nvSpPr>
            <p:cNvPr id="7" name="Shape 5"/>
            <p:cNvSpPr/>
            <p:nvPr/>
          </p:nvSpPr>
          <p:spPr>
            <a:xfrm>
              <a:off x="914400" y="2231136"/>
              <a:ext cx="310896" cy="310896"/>
            </a:xfrm>
            <a:prstGeom prst="roundRect">
              <a:avLst>
                <a:gd name="adj" fmla="val 73529"/>
              </a:avLst>
            </a:prstGeom>
            <a:solidFill>
              <a:srgbClr val="0B1220"/>
            </a:solidFill>
            <a:ln w="12700">
              <a:solidFill>
                <a:srgbClr val="24314A"/>
              </a:solidFill>
              <a:prstDash val="solid"/>
            </a:ln>
          </p:spPr>
          <p:txBody>
            <a:bodyPr/>
            <a:lstStyle/>
            <a:p>
              <a:endParaRPr lang="en-US"/>
            </a:p>
          </p:txBody>
        </p:sp>
        <p:sp>
          <p:nvSpPr>
            <p:cNvPr id="8" name="Text 6"/>
            <p:cNvSpPr/>
            <p:nvPr/>
          </p:nvSpPr>
          <p:spPr>
            <a:xfrm>
              <a:off x="1481328" y="2103120"/>
              <a:ext cx="3657600" cy="566928"/>
            </a:xfrm>
            <a:prstGeom prst="rect">
              <a:avLst/>
            </a:prstGeom>
            <a:noFill/>
            <a:ln/>
          </p:spPr>
          <p:txBody>
            <a:bodyPr wrap="square" lIns="0" tIns="0" rIns="0" bIns="0" rtlCol="0" anchor="ctr"/>
            <a:lstStyle/>
            <a:p>
              <a:pPr marL="0" indent="0">
                <a:buNone/>
              </a:pPr>
              <a:r>
                <a:rPr lang="en-US" sz="1500" b="1" dirty="0">
                  <a:solidFill>
                    <a:srgbClr val="E8EDF5"/>
                  </a:solidFill>
                  <a:latin typeface="Arial" pitchFamily="34" charset="0"/>
                  <a:ea typeface="Arial" pitchFamily="34" charset="-122"/>
                  <a:cs typeface="Arial" pitchFamily="34" charset="-120"/>
                </a:rPr>
                <a:t>Berechtigungen</a:t>
              </a:r>
              <a:endParaRPr lang="en-US" sz="1500" dirty="0"/>
            </a:p>
          </p:txBody>
        </p:sp>
        <p:sp>
          <p:nvSpPr>
            <p:cNvPr id="9" name="Text 7"/>
            <p:cNvSpPr/>
            <p:nvPr/>
          </p:nvSpPr>
          <p:spPr>
            <a:xfrm>
              <a:off x="5394960" y="2103120"/>
              <a:ext cx="4754880" cy="566928"/>
            </a:xfrm>
            <a:prstGeom prst="rect">
              <a:avLst/>
            </a:prstGeom>
            <a:noFill/>
            <a:ln/>
          </p:spPr>
          <p:txBody>
            <a:bodyPr wrap="square" lIns="0" tIns="0" rIns="0" bIns="0" rtlCol="0" anchor="ctr"/>
            <a:lstStyle/>
            <a:p>
              <a:pPr marL="0" indent="0">
                <a:buNone/>
              </a:pPr>
              <a:r>
                <a:rPr lang="en-US" sz="1300" dirty="0">
                  <a:solidFill>
                    <a:srgbClr val="8FA0B8"/>
                  </a:solidFill>
                  <a:latin typeface="Calibri" pitchFamily="34" charset="0"/>
                  <a:ea typeface="Calibri" pitchFamily="34" charset="-122"/>
                  <a:cs typeface="Calibri" pitchFamily="34" charset="-120"/>
                </a:rPr>
                <a:t>Kamera-Zugriff wird zur Laufzeit angefragt</a:t>
              </a:r>
              <a:endParaRPr lang="en-US" sz="1300" dirty="0"/>
            </a:p>
          </p:txBody>
        </p:sp>
        <p:sp>
          <p:nvSpPr>
            <p:cNvPr id="30" name="Text 28"/>
            <p:cNvSpPr/>
            <p:nvPr/>
          </p:nvSpPr>
          <p:spPr>
            <a:xfrm>
              <a:off x="914400" y="2231136"/>
              <a:ext cx="310896" cy="310896"/>
            </a:xfrm>
            <a:prstGeom prst="roundRect">
              <a:avLst>
                <a:gd name="adj" fmla="val 73529"/>
              </a:avLst>
            </a:prstGeom>
            <a:solidFill>
              <a:srgbClr val="00D9A3"/>
            </a:solidFill>
            <a:ln w="12700">
              <a:solidFill>
                <a:srgbClr val="00D9A3"/>
              </a:solidFill>
            </a:ln>
          </p:spPr>
          <p:txBody>
            <a:bodyPr wrap="square" lIns="0" tIns="0" rIns="0" bIns="0" rtlCol="0" anchor="ctr"/>
            <a:lstStyle/>
            <a:p>
              <a:pPr marL="0" indent="0" algn="ctr">
                <a:buNone/>
              </a:pPr>
              <a:r>
                <a:rPr lang="en-US" sz="1400" b="1" dirty="0">
                  <a:solidFill>
                    <a:srgbClr val="0B1220"/>
                  </a:solidFill>
                  <a:latin typeface="Arial" pitchFamily="34" charset="0"/>
                  <a:ea typeface="Arial" pitchFamily="34" charset="-122"/>
                  <a:cs typeface="Arial" pitchFamily="34" charset="-120"/>
                </a:rPr>
                <a:t>✓</a:t>
              </a:r>
              <a:endParaRPr lang="en-US" sz="1400" dirty="0"/>
            </a:p>
          </p:txBody>
        </p:sp>
        <p:sp>
          <p:nvSpPr>
            <p:cNvPr id="31" name="Text 29"/>
            <p:cNvSpPr/>
            <p:nvPr/>
          </p:nvSpPr>
          <p:spPr>
            <a:xfrm>
              <a:off x="10058400" y="2103120"/>
              <a:ext cx="1280160" cy="566928"/>
            </a:xfrm>
            <a:prstGeom prst="rect">
              <a:avLst/>
            </a:prstGeom>
            <a:noFill/>
            <a:ln/>
          </p:spPr>
          <p:txBody>
            <a:bodyPr wrap="square" lIns="0" tIns="0" rIns="0" bIns="0" rtlCol="0" anchor="ctr"/>
            <a:lstStyle/>
            <a:p>
              <a:pPr marL="0" indent="0" algn="r">
                <a:buNone/>
              </a:pPr>
              <a:r>
                <a:rPr lang="en-US" sz="1100" b="1" dirty="0">
                  <a:solidFill>
                    <a:srgbClr val="00D9A3"/>
                  </a:solidFill>
                  <a:latin typeface="Courier New" pitchFamily="34" charset="0"/>
                  <a:ea typeface="Courier New" pitchFamily="34" charset="-122"/>
                  <a:cs typeface="Courier New" pitchFamily="34" charset="-120"/>
                </a:rPr>
                <a:t>gezeigt</a:t>
              </a:r>
              <a:endParaRPr lang="en-US" sz="1100" dirty="0"/>
            </a:p>
          </p:txBody>
        </p:sp>
      </p:grpSp>
      <p:grpSp>
        <p:nvGrpSpPr>
          <p:cNvPr id="24" name="Gruppieren 23">
            <a:extLst>
              <a:ext uri="{FF2B5EF4-FFF2-40B4-BE49-F238E27FC236}">
                <a16:creationId xmlns:a16="http://schemas.microsoft.com/office/drawing/2014/main" id="{9185BE1C-0C9D-3BF2-DFF1-5B3CB511503E}"/>
              </a:ext>
            </a:extLst>
          </p:cNvPr>
          <p:cNvGrpSpPr/>
          <p:nvPr/>
        </p:nvGrpSpPr>
        <p:grpSpPr>
          <a:xfrm>
            <a:off x="640080" y="2942776"/>
            <a:ext cx="10908792" cy="566928"/>
            <a:chOff x="640080" y="2788920"/>
            <a:chExt cx="10908792" cy="566928"/>
          </a:xfrm>
        </p:grpSpPr>
        <p:sp>
          <p:nvSpPr>
            <p:cNvPr id="10" name="Shape 8"/>
            <p:cNvSpPr/>
            <p:nvPr/>
          </p:nvSpPr>
          <p:spPr>
            <a:xfrm>
              <a:off x="640080" y="2788920"/>
              <a:ext cx="10908792" cy="566928"/>
            </a:xfrm>
            <a:prstGeom prst="roundRect">
              <a:avLst>
                <a:gd name="adj" fmla="val 8065"/>
              </a:avLst>
            </a:prstGeom>
            <a:solidFill>
              <a:srgbClr val="1B2638"/>
            </a:solidFill>
            <a:ln w="12700">
              <a:solidFill>
                <a:srgbClr val="24314A"/>
              </a:solidFill>
              <a:prstDash val="solid"/>
            </a:ln>
          </p:spPr>
          <p:txBody>
            <a:bodyPr/>
            <a:lstStyle/>
            <a:p>
              <a:endParaRPr lang="en-US"/>
            </a:p>
          </p:txBody>
        </p:sp>
        <p:sp>
          <p:nvSpPr>
            <p:cNvPr id="11" name="Shape 9"/>
            <p:cNvSpPr/>
            <p:nvPr/>
          </p:nvSpPr>
          <p:spPr>
            <a:xfrm>
              <a:off x="914400" y="2916936"/>
              <a:ext cx="310896" cy="310896"/>
            </a:xfrm>
            <a:prstGeom prst="roundRect">
              <a:avLst>
                <a:gd name="adj" fmla="val 73529"/>
              </a:avLst>
            </a:prstGeom>
            <a:solidFill>
              <a:srgbClr val="0B1220"/>
            </a:solidFill>
            <a:ln w="12700">
              <a:solidFill>
                <a:srgbClr val="24314A"/>
              </a:solidFill>
              <a:prstDash val="solid"/>
            </a:ln>
          </p:spPr>
          <p:txBody>
            <a:bodyPr/>
            <a:lstStyle/>
            <a:p>
              <a:endParaRPr lang="en-US"/>
            </a:p>
          </p:txBody>
        </p:sp>
        <p:sp>
          <p:nvSpPr>
            <p:cNvPr id="12" name="Text 10"/>
            <p:cNvSpPr/>
            <p:nvPr/>
          </p:nvSpPr>
          <p:spPr>
            <a:xfrm>
              <a:off x="1481328" y="2788920"/>
              <a:ext cx="3657600" cy="566928"/>
            </a:xfrm>
            <a:prstGeom prst="rect">
              <a:avLst/>
            </a:prstGeom>
            <a:noFill/>
            <a:ln/>
          </p:spPr>
          <p:txBody>
            <a:bodyPr wrap="square" lIns="0" tIns="0" rIns="0" bIns="0" rtlCol="0" anchor="ctr"/>
            <a:lstStyle/>
            <a:p>
              <a:pPr marL="0" indent="0">
                <a:buNone/>
              </a:pPr>
              <a:r>
                <a:rPr lang="en-US" sz="1500" b="1" dirty="0">
                  <a:solidFill>
                    <a:srgbClr val="E8EDF5"/>
                  </a:solidFill>
                  <a:latin typeface="Arial" pitchFamily="34" charset="0"/>
                  <a:ea typeface="Arial" pitchFamily="34" charset="-122"/>
                  <a:cs typeface="Arial" pitchFamily="34" charset="-120"/>
                </a:rPr>
                <a:t>Barcode scannen</a:t>
              </a:r>
              <a:endParaRPr lang="en-US" sz="1500" dirty="0"/>
            </a:p>
          </p:txBody>
        </p:sp>
        <p:sp>
          <p:nvSpPr>
            <p:cNvPr id="13" name="Text 11"/>
            <p:cNvSpPr/>
            <p:nvPr/>
          </p:nvSpPr>
          <p:spPr>
            <a:xfrm>
              <a:off x="5394960" y="2788920"/>
              <a:ext cx="4754880" cy="566928"/>
            </a:xfrm>
            <a:prstGeom prst="rect">
              <a:avLst/>
            </a:prstGeom>
            <a:noFill/>
            <a:ln/>
          </p:spPr>
          <p:txBody>
            <a:bodyPr wrap="square" lIns="0" tIns="0" rIns="0" bIns="0" rtlCol="0" anchor="ctr"/>
            <a:lstStyle/>
            <a:p>
              <a:pPr marL="0" indent="0">
                <a:buNone/>
              </a:pPr>
              <a:r>
                <a:rPr lang="en-US" sz="1300" dirty="0">
                  <a:solidFill>
                    <a:srgbClr val="8FA0B8"/>
                  </a:solidFill>
                  <a:latin typeface="Calibri" pitchFamily="34" charset="0"/>
                  <a:ea typeface="Calibri" pitchFamily="34" charset="-122"/>
                  <a:cs typeface="Calibri" pitchFamily="34" charset="-120"/>
                </a:rPr>
                <a:t>Erfassung über die Gerätekamera</a:t>
              </a:r>
              <a:endParaRPr lang="en-US" sz="1300" dirty="0"/>
            </a:p>
          </p:txBody>
        </p:sp>
        <p:sp>
          <p:nvSpPr>
            <p:cNvPr id="32" name="Text 30"/>
            <p:cNvSpPr/>
            <p:nvPr/>
          </p:nvSpPr>
          <p:spPr>
            <a:xfrm>
              <a:off x="914400" y="2916936"/>
              <a:ext cx="310896" cy="310896"/>
            </a:xfrm>
            <a:prstGeom prst="roundRect">
              <a:avLst>
                <a:gd name="adj" fmla="val 73529"/>
              </a:avLst>
            </a:prstGeom>
            <a:solidFill>
              <a:srgbClr val="00D9A3"/>
            </a:solidFill>
            <a:ln w="12700">
              <a:solidFill>
                <a:srgbClr val="00D9A3"/>
              </a:solidFill>
            </a:ln>
          </p:spPr>
          <p:txBody>
            <a:bodyPr wrap="square" lIns="0" tIns="0" rIns="0" bIns="0" rtlCol="0" anchor="ctr"/>
            <a:lstStyle/>
            <a:p>
              <a:pPr marL="0" indent="0" algn="ctr">
                <a:buNone/>
              </a:pPr>
              <a:r>
                <a:rPr lang="en-US" sz="1400" b="1" dirty="0">
                  <a:solidFill>
                    <a:srgbClr val="0B1220"/>
                  </a:solidFill>
                  <a:latin typeface="Arial" pitchFamily="34" charset="0"/>
                  <a:ea typeface="Arial" pitchFamily="34" charset="-122"/>
                  <a:cs typeface="Arial" pitchFamily="34" charset="-120"/>
                </a:rPr>
                <a:t>✓</a:t>
              </a:r>
              <a:endParaRPr lang="en-US" sz="1400" dirty="0"/>
            </a:p>
          </p:txBody>
        </p:sp>
        <p:sp>
          <p:nvSpPr>
            <p:cNvPr id="33" name="Text 31"/>
            <p:cNvSpPr/>
            <p:nvPr/>
          </p:nvSpPr>
          <p:spPr>
            <a:xfrm>
              <a:off x="10058400" y="2788920"/>
              <a:ext cx="1280160" cy="566928"/>
            </a:xfrm>
            <a:prstGeom prst="rect">
              <a:avLst/>
            </a:prstGeom>
            <a:noFill/>
            <a:ln/>
          </p:spPr>
          <p:txBody>
            <a:bodyPr wrap="square" lIns="0" tIns="0" rIns="0" bIns="0" rtlCol="0" anchor="ctr"/>
            <a:lstStyle/>
            <a:p>
              <a:pPr marL="0" indent="0" algn="r">
                <a:buNone/>
              </a:pPr>
              <a:r>
                <a:rPr lang="en-US" sz="1100" b="1" dirty="0">
                  <a:solidFill>
                    <a:srgbClr val="00D9A3"/>
                  </a:solidFill>
                  <a:latin typeface="Courier New" pitchFamily="34" charset="0"/>
                  <a:ea typeface="Courier New" pitchFamily="34" charset="-122"/>
                  <a:cs typeface="Courier New" pitchFamily="34" charset="-120"/>
                </a:rPr>
                <a:t>gezeigt</a:t>
              </a:r>
              <a:endParaRPr lang="en-US" sz="1100" dirty="0"/>
            </a:p>
          </p:txBody>
        </p:sp>
      </p:grpSp>
      <p:grpSp>
        <p:nvGrpSpPr>
          <p:cNvPr id="23" name="Gruppieren 22">
            <a:extLst>
              <a:ext uri="{FF2B5EF4-FFF2-40B4-BE49-F238E27FC236}">
                <a16:creationId xmlns:a16="http://schemas.microsoft.com/office/drawing/2014/main" id="{7F52E9D8-5C98-0EFB-22EF-11C44940494F}"/>
              </a:ext>
            </a:extLst>
          </p:cNvPr>
          <p:cNvGrpSpPr/>
          <p:nvPr/>
        </p:nvGrpSpPr>
        <p:grpSpPr>
          <a:xfrm>
            <a:off x="640080" y="3782432"/>
            <a:ext cx="10908792" cy="585216"/>
            <a:chOff x="640080" y="3465576"/>
            <a:chExt cx="10908792" cy="585216"/>
          </a:xfrm>
        </p:grpSpPr>
        <p:sp>
          <p:nvSpPr>
            <p:cNvPr id="18" name="Shape 16"/>
            <p:cNvSpPr/>
            <p:nvPr/>
          </p:nvSpPr>
          <p:spPr>
            <a:xfrm>
              <a:off x="640080" y="3465576"/>
              <a:ext cx="10908792" cy="566928"/>
            </a:xfrm>
            <a:prstGeom prst="roundRect">
              <a:avLst>
                <a:gd name="adj" fmla="val 8065"/>
              </a:avLst>
            </a:prstGeom>
            <a:solidFill>
              <a:srgbClr val="1B2638"/>
            </a:solidFill>
            <a:ln w="12700">
              <a:solidFill>
                <a:srgbClr val="24314A"/>
              </a:solidFill>
              <a:prstDash val="solid"/>
            </a:ln>
          </p:spPr>
          <p:txBody>
            <a:bodyPr/>
            <a:lstStyle/>
            <a:p>
              <a:endParaRPr lang="en-US"/>
            </a:p>
          </p:txBody>
        </p:sp>
        <p:sp>
          <p:nvSpPr>
            <p:cNvPr id="19" name="Shape 17"/>
            <p:cNvSpPr/>
            <p:nvPr/>
          </p:nvSpPr>
          <p:spPr>
            <a:xfrm>
              <a:off x="906688" y="3604003"/>
              <a:ext cx="310896" cy="310896"/>
            </a:xfrm>
            <a:prstGeom prst="roundRect">
              <a:avLst>
                <a:gd name="adj" fmla="val 73529"/>
              </a:avLst>
            </a:prstGeom>
            <a:solidFill>
              <a:srgbClr val="0B1220"/>
            </a:solidFill>
            <a:ln w="12700">
              <a:solidFill>
                <a:srgbClr val="24314A"/>
              </a:solidFill>
              <a:prstDash val="solid"/>
            </a:ln>
          </p:spPr>
          <p:txBody>
            <a:bodyPr/>
            <a:lstStyle/>
            <a:p>
              <a:endParaRPr lang="en-US"/>
            </a:p>
          </p:txBody>
        </p:sp>
        <p:sp>
          <p:nvSpPr>
            <p:cNvPr id="20" name="Text 18"/>
            <p:cNvSpPr/>
            <p:nvPr/>
          </p:nvSpPr>
          <p:spPr>
            <a:xfrm>
              <a:off x="1481328" y="3483864"/>
              <a:ext cx="3657600" cy="566928"/>
            </a:xfrm>
            <a:prstGeom prst="rect">
              <a:avLst/>
            </a:prstGeom>
            <a:noFill/>
            <a:ln/>
          </p:spPr>
          <p:txBody>
            <a:bodyPr wrap="square" lIns="0" tIns="0" rIns="0" bIns="0" rtlCol="0" anchor="ctr"/>
            <a:lstStyle/>
            <a:p>
              <a:pPr marL="0" indent="0">
                <a:buNone/>
              </a:pPr>
              <a:r>
                <a:rPr lang="en-US" sz="1500" b="1" dirty="0">
                  <a:solidFill>
                    <a:srgbClr val="E8EDF5"/>
                  </a:solidFill>
                  <a:latin typeface="Arial" pitchFamily="34" charset="0"/>
                  <a:ea typeface="Arial" pitchFamily="34" charset="-122"/>
                  <a:cs typeface="Arial" pitchFamily="34" charset="-120"/>
                </a:rPr>
                <a:t>Listenansicht</a:t>
              </a:r>
              <a:endParaRPr lang="en-US" sz="1500" dirty="0"/>
            </a:p>
          </p:txBody>
        </p:sp>
        <p:sp>
          <p:nvSpPr>
            <p:cNvPr id="21" name="Text 19"/>
            <p:cNvSpPr/>
            <p:nvPr/>
          </p:nvSpPr>
          <p:spPr>
            <a:xfrm>
              <a:off x="5394960" y="3480008"/>
              <a:ext cx="4754880" cy="566928"/>
            </a:xfrm>
            <a:prstGeom prst="rect">
              <a:avLst/>
            </a:prstGeom>
            <a:noFill/>
            <a:ln/>
          </p:spPr>
          <p:txBody>
            <a:bodyPr wrap="square" lIns="0" tIns="0" rIns="0" bIns="0" rtlCol="0" anchor="ctr"/>
            <a:lstStyle/>
            <a:p>
              <a:pPr marL="0" indent="0">
                <a:buNone/>
              </a:pPr>
              <a:r>
                <a:rPr lang="en-US" sz="1300" dirty="0">
                  <a:solidFill>
                    <a:srgbClr val="8FA0B8"/>
                  </a:solidFill>
                  <a:latin typeface="Calibri" pitchFamily="34" charset="0"/>
                  <a:ea typeface="Calibri" pitchFamily="34" charset="-122"/>
                  <a:cs typeface="Calibri" pitchFamily="34" charset="-120"/>
                </a:rPr>
                <a:t>Teilen · Kopieren · Löschen je Eintrag</a:t>
              </a:r>
              <a:endParaRPr lang="en-US" sz="1300" dirty="0"/>
            </a:p>
          </p:txBody>
        </p:sp>
        <p:sp>
          <p:nvSpPr>
            <p:cNvPr id="35" name="Text 33"/>
            <p:cNvSpPr/>
            <p:nvPr/>
          </p:nvSpPr>
          <p:spPr>
            <a:xfrm>
              <a:off x="10058400" y="3474720"/>
              <a:ext cx="1280160" cy="566928"/>
            </a:xfrm>
            <a:prstGeom prst="rect">
              <a:avLst/>
            </a:prstGeom>
            <a:noFill/>
            <a:ln/>
          </p:spPr>
          <p:txBody>
            <a:bodyPr wrap="square" lIns="0" tIns="0" rIns="0" bIns="0" rtlCol="0" anchor="ctr"/>
            <a:lstStyle/>
            <a:p>
              <a:pPr marL="0" indent="0" algn="r">
                <a:buNone/>
              </a:pPr>
              <a:r>
                <a:rPr lang="en-US" sz="1100" b="1" dirty="0">
                  <a:solidFill>
                    <a:srgbClr val="00D9A3"/>
                  </a:solidFill>
                  <a:latin typeface="Courier New" pitchFamily="34" charset="0"/>
                  <a:ea typeface="Courier New" pitchFamily="34" charset="-122"/>
                  <a:cs typeface="Courier New" pitchFamily="34" charset="-120"/>
                </a:rPr>
                <a:t>gezeigt</a:t>
              </a:r>
              <a:endParaRPr lang="en-US" sz="1100" dirty="0"/>
            </a:p>
          </p:txBody>
        </p:sp>
        <p:sp>
          <p:nvSpPr>
            <p:cNvPr id="36" name="Text 34"/>
            <p:cNvSpPr/>
            <p:nvPr/>
          </p:nvSpPr>
          <p:spPr>
            <a:xfrm>
              <a:off x="905256" y="3602736"/>
              <a:ext cx="310896" cy="310896"/>
            </a:xfrm>
            <a:prstGeom prst="roundRect">
              <a:avLst>
                <a:gd name="adj" fmla="val 73529"/>
              </a:avLst>
            </a:prstGeom>
            <a:solidFill>
              <a:srgbClr val="00D9A3"/>
            </a:solidFill>
            <a:ln w="12700">
              <a:solidFill>
                <a:srgbClr val="00D9A3"/>
              </a:solidFill>
            </a:ln>
          </p:spPr>
          <p:txBody>
            <a:bodyPr wrap="square" lIns="0" tIns="0" rIns="0" bIns="0" rtlCol="0" anchor="ctr"/>
            <a:lstStyle/>
            <a:p>
              <a:pPr marL="0" indent="0" algn="ctr">
                <a:buNone/>
              </a:pPr>
              <a:r>
                <a:rPr lang="en-US" sz="1400" b="1" dirty="0">
                  <a:solidFill>
                    <a:srgbClr val="0B1220"/>
                  </a:solidFill>
                  <a:latin typeface="Arial" pitchFamily="34" charset="0"/>
                  <a:ea typeface="Arial" pitchFamily="34" charset="-122"/>
                  <a:cs typeface="Arial" pitchFamily="34" charset="-120"/>
                </a:rPr>
                <a:t>✓</a:t>
              </a:r>
              <a:endParaRPr lang="en-US" sz="1400" dirty="0"/>
            </a:p>
          </p:txBody>
        </p:sp>
      </p:grpSp>
      <p:grpSp>
        <p:nvGrpSpPr>
          <p:cNvPr id="22" name="Gruppieren 21">
            <a:extLst>
              <a:ext uri="{FF2B5EF4-FFF2-40B4-BE49-F238E27FC236}">
                <a16:creationId xmlns:a16="http://schemas.microsoft.com/office/drawing/2014/main" id="{C3FCF9E7-3227-D53B-6AC0-6DBB8803B314}"/>
              </a:ext>
            </a:extLst>
          </p:cNvPr>
          <p:cNvGrpSpPr/>
          <p:nvPr/>
        </p:nvGrpSpPr>
        <p:grpSpPr>
          <a:xfrm>
            <a:off x="640080" y="4639979"/>
            <a:ext cx="10908792" cy="603504"/>
            <a:chOff x="640080" y="4142232"/>
            <a:chExt cx="10908792" cy="603504"/>
          </a:xfrm>
        </p:grpSpPr>
        <p:sp>
          <p:nvSpPr>
            <p:cNvPr id="14" name="Shape 12"/>
            <p:cNvSpPr/>
            <p:nvPr/>
          </p:nvSpPr>
          <p:spPr>
            <a:xfrm>
              <a:off x="640080" y="4142232"/>
              <a:ext cx="10908792" cy="566928"/>
            </a:xfrm>
            <a:prstGeom prst="roundRect">
              <a:avLst>
                <a:gd name="adj" fmla="val 8065"/>
              </a:avLst>
            </a:prstGeom>
            <a:solidFill>
              <a:srgbClr val="151E2E"/>
            </a:solidFill>
            <a:ln w="12700">
              <a:solidFill>
                <a:srgbClr val="24314A"/>
              </a:solidFill>
              <a:prstDash val="solid"/>
            </a:ln>
          </p:spPr>
          <p:txBody>
            <a:bodyPr/>
            <a:lstStyle/>
            <a:p>
              <a:endParaRPr lang="en-US"/>
            </a:p>
          </p:txBody>
        </p:sp>
        <p:sp>
          <p:nvSpPr>
            <p:cNvPr id="15" name="Shape 13"/>
            <p:cNvSpPr/>
            <p:nvPr/>
          </p:nvSpPr>
          <p:spPr>
            <a:xfrm>
              <a:off x="914400" y="4284564"/>
              <a:ext cx="310896" cy="310896"/>
            </a:xfrm>
            <a:prstGeom prst="roundRect">
              <a:avLst>
                <a:gd name="adj" fmla="val 73529"/>
              </a:avLst>
            </a:prstGeom>
            <a:solidFill>
              <a:srgbClr val="0B1220"/>
            </a:solidFill>
            <a:ln w="12700">
              <a:solidFill>
                <a:srgbClr val="24314A"/>
              </a:solidFill>
              <a:prstDash val="solid"/>
            </a:ln>
          </p:spPr>
          <p:txBody>
            <a:bodyPr/>
            <a:lstStyle/>
            <a:p>
              <a:endParaRPr lang="en-US"/>
            </a:p>
          </p:txBody>
        </p:sp>
        <p:sp>
          <p:nvSpPr>
            <p:cNvPr id="16" name="Text 14"/>
            <p:cNvSpPr/>
            <p:nvPr/>
          </p:nvSpPr>
          <p:spPr>
            <a:xfrm>
              <a:off x="1481328" y="4142232"/>
              <a:ext cx="3657600" cy="566928"/>
            </a:xfrm>
            <a:prstGeom prst="rect">
              <a:avLst/>
            </a:prstGeom>
            <a:noFill/>
            <a:ln/>
          </p:spPr>
          <p:txBody>
            <a:bodyPr wrap="square" lIns="0" tIns="0" rIns="0" bIns="0" rtlCol="0" anchor="ctr"/>
            <a:lstStyle/>
            <a:p>
              <a:pPr marL="0" indent="0">
                <a:buNone/>
              </a:pPr>
              <a:r>
                <a:rPr lang="en-US" sz="1500" b="1" dirty="0">
                  <a:solidFill>
                    <a:srgbClr val="E8EDF5"/>
                  </a:solidFill>
                  <a:latin typeface="Arial" pitchFamily="34" charset="0"/>
                  <a:ea typeface="Arial" pitchFamily="34" charset="-122"/>
                  <a:cs typeface="Arial" pitchFamily="34" charset="-120"/>
                </a:rPr>
                <a:t>Detailansicht</a:t>
              </a:r>
              <a:endParaRPr lang="en-US" sz="1500" dirty="0"/>
            </a:p>
          </p:txBody>
        </p:sp>
        <p:sp>
          <p:nvSpPr>
            <p:cNvPr id="17" name="Text 15"/>
            <p:cNvSpPr/>
            <p:nvPr/>
          </p:nvSpPr>
          <p:spPr>
            <a:xfrm>
              <a:off x="5394960" y="4178808"/>
              <a:ext cx="4754880" cy="566928"/>
            </a:xfrm>
            <a:prstGeom prst="rect">
              <a:avLst/>
            </a:prstGeom>
            <a:noFill/>
            <a:ln/>
          </p:spPr>
          <p:txBody>
            <a:bodyPr wrap="square" lIns="0" tIns="0" rIns="0" bIns="0" rtlCol="0" anchor="ctr"/>
            <a:lstStyle/>
            <a:p>
              <a:pPr marL="0" indent="0">
                <a:buNone/>
              </a:pPr>
              <a:r>
                <a:rPr lang="en-US" sz="1300" dirty="0">
                  <a:solidFill>
                    <a:srgbClr val="8FA0B8"/>
                  </a:solidFill>
                  <a:latin typeface="Calibri" pitchFamily="34" charset="0"/>
                  <a:ea typeface="Calibri" pitchFamily="34" charset="-122"/>
                  <a:cs typeface="Calibri" pitchFamily="34" charset="-120"/>
                </a:rPr>
                <a:t>Gescannter Barcode mit allen Metadaten</a:t>
              </a:r>
              <a:endParaRPr lang="en-US" sz="1300" dirty="0"/>
            </a:p>
          </p:txBody>
        </p:sp>
        <p:sp>
          <p:nvSpPr>
            <p:cNvPr id="34" name="Text 32"/>
            <p:cNvSpPr/>
            <p:nvPr/>
          </p:nvSpPr>
          <p:spPr>
            <a:xfrm>
              <a:off x="914400" y="4288536"/>
              <a:ext cx="310896" cy="310896"/>
            </a:xfrm>
            <a:prstGeom prst="roundRect">
              <a:avLst>
                <a:gd name="adj" fmla="val 73529"/>
              </a:avLst>
            </a:prstGeom>
            <a:solidFill>
              <a:srgbClr val="00D9A3"/>
            </a:solidFill>
            <a:ln w="12700">
              <a:solidFill>
                <a:srgbClr val="00D9A3"/>
              </a:solidFill>
            </a:ln>
          </p:spPr>
          <p:txBody>
            <a:bodyPr wrap="square" lIns="0" tIns="0" rIns="0" bIns="0" rtlCol="0" anchor="ctr"/>
            <a:lstStyle/>
            <a:p>
              <a:pPr marL="0" indent="0" algn="ctr">
                <a:buNone/>
              </a:pPr>
              <a:r>
                <a:rPr lang="en-US" sz="1400" b="1" dirty="0">
                  <a:solidFill>
                    <a:srgbClr val="0B1220"/>
                  </a:solidFill>
                  <a:latin typeface="Arial" pitchFamily="34" charset="0"/>
                  <a:ea typeface="Arial" pitchFamily="34" charset="-122"/>
                  <a:cs typeface="Arial" pitchFamily="34" charset="-120"/>
                </a:rPr>
                <a:t>✓</a:t>
              </a:r>
              <a:endParaRPr lang="en-US" sz="1400" dirty="0"/>
            </a:p>
          </p:txBody>
        </p:sp>
        <p:sp>
          <p:nvSpPr>
            <p:cNvPr id="37" name="Text 35"/>
            <p:cNvSpPr/>
            <p:nvPr/>
          </p:nvSpPr>
          <p:spPr>
            <a:xfrm>
              <a:off x="10058400" y="4160520"/>
              <a:ext cx="1280160" cy="566928"/>
            </a:xfrm>
            <a:prstGeom prst="rect">
              <a:avLst/>
            </a:prstGeom>
            <a:noFill/>
            <a:ln/>
          </p:spPr>
          <p:txBody>
            <a:bodyPr wrap="square" lIns="0" tIns="0" rIns="0" bIns="0" rtlCol="0" anchor="ctr"/>
            <a:lstStyle/>
            <a:p>
              <a:pPr marL="0" indent="0" algn="r">
                <a:buNone/>
              </a:pPr>
              <a:r>
                <a:rPr lang="en-US" sz="1100" b="1" dirty="0">
                  <a:solidFill>
                    <a:srgbClr val="00D9A3"/>
                  </a:solidFill>
                  <a:latin typeface="Courier New" pitchFamily="34" charset="0"/>
                  <a:ea typeface="Courier New" pitchFamily="34" charset="-122"/>
                  <a:cs typeface="Courier New" pitchFamily="34" charset="-120"/>
                </a:rPr>
                <a:t>gezeigt</a:t>
              </a:r>
              <a:endParaRPr lang="en-US" sz="1100" dirty="0"/>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640080" y="411480"/>
            <a:ext cx="548640" cy="274320"/>
          </a:xfrm>
          <a:prstGeom prst="rect">
            <a:avLst/>
          </a:prstGeom>
          <a:noFill/>
          <a:ln/>
        </p:spPr>
        <p:txBody>
          <a:bodyPr wrap="square" lIns="0" tIns="0" rIns="0" bIns="0" rtlCol="0" anchor="ctr"/>
          <a:lstStyle/>
          <a:p>
            <a:pPr marL="0" indent="0">
              <a:buNone/>
            </a:pPr>
            <a:r>
              <a:rPr lang="en-US" sz="1200" b="1" dirty="0">
                <a:solidFill>
                  <a:srgbClr val="00D9A3"/>
                </a:solidFill>
                <a:latin typeface="Courier New" pitchFamily="34" charset="0"/>
                <a:ea typeface="Courier New" pitchFamily="34" charset="-122"/>
                <a:cs typeface="Courier New" pitchFamily="34" charset="-120"/>
              </a:rPr>
              <a:t>02</a:t>
            </a:r>
            <a:endParaRPr lang="en-US" sz="1200" dirty="0"/>
          </a:p>
        </p:txBody>
      </p:sp>
      <p:sp>
        <p:nvSpPr>
          <p:cNvPr id="3" name="Text 1"/>
          <p:cNvSpPr/>
          <p:nvPr/>
        </p:nvSpPr>
        <p:spPr>
          <a:xfrm>
            <a:off x="1143000" y="411480"/>
            <a:ext cx="7315200" cy="274320"/>
          </a:xfrm>
          <a:prstGeom prst="rect">
            <a:avLst/>
          </a:prstGeom>
          <a:noFill/>
          <a:ln/>
        </p:spPr>
        <p:txBody>
          <a:bodyPr wrap="square" lIns="0" tIns="0" rIns="0" bIns="0" rtlCol="0" anchor="ctr"/>
          <a:lstStyle/>
          <a:p>
            <a:pPr marL="0" indent="0">
              <a:buNone/>
            </a:pPr>
            <a:r>
              <a:rPr lang="en-US" sz="1200" kern="0" spc="100" dirty="0">
                <a:solidFill>
                  <a:srgbClr val="8FA0B8"/>
                </a:solidFill>
                <a:latin typeface="Courier New" pitchFamily="34" charset="0"/>
                <a:ea typeface="Courier New" pitchFamily="34" charset="-122"/>
                <a:cs typeface="Courier New" pitchFamily="34" charset="-120"/>
              </a:rPr>
              <a:t>APP VERWALTEN</a:t>
            </a:r>
            <a:endParaRPr lang="en-US" sz="1200" dirty="0"/>
          </a:p>
        </p:txBody>
      </p:sp>
      <p:sp>
        <p:nvSpPr>
          <p:cNvPr id="4" name="Text 2"/>
          <p:cNvSpPr/>
          <p:nvPr/>
        </p:nvSpPr>
        <p:spPr>
          <a:xfrm>
            <a:off x="640080" y="777240"/>
            <a:ext cx="10881360" cy="685800"/>
          </a:xfrm>
          <a:prstGeom prst="rect">
            <a:avLst/>
          </a:prstGeom>
          <a:noFill/>
          <a:ln/>
        </p:spPr>
        <p:txBody>
          <a:bodyPr wrap="square" lIns="0" tIns="0" rIns="0" bIns="0" rtlCol="0" anchor="ctr"/>
          <a:lstStyle/>
          <a:p>
            <a:pPr marL="0" indent="0">
              <a:buNone/>
            </a:pPr>
            <a:r>
              <a:rPr lang="en-US" sz="3400" b="1" dirty="0" err="1">
                <a:solidFill>
                  <a:srgbClr val="E8EDF5"/>
                </a:solidFill>
                <a:latin typeface="Arial" pitchFamily="34" charset="0"/>
                <a:ea typeface="Arial" pitchFamily="34" charset="-122"/>
                <a:cs typeface="Arial" pitchFamily="34" charset="-120"/>
              </a:rPr>
              <a:t>Unterstützte</a:t>
            </a:r>
            <a:r>
              <a:rPr lang="en-US" sz="3400" b="1" dirty="0">
                <a:solidFill>
                  <a:srgbClr val="E8EDF5"/>
                </a:solidFill>
                <a:latin typeface="Arial" pitchFamily="34" charset="0"/>
                <a:ea typeface="Arial" pitchFamily="34" charset="-122"/>
                <a:cs typeface="Arial" pitchFamily="34" charset="-120"/>
              </a:rPr>
              <a:t> Barcode-Typen</a:t>
            </a:r>
            <a:endParaRPr lang="en-US" sz="3400" dirty="0"/>
          </a:p>
        </p:txBody>
      </p:sp>
      <p:sp>
        <p:nvSpPr>
          <p:cNvPr id="6" name="Shape 4"/>
          <p:cNvSpPr/>
          <p:nvPr/>
        </p:nvSpPr>
        <p:spPr>
          <a:xfrm>
            <a:off x="640080" y="2286000"/>
            <a:ext cx="2578608" cy="3017520"/>
          </a:xfrm>
          <a:prstGeom prst="roundRect">
            <a:avLst>
              <a:gd name="adj" fmla="val 2128"/>
            </a:avLst>
          </a:prstGeom>
          <a:solidFill>
            <a:srgbClr val="151E2E"/>
          </a:solidFill>
          <a:ln w="12700">
            <a:solidFill>
              <a:srgbClr val="24314A"/>
            </a:solidFill>
            <a:prstDash val="solid"/>
          </a:ln>
        </p:spPr>
        <p:txBody>
          <a:bodyPr/>
          <a:lstStyle/>
          <a:p>
            <a:endParaRPr lang="en-US"/>
          </a:p>
        </p:txBody>
      </p:sp>
      <p:sp>
        <p:nvSpPr>
          <p:cNvPr id="7" name="Shape 5"/>
          <p:cNvSpPr/>
          <p:nvPr/>
        </p:nvSpPr>
        <p:spPr>
          <a:xfrm>
            <a:off x="914400" y="2606040"/>
            <a:ext cx="1234440" cy="384048"/>
          </a:xfrm>
          <a:prstGeom prst="roundRect">
            <a:avLst>
              <a:gd name="adj" fmla="val 14286"/>
            </a:avLst>
          </a:prstGeom>
          <a:solidFill>
            <a:srgbClr val="1B2638"/>
          </a:solidFill>
          <a:ln w="12700">
            <a:solidFill>
              <a:srgbClr val="00D9A3"/>
            </a:solidFill>
            <a:prstDash val="solid"/>
          </a:ln>
        </p:spPr>
        <p:txBody>
          <a:bodyPr/>
          <a:lstStyle/>
          <a:p>
            <a:endParaRPr lang="en-US"/>
          </a:p>
        </p:txBody>
      </p:sp>
      <p:sp>
        <p:nvSpPr>
          <p:cNvPr id="8" name="Text 6"/>
          <p:cNvSpPr/>
          <p:nvPr/>
        </p:nvSpPr>
        <p:spPr>
          <a:xfrm>
            <a:off x="914400" y="2606040"/>
            <a:ext cx="1234440" cy="384048"/>
          </a:xfrm>
          <a:prstGeom prst="rect">
            <a:avLst/>
          </a:prstGeom>
          <a:noFill/>
          <a:ln/>
        </p:spPr>
        <p:txBody>
          <a:bodyPr wrap="square" lIns="0" tIns="0" rIns="0" bIns="0" rtlCol="0" anchor="ctr"/>
          <a:lstStyle/>
          <a:p>
            <a:pPr marL="0" indent="0" algn="ctr">
              <a:buNone/>
            </a:pPr>
            <a:r>
              <a:rPr lang="en-US" sz="1300" b="1" dirty="0">
                <a:solidFill>
                  <a:srgbClr val="00D9A3"/>
                </a:solidFill>
                <a:latin typeface="Courier New" pitchFamily="34" charset="0"/>
                <a:ea typeface="Courier New" pitchFamily="34" charset="-122"/>
                <a:cs typeface="Courier New" pitchFamily="34" charset="-120"/>
              </a:rPr>
              <a:t>URL</a:t>
            </a:r>
            <a:endParaRPr lang="en-US" sz="1300" dirty="0"/>
          </a:p>
        </p:txBody>
      </p:sp>
      <p:sp>
        <p:nvSpPr>
          <p:cNvPr id="9" name="Shape 7"/>
          <p:cNvSpPr/>
          <p:nvPr/>
        </p:nvSpPr>
        <p:spPr>
          <a:xfrm>
            <a:off x="2523744" y="2606040"/>
            <a:ext cx="310896" cy="310896"/>
          </a:xfrm>
          <a:prstGeom prst="roundRect">
            <a:avLst>
              <a:gd name="adj" fmla="val 73529"/>
            </a:avLst>
          </a:prstGeom>
          <a:solidFill>
            <a:srgbClr val="0B1220"/>
          </a:solidFill>
          <a:ln w="12700">
            <a:solidFill>
              <a:srgbClr val="24314A"/>
            </a:solidFill>
            <a:prstDash val="solid"/>
          </a:ln>
        </p:spPr>
        <p:txBody>
          <a:bodyPr/>
          <a:lstStyle/>
          <a:p>
            <a:endParaRPr lang="en-US"/>
          </a:p>
        </p:txBody>
      </p:sp>
      <p:sp>
        <p:nvSpPr>
          <p:cNvPr id="10" name="Text 8"/>
          <p:cNvSpPr/>
          <p:nvPr/>
        </p:nvSpPr>
        <p:spPr>
          <a:xfrm>
            <a:off x="914400" y="3200400"/>
            <a:ext cx="2057400" cy="1005840"/>
          </a:xfrm>
          <a:prstGeom prst="rect">
            <a:avLst/>
          </a:prstGeom>
          <a:noFill/>
          <a:ln/>
        </p:spPr>
        <p:txBody>
          <a:bodyPr wrap="square" lIns="0" tIns="0" rIns="0" bIns="0" rtlCol="0" anchor="t"/>
          <a:lstStyle/>
          <a:p>
            <a:pPr marL="0" indent="0">
              <a:lnSpc>
                <a:spcPts val="2000"/>
              </a:lnSpc>
              <a:buNone/>
            </a:pPr>
            <a:r>
              <a:rPr lang="en-US" sz="1400" dirty="0">
                <a:solidFill>
                  <a:srgbClr val="E8EDF5"/>
                </a:solidFill>
                <a:latin typeface="Calibri" pitchFamily="34" charset="0"/>
                <a:ea typeface="Calibri" pitchFamily="34" charset="-122"/>
                <a:cs typeface="Calibri" pitchFamily="34" charset="-120"/>
              </a:rPr>
              <a:t>Link im In-App-Browser öffnen</a:t>
            </a:r>
            <a:endParaRPr lang="en-US" sz="1400" dirty="0"/>
          </a:p>
        </p:txBody>
      </p:sp>
      <p:sp>
        <p:nvSpPr>
          <p:cNvPr id="11" name="Shape 9"/>
          <p:cNvSpPr/>
          <p:nvPr/>
        </p:nvSpPr>
        <p:spPr>
          <a:xfrm>
            <a:off x="914400" y="4370832"/>
            <a:ext cx="96012" cy="411480"/>
          </a:xfrm>
          <a:prstGeom prst="rect">
            <a:avLst/>
          </a:prstGeom>
          <a:solidFill>
            <a:srgbClr val="24314A"/>
          </a:solidFill>
          <a:ln w="12700">
            <a:solidFill>
              <a:srgbClr val="24314A"/>
            </a:solidFill>
            <a:prstDash val="solid"/>
          </a:ln>
        </p:spPr>
        <p:txBody>
          <a:bodyPr/>
          <a:lstStyle/>
          <a:p>
            <a:endParaRPr lang="en-US"/>
          </a:p>
        </p:txBody>
      </p:sp>
      <p:sp>
        <p:nvSpPr>
          <p:cNvPr id="12" name="Shape 10"/>
          <p:cNvSpPr/>
          <p:nvPr/>
        </p:nvSpPr>
        <p:spPr>
          <a:xfrm>
            <a:off x="1106424" y="4370832"/>
            <a:ext cx="32004" cy="411480"/>
          </a:xfrm>
          <a:prstGeom prst="rect">
            <a:avLst/>
          </a:prstGeom>
          <a:solidFill>
            <a:srgbClr val="24314A"/>
          </a:solidFill>
          <a:ln w="12700">
            <a:solidFill>
              <a:srgbClr val="24314A"/>
            </a:solidFill>
            <a:prstDash val="solid"/>
          </a:ln>
        </p:spPr>
        <p:txBody>
          <a:bodyPr/>
          <a:lstStyle/>
          <a:p>
            <a:endParaRPr lang="en-US"/>
          </a:p>
        </p:txBody>
      </p:sp>
      <p:sp>
        <p:nvSpPr>
          <p:cNvPr id="13" name="Shape 11"/>
          <p:cNvSpPr/>
          <p:nvPr/>
        </p:nvSpPr>
        <p:spPr>
          <a:xfrm>
            <a:off x="1266444" y="4370832"/>
            <a:ext cx="32004" cy="411480"/>
          </a:xfrm>
          <a:prstGeom prst="rect">
            <a:avLst/>
          </a:prstGeom>
          <a:solidFill>
            <a:srgbClr val="24314A"/>
          </a:solidFill>
          <a:ln w="12700">
            <a:solidFill>
              <a:srgbClr val="24314A"/>
            </a:solidFill>
            <a:prstDash val="solid"/>
          </a:ln>
        </p:spPr>
        <p:txBody>
          <a:bodyPr/>
          <a:lstStyle/>
          <a:p>
            <a:endParaRPr lang="en-US"/>
          </a:p>
        </p:txBody>
      </p:sp>
      <p:sp>
        <p:nvSpPr>
          <p:cNvPr id="14" name="Shape 12"/>
          <p:cNvSpPr/>
          <p:nvPr/>
        </p:nvSpPr>
        <p:spPr>
          <a:xfrm>
            <a:off x="1490472" y="4370832"/>
            <a:ext cx="32004" cy="411480"/>
          </a:xfrm>
          <a:prstGeom prst="rect">
            <a:avLst/>
          </a:prstGeom>
          <a:solidFill>
            <a:srgbClr val="24314A"/>
          </a:solidFill>
          <a:ln w="12700">
            <a:solidFill>
              <a:srgbClr val="24314A"/>
            </a:solidFill>
            <a:prstDash val="solid"/>
          </a:ln>
        </p:spPr>
        <p:txBody>
          <a:bodyPr/>
          <a:lstStyle/>
          <a:p>
            <a:endParaRPr lang="en-US"/>
          </a:p>
        </p:txBody>
      </p:sp>
      <p:sp>
        <p:nvSpPr>
          <p:cNvPr id="15" name="Shape 13"/>
          <p:cNvSpPr/>
          <p:nvPr/>
        </p:nvSpPr>
        <p:spPr>
          <a:xfrm>
            <a:off x="1618488" y="4370832"/>
            <a:ext cx="64008" cy="411480"/>
          </a:xfrm>
          <a:prstGeom prst="rect">
            <a:avLst/>
          </a:prstGeom>
          <a:solidFill>
            <a:srgbClr val="24314A"/>
          </a:solidFill>
          <a:ln w="12700">
            <a:solidFill>
              <a:srgbClr val="24314A"/>
            </a:solidFill>
            <a:prstDash val="solid"/>
          </a:ln>
        </p:spPr>
        <p:txBody>
          <a:bodyPr/>
          <a:lstStyle/>
          <a:p>
            <a:endParaRPr lang="en-US"/>
          </a:p>
        </p:txBody>
      </p:sp>
      <p:sp>
        <p:nvSpPr>
          <p:cNvPr id="16" name="Shape 14"/>
          <p:cNvSpPr/>
          <p:nvPr/>
        </p:nvSpPr>
        <p:spPr>
          <a:xfrm>
            <a:off x="1842516" y="4370832"/>
            <a:ext cx="32004" cy="411480"/>
          </a:xfrm>
          <a:prstGeom prst="rect">
            <a:avLst/>
          </a:prstGeom>
          <a:solidFill>
            <a:srgbClr val="24314A"/>
          </a:solidFill>
          <a:ln w="12700">
            <a:solidFill>
              <a:srgbClr val="24314A"/>
            </a:solidFill>
            <a:prstDash val="solid"/>
          </a:ln>
        </p:spPr>
        <p:txBody>
          <a:bodyPr/>
          <a:lstStyle/>
          <a:p>
            <a:endParaRPr lang="en-US"/>
          </a:p>
        </p:txBody>
      </p:sp>
      <p:sp>
        <p:nvSpPr>
          <p:cNvPr id="17" name="Shape 15"/>
          <p:cNvSpPr/>
          <p:nvPr/>
        </p:nvSpPr>
        <p:spPr>
          <a:xfrm>
            <a:off x="1970532" y="4370832"/>
            <a:ext cx="32004" cy="411480"/>
          </a:xfrm>
          <a:prstGeom prst="rect">
            <a:avLst/>
          </a:prstGeom>
          <a:solidFill>
            <a:srgbClr val="24314A"/>
          </a:solidFill>
          <a:ln w="12700">
            <a:solidFill>
              <a:srgbClr val="24314A"/>
            </a:solidFill>
            <a:prstDash val="solid"/>
          </a:ln>
        </p:spPr>
        <p:txBody>
          <a:bodyPr/>
          <a:lstStyle/>
          <a:p>
            <a:endParaRPr lang="en-US"/>
          </a:p>
        </p:txBody>
      </p:sp>
      <p:sp>
        <p:nvSpPr>
          <p:cNvPr id="18" name="Shape 16"/>
          <p:cNvSpPr/>
          <p:nvPr/>
        </p:nvSpPr>
        <p:spPr>
          <a:xfrm>
            <a:off x="2130552" y="4370832"/>
            <a:ext cx="128016" cy="411480"/>
          </a:xfrm>
          <a:prstGeom prst="rect">
            <a:avLst/>
          </a:prstGeom>
          <a:solidFill>
            <a:srgbClr val="24314A"/>
          </a:solidFill>
          <a:ln w="12700">
            <a:solidFill>
              <a:srgbClr val="24314A"/>
            </a:solidFill>
            <a:prstDash val="solid"/>
          </a:ln>
        </p:spPr>
        <p:txBody>
          <a:bodyPr/>
          <a:lstStyle/>
          <a:p>
            <a:endParaRPr lang="en-US"/>
          </a:p>
        </p:txBody>
      </p:sp>
      <p:sp>
        <p:nvSpPr>
          <p:cNvPr id="19" name="Shape 17"/>
          <p:cNvSpPr/>
          <p:nvPr/>
        </p:nvSpPr>
        <p:spPr>
          <a:xfrm>
            <a:off x="2354580" y="4370832"/>
            <a:ext cx="64008" cy="411480"/>
          </a:xfrm>
          <a:prstGeom prst="rect">
            <a:avLst/>
          </a:prstGeom>
          <a:solidFill>
            <a:srgbClr val="24314A"/>
          </a:solidFill>
          <a:ln w="12700">
            <a:solidFill>
              <a:srgbClr val="24314A"/>
            </a:solidFill>
            <a:prstDash val="solid"/>
          </a:ln>
        </p:spPr>
        <p:txBody>
          <a:bodyPr/>
          <a:lstStyle/>
          <a:p>
            <a:endParaRPr lang="en-US"/>
          </a:p>
        </p:txBody>
      </p:sp>
      <p:sp>
        <p:nvSpPr>
          <p:cNvPr id="20" name="Shape 18"/>
          <p:cNvSpPr/>
          <p:nvPr/>
        </p:nvSpPr>
        <p:spPr>
          <a:xfrm>
            <a:off x="2514600" y="4370832"/>
            <a:ext cx="32004" cy="411480"/>
          </a:xfrm>
          <a:prstGeom prst="rect">
            <a:avLst/>
          </a:prstGeom>
          <a:solidFill>
            <a:srgbClr val="24314A"/>
          </a:solidFill>
          <a:ln w="12700">
            <a:solidFill>
              <a:srgbClr val="24314A"/>
            </a:solidFill>
            <a:prstDash val="solid"/>
          </a:ln>
        </p:spPr>
        <p:txBody>
          <a:bodyPr/>
          <a:lstStyle/>
          <a:p>
            <a:endParaRPr lang="en-US"/>
          </a:p>
        </p:txBody>
      </p:sp>
      <p:sp>
        <p:nvSpPr>
          <p:cNvPr id="21" name="Shape 19"/>
          <p:cNvSpPr/>
          <p:nvPr/>
        </p:nvSpPr>
        <p:spPr>
          <a:xfrm>
            <a:off x="2706624" y="4370832"/>
            <a:ext cx="32004" cy="411480"/>
          </a:xfrm>
          <a:prstGeom prst="rect">
            <a:avLst/>
          </a:prstGeom>
          <a:solidFill>
            <a:srgbClr val="24314A"/>
          </a:solidFill>
          <a:ln w="12700">
            <a:solidFill>
              <a:srgbClr val="24314A"/>
            </a:solidFill>
            <a:prstDash val="solid"/>
          </a:ln>
        </p:spPr>
        <p:txBody>
          <a:bodyPr/>
          <a:lstStyle/>
          <a:p>
            <a:endParaRPr lang="en-US"/>
          </a:p>
        </p:txBody>
      </p:sp>
      <p:sp>
        <p:nvSpPr>
          <p:cNvPr id="22" name="Shape 20"/>
          <p:cNvSpPr/>
          <p:nvPr/>
        </p:nvSpPr>
        <p:spPr>
          <a:xfrm>
            <a:off x="2866644" y="4370832"/>
            <a:ext cx="32004" cy="411480"/>
          </a:xfrm>
          <a:prstGeom prst="rect">
            <a:avLst/>
          </a:prstGeom>
          <a:solidFill>
            <a:srgbClr val="24314A"/>
          </a:solidFill>
          <a:ln w="12700">
            <a:solidFill>
              <a:srgbClr val="24314A"/>
            </a:solidFill>
            <a:prstDash val="solid"/>
          </a:ln>
        </p:spPr>
        <p:txBody>
          <a:bodyPr/>
          <a:lstStyle/>
          <a:p>
            <a:endParaRPr lang="en-US"/>
          </a:p>
        </p:txBody>
      </p:sp>
      <p:sp>
        <p:nvSpPr>
          <p:cNvPr id="23" name="Shape 21"/>
          <p:cNvSpPr/>
          <p:nvPr/>
        </p:nvSpPr>
        <p:spPr>
          <a:xfrm>
            <a:off x="3447288" y="2286000"/>
            <a:ext cx="2578608" cy="3017520"/>
          </a:xfrm>
          <a:prstGeom prst="roundRect">
            <a:avLst>
              <a:gd name="adj" fmla="val 2128"/>
            </a:avLst>
          </a:prstGeom>
          <a:solidFill>
            <a:srgbClr val="151E2E"/>
          </a:solidFill>
          <a:ln w="12700">
            <a:solidFill>
              <a:srgbClr val="24314A"/>
            </a:solidFill>
            <a:prstDash val="solid"/>
          </a:ln>
        </p:spPr>
        <p:txBody>
          <a:bodyPr/>
          <a:lstStyle/>
          <a:p>
            <a:endParaRPr lang="en-US"/>
          </a:p>
        </p:txBody>
      </p:sp>
      <p:sp>
        <p:nvSpPr>
          <p:cNvPr id="24" name="Shape 22"/>
          <p:cNvSpPr/>
          <p:nvPr/>
        </p:nvSpPr>
        <p:spPr>
          <a:xfrm>
            <a:off x="3721608" y="2606040"/>
            <a:ext cx="1234440" cy="384048"/>
          </a:xfrm>
          <a:prstGeom prst="roundRect">
            <a:avLst>
              <a:gd name="adj" fmla="val 14286"/>
            </a:avLst>
          </a:prstGeom>
          <a:solidFill>
            <a:srgbClr val="1B2638"/>
          </a:solidFill>
          <a:ln w="12700">
            <a:solidFill>
              <a:srgbClr val="00D9A3"/>
            </a:solidFill>
            <a:prstDash val="solid"/>
          </a:ln>
        </p:spPr>
        <p:txBody>
          <a:bodyPr/>
          <a:lstStyle/>
          <a:p>
            <a:endParaRPr lang="en-US"/>
          </a:p>
        </p:txBody>
      </p:sp>
      <p:sp>
        <p:nvSpPr>
          <p:cNvPr id="25" name="Text 23"/>
          <p:cNvSpPr/>
          <p:nvPr/>
        </p:nvSpPr>
        <p:spPr>
          <a:xfrm>
            <a:off x="3721608" y="2606040"/>
            <a:ext cx="1234440" cy="384048"/>
          </a:xfrm>
          <a:prstGeom prst="rect">
            <a:avLst/>
          </a:prstGeom>
          <a:noFill/>
          <a:ln/>
        </p:spPr>
        <p:txBody>
          <a:bodyPr wrap="square" lIns="0" tIns="0" rIns="0" bIns="0" rtlCol="0" anchor="ctr"/>
          <a:lstStyle/>
          <a:p>
            <a:pPr marL="0" indent="0" algn="ctr">
              <a:buNone/>
            </a:pPr>
            <a:r>
              <a:rPr lang="en-US" sz="1300" b="1" dirty="0">
                <a:solidFill>
                  <a:srgbClr val="00D9A3"/>
                </a:solidFill>
                <a:latin typeface="Courier New" pitchFamily="34" charset="0"/>
                <a:ea typeface="Courier New" pitchFamily="34" charset="-122"/>
                <a:cs typeface="Courier New" pitchFamily="34" charset="-120"/>
              </a:rPr>
              <a:t>PHONE</a:t>
            </a:r>
            <a:endParaRPr lang="en-US" sz="1300" dirty="0"/>
          </a:p>
        </p:txBody>
      </p:sp>
      <p:sp>
        <p:nvSpPr>
          <p:cNvPr id="26" name="Shape 24"/>
          <p:cNvSpPr/>
          <p:nvPr/>
        </p:nvSpPr>
        <p:spPr>
          <a:xfrm>
            <a:off x="5330952" y="2606040"/>
            <a:ext cx="310896" cy="310896"/>
          </a:xfrm>
          <a:prstGeom prst="roundRect">
            <a:avLst>
              <a:gd name="adj" fmla="val 73529"/>
            </a:avLst>
          </a:prstGeom>
          <a:solidFill>
            <a:srgbClr val="0B1220"/>
          </a:solidFill>
          <a:ln w="12700">
            <a:solidFill>
              <a:srgbClr val="24314A"/>
            </a:solidFill>
            <a:prstDash val="solid"/>
          </a:ln>
        </p:spPr>
        <p:txBody>
          <a:bodyPr/>
          <a:lstStyle/>
          <a:p>
            <a:endParaRPr lang="en-US"/>
          </a:p>
        </p:txBody>
      </p:sp>
      <p:sp>
        <p:nvSpPr>
          <p:cNvPr id="27" name="Text 25"/>
          <p:cNvSpPr/>
          <p:nvPr/>
        </p:nvSpPr>
        <p:spPr>
          <a:xfrm>
            <a:off x="3721608" y="3200400"/>
            <a:ext cx="2057400" cy="1005840"/>
          </a:xfrm>
          <a:prstGeom prst="rect">
            <a:avLst/>
          </a:prstGeom>
          <a:noFill/>
          <a:ln/>
        </p:spPr>
        <p:txBody>
          <a:bodyPr wrap="square" lIns="0" tIns="0" rIns="0" bIns="0" rtlCol="0" anchor="t"/>
          <a:lstStyle/>
          <a:p>
            <a:pPr marL="0" indent="0">
              <a:lnSpc>
                <a:spcPts val="2000"/>
              </a:lnSpc>
              <a:buNone/>
            </a:pPr>
            <a:r>
              <a:rPr lang="en-US" sz="1400" dirty="0">
                <a:solidFill>
                  <a:srgbClr val="E8EDF5"/>
                </a:solidFill>
                <a:latin typeface="Calibri" pitchFamily="34" charset="0"/>
                <a:ea typeface="Calibri" pitchFamily="34" charset="-122"/>
                <a:cs typeface="Calibri" pitchFamily="34" charset="-120"/>
              </a:rPr>
              <a:t>Nummer anrufen oder Text senden</a:t>
            </a:r>
            <a:endParaRPr lang="en-US" sz="1400" dirty="0"/>
          </a:p>
        </p:txBody>
      </p:sp>
      <p:sp>
        <p:nvSpPr>
          <p:cNvPr id="28" name="Shape 26"/>
          <p:cNvSpPr/>
          <p:nvPr/>
        </p:nvSpPr>
        <p:spPr>
          <a:xfrm>
            <a:off x="3721608" y="4370832"/>
            <a:ext cx="96012" cy="411480"/>
          </a:xfrm>
          <a:prstGeom prst="rect">
            <a:avLst/>
          </a:prstGeom>
          <a:solidFill>
            <a:srgbClr val="24314A"/>
          </a:solidFill>
          <a:ln w="12700">
            <a:solidFill>
              <a:srgbClr val="24314A"/>
            </a:solidFill>
            <a:prstDash val="solid"/>
          </a:ln>
        </p:spPr>
        <p:txBody>
          <a:bodyPr/>
          <a:lstStyle/>
          <a:p>
            <a:endParaRPr lang="en-US"/>
          </a:p>
        </p:txBody>
      </p:sp>
      <p:sp>
        <p:nvSpPr>
          <p:cNvPr id="29" name="Shape 27"/>
          <p:cNvSpPr/>
          <p:nvPr/>
        </p:nvSpPr>
        <p:spPr>
          <a:xfrm>
            <a:off x="3913632" y="4370832"/>
            <a:ext cx="32004" cy="411480"/>
          </a:xfrm>
          <a:prstGeom prst="rect">
            <a:avLst/>
          </a:prstGeom>
          <a:solidFill>
            <a:srgbClr val="24314A"/>
          </a:solidFill>
          <a:ln w="12700">
            <a:solidFill>
              <a:srgbClr val="24314A"/>
            </a:solidFill>
            <a:prstDash val="solid"/>
          </a:ln>
        </p:spPr>
        <p:txBody>
          <a:bodyPr/>
          <a:lstStyle/>
          <a:p>
            <a:endParaRPr lang="en-US"/>
          </a:p>
        </p:txBody>
      </p:sp>
      <p:sp>
        <p:nvSpPr>
          <p:cNvPr id="30" name="Shape 28"/>
          <p:cNvSpPr/>
          <p:nvPr/>
        </p:nvSpPr>
        <p:spPr>
          <a:xfrm>
            <a:off x="4073652" y="4370832"/>
            <a:ext cx="32004" cy="411480"/>
          </a:xfrm>
          <a:prstGeom prst="rect">
            <a:avLst/>
          </a:prstGeom>
          <a:solidFill>
            <a:srgbClr val="24314A"/>
          </a:solidFill>
          <a:ln w="12700">
            <a:solidFill>
              <a:srgbClr val="24314A"/>
            </a:solidFill>
            <a:prstDash val="solid"/>
          </a:ln>
        </p:spPr>
        <p:txBody>
          <a:bodyPr/>
          <a:lstStyle/>
          <a:p>
            <a:endParaRPr lang="en-US"/>
          </a:p>
        </p:txBody>
      </p:sp>
      <p:sp>
        <p:nvSpPr>
          <p:cNvPr id="31" name="Shape 29"/>
          <p:cNvSpPr/>
          <p:nvPr/>
        </p:nvSpPr>
        <p:spPr>
          <a:xfrm>
            <a:off x="4297680" y="4370832"/>
            <a:ext cx="32004" cy="411480"/>
          </a:xfrm>
          <a:prstGeom prst="rect">
            <a:avLst/>
          </a:prstGeom>
          <a:solidFill>
            <a:srgbClr val="24314A"/>
          </a:solidFill>
          <a:ln w="12700">
            <a:solidFill>
              <a:srgbClr val="24314A"/>
            </a:solidFill>
            <a:prstDash val="solid"/>
          </a:ln>
        </p:spPr>
        <p:txBody>
          <a:bodyPr/>
          <a:lstStyle/>
          <a:p>
            <a:endParaRPr lang="en-US"/>
          </a:p>
        </p:txBody>
      </p:sp>
      <p:sp>
        <p:nvSpPr>
          <p:cNvPr id="32" name="Shape 30"/>
          <p:cNvSpPr/>
          <p:nvPr/>
        </p:nvSpPr>
        <p:spPr>
          <a:xfrm>
            <a:off x="4425696" y="4370832"/>
            <a:ext cx="64008" cy="411480"/>
          </a:xfrm>
          <a:prstGeom prst="rect">
            <a:avLst/>
          </a:prstGeom>
          <a:solidFill>
            <a:srgbClr val="24314A"/>
          </a:solidFill>
          <a:ln w="12700">
            <a:solidFill>
              <a:srgbClr val="24314A"/>
            </a:solidFill>
            <a:prstDash val="solid"/>
          </a:ln>
        </p:spPr>
        <p:txBody>
          <a:bodyPr/>
          <a:lstStyle/>
          <a:p>
            <a:endParaRPr lang="en-US"/>
          </a:p>
        </p:txBody>
      </p:sp>
      <p:sp>
        <p:nvSpPr>
          <p:cNvPr id="33" name="Shape 31"/>
          <p:cNvSpPr/>
          <p:nvPr/>
        </p:nvSpPr>
        <p:spPr>
          <a:xfrm>
            <a:off x="4649724" y="4370832"/>
            <a:ext cx="32004" cy="411480"/>
          </a:xfrm>
          <a:prstGeom prst="rect">
            <a:avLst/>
          </a:prstGeom>
          <a:solidFill>
            <a:srgbClr val="24314A"/>
          </a:solidFill>
          <a:ln w="12700">
            <a:solidFill>
              <a:srgbClr val="24314A"/>
            </a:solidFill>
            <a:prstDash val="solid"/>
          </a:ln>
        </p:spPr>
        <p:txBody>
          <a:bodyPr/>
          <a:lstStyle/>
          <a:p>
            <a:endParaRPr lang="en-US"/>
          </a:p>
        </p:txBody>
      </p:sp>
      <p:sp>
        <p:nvSpPr>
          <p:cNvPr id="34" name="Shape 32"/>
          <p:cNvSpPr/>
          <p:nvPr/>
        </p:nvSpPr>
        <p:spPr>
          <a:xfrm>
            <a:off x="4777740" y="4370832"/>
            <a:ext cx="32004" cy="411480"/>
          </a:xfrm>
          <a:prstGeom prst="rect">
            <a:avLst/>
          </a:prstGeom>
          <a:solidFill>
            <a:srgbClr val="24314A"/>
          </a:solidFill>
          <a:ln w="12700">
            <a:solidFill>
              <a:srgbClr val="24314A"/>
            </a:solidFill>
            <a:prstDash val="solid"/>
          </a:ln>
        </p:spPr>
        <p:txBody>
          <a:bodyPr/>
          <a:lstStyle/>
          <a:p>
            <a:endParaRPr lang="en-US"/>
          </a:p>
        </p:txBody>
      </p:sp>
      <p:sp>
        <p:nvSpPr>
          <p:cNvPr id="35" name="Shape 33"/>
          <p:cNvSpPr/>
          <p:nvPr/>
        </p:nvSpPr>
        <p:spPr>
          <a:xfrm>
            <a:off x="4937760" y="4370832"/>
            <a:ext cx="128016" cy="411480"/>
          </a:xfrm>
          <a:prstGeom prst="rect">
            <a:avLst/>
          </a:prstGeom>
          <a:solidFill>
            <a:srgbClr val="24314A"/>
          </a:solidFill>
          <a:ln w="12700">
            <a:solidFill>
              <a:srgbClr val="24314A"/>
            </a:solidFill>
            <a:prstDash val="solid"/>
          </a:ln>
        </p:spPr>
        <p:txBody>
          <a:bodyPr/>
          <a:lstStyle/>
          <a:p>
            <a:endParaRPr lang="en-US"/>
          </a:p>
        </p:txBody>
      </p:sp>
      <p:sp>
        <p:nvSpPr>
          <p:cNvPr id="36" name="Shape 34"/>
          <p:cNvSpPr/>
          <p:nvPr/>
        </p:nvSpPr>
        <p:spPr>
          <a:xfrm>
            <a:off x="5161788" y="4370832"/>
            <a:ext cx="64008" cy="411480"/>
          </a:xfrm>
          <a:prstGeom prst="rect">
            <a:avLst/>
          </a:prstGeom>
          <a:solidFill>
            <a:srgbClr val="24314A"/>
          </a:solidFill>
          <a:ln w="12700">
            <a:solidFill>
              <a:srgbClr val="24314A"/>
            </a:solidFill>
            <a:prstDash val="solid"/>
          </a:ln>
        </p:spPr>
        <p:txBody>
          <a:bodyPr/>
          <a:lstStyle/>
          <a:p>
            <a:endParaRPr lang="en-US"/>
          </a:p>
        </p:txBody>
      </p:sp>
      <p:sp>
        <p:nvSpPr>
          <p:cNvPr id="37" name="Shape 35"/>
          <p:cNvSpPr/>
          <p:nvPr/>
        </p:nvSpPr>
        <p:spPr>
          <a:xfrm>
            <a:off x="5321808" y="4370832"/>
            <a:ext cx="32004" cy="411480"/>
          </a:xfrm>
          <a:prstGeom prst="rect">
            <a:avLst/>
          </a:prstGeom>
          <a:solidFill>
            <a:srgbClr val="24314A"/>
          </a:solidFill>
          <a:ln w="12700">
            <a:solidFill>
              <a:srgbClr val="24314A"/>
            </a:solidFill>
            <a:prstDash val="solid"/>
          </a:ln>
        </p:spPr>
        <p:txBody>
          <a:bodyPr/>
          <a:lstStyle/>
          <a:p>
            <a:endParaRPr lang="en-US"/>
          </a:p>
        </p:txBody>
      </p:sp>
      <p:sp>
        <p:nvSpPr>
          <p:cNvPr id="38" name="Shape 36"/>
          <p:cNvSpPr/>
          <p:nvPr/>
        </p:nvSpPr>
        <p:spPr>
          <a:xfrm>
            <a:off x="5513832" y="4370832"/>
            <a:ext cx="32004" cy="411480"/>
          </a:xfrm>
          <a:prstGeom prst="rect">
            <a:avLst/>
          </a:prstGeom>
          <a:solidFill>
            <a:srgbClr val="24314A"/>
          </a:solidFill>
          <a:ln w="12700">
            <a:solidFill>
              <a:srgbClr val="24314A"/>
            </a:solidFill>
            <a:prstDash val="solid"/>
          </a:ln>
        </p:spPr>
        <p:txBody>
          <a:bodyPr/>
          <a:lstStyle/>
          <a:p>
            <a:endParaRPr lang="en-US"/>
          </a:p>
        </p:txBody>
      </p:sp>
      <p:sp>
        <p:nvSpPr>
          <p:cNvPr id="39" name="Shape 37"/>
          <p:cNvSpPr/>
          <p:nvPr/>
        </p:nvSpPr>
        <p:spPr>
          <a:xfrm>
            <a:off x="5673852" y="4370832"/>
            <a:ext cx="32004" cy="411480"/>
          </a:xfrm>
          <a:prstGeom prst="rect">
            <a:avLst/>
          </a:prstGeom>
          <a:solidFill>
            <a:srgbClr val="24314A"/>
          </a:solidFill>
          <a:ln w="12700">
            <a:solidFill>
              <a:srgbClr val="24314A"/>
            </a:solidFill>
            <a:prstDash val="solid"/>
          </a:ln>
        </p:spPr>
        <p:txBody>
          <a:bodyPr/>
          <a:lstStyle/>
          <a:p>
            <a:endParaRPr lang="en-US"/>
          </a:p>
        </p:txBody>
      </p:sp>
      <p:sp>
        <p:nvSpPr>
          <p:cNvPr id="40" name="Shape 38"/>
          <p:cNvSpPr/>
          <p:nvPr/>
        </p:nvSpPr>
        <p:spPr>
          <a:xfrm>
            <a:off x="6254496" y="2286000"/>
            <a:ext cx="2578608" cy="3017520"/>
          </a:xfrm>
          <a:prstGeom prst="roundRect">
            <a:avLst>
              <a:gd name="adj" fmla="val 2128"/>
            </a:avLst>
          </a:prstGeom>
          <a:solidFill>
            <a:srgbClr val="151E2E"/>
          </a:solidFill>
          <a:ln w="12700">
            <a:solidFill>
              <a:srgbClr val="24314A"/>
            </a:solidFill>
            <a:prstDash val="solid"/>
          </a:ln>
        </p:spPr>
        <p:txBody>
          <a:bodyPr/>
          <a:lstStyle/>
          <a:p>
            <a:endParaRPr lang="en-US"/>
          </a:p>
        </p:txBody>
      </p:sp>
      <p:sp>
        <p:nvSpPr>
          <p:cNvPr id="41" name="Shape 39"/>
          <p:cNvSpPr/>
          <p:nvPr/>
        </p:nvSpPr>
        <p:spPr>
          <a:xfrm>
            <a:off x="6528816" y="2606040"/>
            <a:ext cx="1234440" cy="384048"/>
          </a:xfrm>
          <a:prstGeom prst="roundRect">
            <a:avLst>
              <a:gd name="adj" fmla="val 14286"/>
            </a:avLst>
          </a:prstGeom>
          <a:solidFill>
            <a:srgbClr val="1B2638"/>
          </a:solidFill>
          <a:ln w="12700">
            <a:solidFill>
              <a:srgbClr val="00D9A3"/>
            </a:solidFill>
            <a:prstDash val="solid"/>
          </a:ln>
        </p:spPr>
        <p:txBody>
          <a:bodyPr/>
          <a:lstStyle/>
          <a:p>
            <a:endParaRPr lang="en-US"/>
          </a:p>
        </p:txBody>
      </p:sp>
      <p:sp>
        <p:nvSpPr>
          <p:cNvPr id="42" name="Text 40"/>
          <p:cNvSpPr/>
          <p:nvPr/>
        </p:nvSpPr>
        <p:spPr>
          <a:xfrm>
            <a:off x="6528816" y="2606040"/>
            <a:ext cx="1234440" cy="384048"/>
          </a:xfrm>
          <a:prstGeom prst="rect">
            <a:avLst/>
          </a:prstGeom>
          <a:noFill/>
          <a:ln/>
        </p:spPr>
        <p:txBody>
          <a:bodyPr wrap="square" lIns="0" tIns="0" rIns="0" bIns="0" rtlCol="0" anchor="ctr"/>
          <a:lstStyle/>
          <a:p>
            <a:pPr marL="0" indent="0" algn="ctr">
              <a:buNone/>
            </a:pPr>
            <a:r>
              <a:rPr lang="en-US" sz="1300" b="1" dirty="0">
                <a:solidFill>
                  <a:srgbClr val="00D9A3"/>
                </a:solidFill>
                <a:latin typeface="Courier New" pitchFamily="34" charset="0"/>
                <a:ea typeface="Courier New" pitchFamily="34" charset="-122"/>
                <a:cs typeface="Courier New" pitchFamily="34" charset="-120"/>
              </a:rPr>
              <a:t>WIFI</a:t>
            </a:r>
            <a:endParaRPr lang="en-US" sz="1300" dirty="0"/>
          </a:p>
        </p:txBody>
      </p:sp>
      <p:sp>
        <p:nvSpPr>
          <p:cNvPr id="43" name="Shape 41"/>
          <p:cNvSpPr/>
          <p:nvPr/>
        </p:nvSpPr>
        <p:spPr>
          <a:xfrm>
            <a:off x="8138160" y="2606040"/>
            <a:ext cx="310896" cy="310896"/>
          </a:xfrm>
          <a:prstGeom prst="roundRect">
            <a:avLst>
              <a:gd name="adj" fmla="val 73529"/>
            </a:avLst>
          </a:prstGeom>
          <a:solidFill>
            <a:srgbClr val="0B1220"/>
          </a:solidFill>
          <a:ln w="12700">
            <a:solidFill>
              <a:srgbClr val="24314A"/>
            </a:solidFill>
            <a:prstDash val="solid"/>
          </a:ln>
        </p:spPr>
        <p:txBody>
          <a:bodyPr/>
          <a:lstStyle/>
          <a:p>
            <a:endParaRPr lang="en-US"/>
          </a:p>
        </p:txBody>
      </p:sp>
      <p:sp>
        <p:nvSpPr>
          <p:cNvPr id="44" name="Text 42"/>
          <p:cNvSpPr/>
          <p:nvPr/>
        </p:nvSpPr>
        <p:spPr>
          <a:xfrm>
            <a:off x="6528816" y="3200400"/>
            <a:ext cx="2057400" cy="1005840"/>
          </a:xfrm>
          <a:prstGeom prst="rect">
            <a:avLst/>
          </a:prstGeom>
          <a:noFill/>
          <a:ln/>
        </p:spPr>
        <p:txBody>
          <a:bodyPr wrap="square" lIns="0" tIns="0" rIns="0" bIns="0" rtlCol="0" anchor="t"/>
          <a:lstStyle/>
          <a:p>
            <a:pPr marL="0" indent="0">
              <a:lnSpc>
                <a:spcPts val="2000"/>
              </a:lnSpc>
              <a:buNone/>
            </a:pPr>
            <a:r>
              <a:rPr lang="en-US" sz="1400" dirty="0">
                <a:solidFill>
                  <a:srgbClr val="E8EDF5"/>
                </a:solidFill>
                <a:latin typeface="Calibri" pitchFamily="34" charset="0"/>
                <a:ea typeface="Calibri" pitchFamily="34" charset="-122"/>
                <a:cs typeface="Calibri" pitchFamily="34" charset="-120"/>
              </a:rPr>
              <a:t>Zugangsdaten auslesen und kopieren</a:t>
            </a:r>
            <a:endParaRPr lang="en-US" sz="1400" dirty="0"/>
          </a:p>
        </p:txBody>
      </p:sp>
      <p:sp>
        <p:nvSpPr>
          <p:cNvPr id="45" name="Shape 43"/>
          <p:cNvSpPr/>
          <p:nvPr/>
        </p:nvSpPr>
        <p:spPr>
          <a:xfrm>
            <a:off x="6528816" y="4370832"/>
            <a:ext cx="96012" cy="411480"/>
          </a:xfrm>
          <a:prstGeom prst="rect">
            <a:avLst/>
          </a:prstGeom>
          <a:solidFill>
            <a:srgbClr val="24314A"/>
          </a:solidFill>
          <a:ln w="12700">
            <a:solidFill>
              <a:srgbClr val="24314A"/>
            </a:solidFill>
            <a:prstDash val="solid"/>
          </a:ln>
        </p:spPr>
        <p:txBody>
          <a:bodyPr/>
          <a:lstStyle/>
          <a:p>
            <a:endParaRPr lang="en-US"/>
          </a:p>
        </p:txBody>
      </p:sp>
      <p:sp>
        <p:nvSpPr>
          <p:cNvPr id="46" name="Shape 44"/>
          <p:cNvSpPr/>
          <p:nvPr/>
        </p:nvSpPr>
        <p:spPr>
          <a:xfrm>
            <a:off x="6720840" y="4370832"/>
            <a:ext cx="32004" cy="411480"/>
          </a:xfrm>
          <a:prstGeom prst="rect">
            <a:avLst/>
          </a:prstGeom>
          <a:solidFill>
            <a:srgbClr val="24314A"/>
          </a:solidFill>
          <a:ln w="12700">
            <a:solidFill>
              <a:srgbClr val="24314A"/>
            </a:solidFill>
            <a:prstDash val="solid"/>
          </a:ln>
        </p:spPr>
        <p:txBody>
          <a:bodyPr/>
          <a:lstStyle/>
          <a:p>
            <a:endParaRPr lang="en-US"/>
          </a:p>
        </p:txBody>
      </p:sp>
      <p:sp>
        <p:nvSpPr>
          <p:cNvPr id="47" name="Shape 45"/>
          <p:cNvSpPr/>
          <p:nvPr/>
        </p:nvSpPr>
        <p:spPr>
          <a:xfrm>
            <a:off x="6880860" y="4370832"/>
            <a:ext cx="32004" cy="411480"/>
          </a:xfrm>
          <a:prstGeom prst="rect">
            <a:avLst/>
          </a:prstGeom>
          <a:solidFill>
            <a:srgbClr val="24314A"/>
          </a:solidFill>
          <a:ln w="12700">
            <a:solidFill>
              <a:srgbClr val="24314A"/>
            </a:solidFill>
            <a:prstDash val="solid"/>
          </a:ln>
        </p:spPr>
        <p:txBody>
          <a:bodyPr/>
          <a:lstStyle/>
          <a:p>
            <a:endParaRPr lang="en-US"/>
          </a:p>
        </p:txBody>
      </p:sp>
      <p:sp>
        <p:nvSpPr>
          <p:cNvPr id="48" name="Shape 46"/>
          <p:cNvSpPr/>
          <p:nvPr/>
        </p:nvSpPr>
        <p:spPr>
          <a:xfrm>
            <a:off x="7104888" y="4370832"/>
            <a:ext cx="32004" cy="411480"/>
          </a:xfrm>
          <a:prstGeom prst="rect">
            <a:avLst/>
          </a:prstGeom>
          <a:solidFill>
            <a:srgbClr val="24314A"/>
          </a:solidFill>
          <a:ln w="12700">
            <a:solidFill>
              <a:srgbClr val="24314A"/>
            </a:solidFill>
            <a:prstDash val="solid"/>
          </a:ln>
        </p:spPr>
        <p:txBody>
          <a:bodyPr/>
          <a:lstStyle/>
          <a:p>
            <a:endParaRPr lang="en-US"/>
          </a:p>
        </p:txBody>
      </p:sp>
      <p:sp>
        <p:nvSpPr>
          <p:cNvPr id="49" name="Shape 47"/>
          <p:cNvSpPr/>
          <p:nvPr/>
        </p:nvSpPr>
        <p:spPr>
          <a:xfrm>
            <a:off x="7232904" y="4370832"/>
            <a:ext cx="64008" cy="411480"/>
          </a:xfrm>
          <a:prstGeom prst="rect">
            <a:avLst/>
          </a:prstGeom>
          <a:solidFill>
            <a:srgbClr val="24314A"/>
          </a:solidFill>
          <a:ln w="12700">
            <a:solidFill>
              <a:srgbClr val="24314A"/>
            </a:solidFill>
            <a:prstDash val="solid"/>
          </a:ln>
        </p:spPr>
        <p:txBody>
          <a:bodyPr/>
          <a:lstStyle/>
          <a:p>
            <a:endParaRPr lang="en-US"/>
          </a:p>
        </p:txBody>
      </p:sp>
      <p:sp>
        <p:nvSpPr>
          <p:cNvPr id="50" name="Shape 48"/>
          <p:cNvSpPr/>
          <p:nvPr/>
        </p:nvSpPr>
        <p:spPr>
          <a:xfrm>
            <a:off x="7456932" y="4370832"/>
            <a:ext cx="32004" cy="411480"/>
          </a:xfrm>
          <a:prstGeom prst="rect">
            <a:avLst/>
          </a:prstGeom>
          <a:solidFill>
            <a:srgbClr val="24314A"/>
          </a:solidFill>
          <a:ln w="12700">
            <a:solidFill>
              <a:srgbClr val="24314A"/>
            </a:solidFill>
            <a:prstDash val="solid"/>
          </a:ln>
        </p:spPr>
        <p:txBody>
          <a:bodyPr/>
          <a:lstStyle/>
          <a:p>
            <a:endParaRPr lang="en-US"/>
          </a:p>
        </p:txBody>
      </p:sp>
      <p:sp>
        <p:nvSpPr>
          <p:cNvPr id="51" name="Shape 49"/>
          <p:cNvSpPr/>
          <p:nvPr/>
        </p:nvSpPr>
        <p:spPr>
          <a:xfrm>
            <a:off x="7584948" y="4370832"/>
            <a:ext cx="32004" cy="411480"/>
          </a:xfrm>
          <a:prstGeom prst="rect">
            <a:avLst/>
          </a:prstGeom>
          <a:solidFill>
            <a:srgbClr val="24314A"/>
          </a:solidFill>
          <a:ln w="12700">
            <a:solidFill>
              <a:srgbClr val="24314A"/>
            </a:solidFill>
            <a:prstDash val="solid"/>
          </a:ln>
        </p:spPr>
        <p:txBody>
          <a:bodyPr/>
          <a:lstStyle/>
          <a:p>
            <a:endParaRPr lang="en-US"/>
          </a:p>
        </p:txBody>
      </p:sp>
      <p:sp>
        <p:nvSpPr>
          <p:cNvPr id="52" name="Shape 50"/>
          <p:cNvSpPr/>
          <p:nvPr/>
        </p:nvSpPr>
        <p:spPr>
          <a:xfrm>
            <a:off x="7744968" y="4370832"/>
            <a:ext cx="128016" cy="411480"/>
          </a:xfrm>
          <a:prstGeom prst="rect">
            <a:avLst/>
          </a:prstGeom>
          <a:solidFill>
            <a:srgbClr val="24314A"/>
          </a:solidFill>
          <a:ln w="12700">
            <a:solidFill>
              <a:srgbClr val="24314A"/>
            </a:solidFill>
            <a:prstDash val="solid"/>
          </a:ln>
        </p:spPr>
        <p:txBody>
          <a:bodyPr/>
          <a:lstStyle/>
          <a:p>
            <a:endParaRPr lang="en-US"/>
          </a:p>
        </p:txBody>
      </p:sp>
      <p:sp>
        <p:nvSpPr>
          <p:cNvPr id="53" name="Shape 51"/>
          <p:cNvSpPr/>
          <p:nvPr/>
        </p:nvSpPr>
        <p:spPr>
          <a:xfrm>
            <a:off x="7968996" y="4370832"/>
            <a:ext cx="64008" cy="411480"/>
          </a:xfrm>
          <a:prstGeom prst="rect">
            <a:avLst/>
          </a:prstGeom>
          <a:solidFill>
            <a:srgbClr val="24314A"/>
          </a:solidFill>
          <a:ln w="12700">
            <a:solidFill>
              <a:srgbClr val="24314A"/>
            </a:solidFill>
            <a:prstDash val="solid"/>
          </a:ln>
        </p:spPr>
        <p:txBody>
          <a:bodyPr/>
          <a:lstStyle/>
          <a:p>
            <a:endParaRPr lang="en-US"/>
          </a:p>
        </p:txBody>
      </p:sp>
      <p:sp>
        <p:nvSpPr>
          <p:cNvPr id="54" name="Shape 52"/>
          <p:cNvSpPr/>
          <p:nvPr/>
        </p:nvSpPr>
        <p:spPr>
          <a:xfrm>
            <a:off x="8129016" y="4370832"/>
            <a:ext cx="32004" cy="411480"/>
          </a:xfrm>
          <a:prstGeom prst="rect">
            <a:avLst/>
          </a:prstGeom>
          <a:solidFill>
            <a:srgbClr val="24314A"/>
          </a:solidFill>
          <a:ln w="12700">
            <a:solidFill>
              <a:srgbClr val="24314A"/>
            </a:solidFill>
            <a:prstDash val="solid"/>
          </a:ln>
        </p:spPr>
        <p:txBody>
          <a:bodyPr/>
          <a:lstStyle/>
          <a:p>
            <a:endParaRPr lang="en-US"/>
          </a:p>
        </p:txBody>
      </p:sp>
      <p:sp>
        <p:nvSpPr>
          <p:cNvPr id="55" name="Shape 53"/>
          <p:cNvSpPr/>
          <p:nvPr/>
        </p:nvSpPr>
        <p:spPr>
          <a:xfrm>
            <a:off x="8321040" y="4370832"/>
            <a:ext cx="32004" cy="411480"/>
          </a:xfrm>
          <a:prstGeom prst="rect">
            <a:avLst/>
          </a:prstGeom>
          <a:solidFill>
            <a:srgbClr val="24314A"/>
          </a:solidFill>
          <a:ln w="12700">
            <a:solidFill>
              <a:srgbClr val="24314A"/>
            </a:solidFill>
            <a:prstDash val="solid"/>
          </a:ln>
        </p:spPr>
        <p:txBody>
          <a:bodyPr/>
          <a:lstStyle/>
          <a:p>
            <a:endParaRPr lang="en-US"/>
          </a:p>
        </p:txBody>
      </p:sp>
      <p:sp>
        <p:nvSpPr>
          <p:cNvPr id="56" name="Shape 54"/>
          <p:cNvSpPr/>
          <p:nvPr/>
        </p:nvSpPr>
        <p:spPr>
          <a:xfrm>
            <a:off x="8481060" y="4370832"/>
            <a:ext cx="32004" cy="411480"/>
          </a:xfrm>
          <a:prstGeom prst="rect">
            <a:avLst/>
          </a:prstGeom>
          <a:solidFill>
            <a:srgbClr val="24314A"/>
          </a:solidFill>
          <a:ln w="12700">
            <a:solidFill>
              <a:srgbClr val="24314A"/>
            </a:solidFill>
            <a:prstDash val="solid"/>
          </a:ln>
        </p:spPr>
        <p:txBody>
          <a:bodyPr/>
          <a:lstStyle/>
          <a:p>
            <a:endParaRPr lang="en-US"/>
          </a:p>
        </p:txBody>
      </p:sp>
      <p:sp>
        <p:nvSpPr>
          <p:cNvPr id="57" name="Shape 55"/>
          <p:cNvSpPr/>
          <p:nvPr/>
        </p:nvSpPr>
        <p:spPr>
          <a:xfrm>
            <a:off x="9061704" y="2286000"/>
            <a:ext cx="2578608" cy="3017520"/>
          </a:xfrm>
          <a:prstGeom prst="roundRect">
            <a:avLst>
              <a:gd name="adj" fmla="val 2128"/>
            </a:avLst>
          </a:prstGeom>
          <a:solidFill>
            <a:srgbClr val="151E2E"/>
          </a:solidFill>
          <a:ln w="12700">
            <a:solidFill>
              <a:srgbClr val="24314A"/>
            </a:solidFill>
            <a:prstDash val="solid"/>
          </a:ln>
        </p:spPr>
        <p:txBody>
          <a:bodyPr/>
          <a:lstStyle/>
          <a:p>
            <a:endParaRPr lang="en-US"/>
          </a:p>
        </p:txBody>
      </p:sp>
      <p:sp>
        <p:nvSpPr>
          <p:cNvPr id="58" name="Shape 56"/>
          <p:cNvSpPr/>
          <p:nvPr/>
        </p:nvSpPr>
        <p:spPr>
          <a:xfrm>
            <a:off x="9336024" y="2606040"/>
            <a:ext cx="1234440" cy="384048"/>
          </a:xfrm>
          <a:prstGeom prst="roundRect">
            <a:avLst>
              <a:gd name="adj" fmla="val 14286"/>
            </a:avLst>
          </a:prstGeom>
          <a:solidFill>
            <a:srgbClr val="1B2638"/>
          </a:solidFill>
          <a:ln w="12700">
            <a:solidFill>
              <a:srgbClr val="00D9A3"/>
            </a:solidFill>
            <a:prstDash val="solid"/>
          </a:ln>
        </p:spPr>
        <p:txBody>
          <a:bodyPr/>
          <a:lstStyle/>
          <a:p>
            <a:endParaRPr lang="en-US"/>
          </a:p>
        </p:txBody>
      </p:sp>
      <p:sp>
        <p:nvSpPr>
          <p:cNvPr id="59" name="Text 57"/>
          <p:cNvSpPr/>
          <p:nvPr/>
        </p:nvSpPr>
        <p:spPr>
          <a:xfrm>
            <a:off x="9336024" y="2606040"/>
            <a:ext cx="1234440" cy="384048"/>
          </a:xfrm>
          <a:prstGeom prst="rect">
            <a:avLst/>
          </a:prstGeom>
          <a:noFill/>
          <a:ln/>
        </p:spPr>
        <p:txBody>
          <a:bodyPr wrap="square" lIns="0" tIns="0" rIns="0" bIns="0" rtlCol="0" anchor="ctr"/>
          <a:lstStyle/>
          <a:p>
            <a:pPr marL="0" indent="0" algn="ctr">
              <a:buNone/>
            </a:pPr>
            <a:r>
              <a:rPr lang="en-US" sz="1300" b="1" dirty="0">
                <a:solidFill>
                  <a:srgbClr val="00D9A3"/>
                </a:solidFill>
                <a:latin typeface="Courier New" pitchFamily="34" charset="0"/>
                <a:ea typeface="Courier New" pitchFamily="34" charset="-122"/>
                <a:cs typeface="Courier New" pitchFamily="34" charset="-120"/>
              </a:rPr>
              <a:t>GEO</a:t>
            </a:r>
            <a:endParaRPr lang="en-US" sz="1300" dirty="0"/>
          </a:p>
        </p:txBody>
      </p:sp>
      <p:sp>
        <p:nvSpPr>
          <p:cNvPr id="60" name="Shape 58"/>
          <p:cNvSpPr/>
          <p:nvPr/>
        </p:nvSpPr>
        <p:spPr>
          <a:xfrm>
            <a:off x="10945368" y="2606040"/>
            <a:ext cx="310896" cy="310896"/>
          </a:xfrm>
          <a:prstGeom prst="roundRect">
            <a:avLst>
              <a:gd name="adj" fmla="val 73529"/>
            </a:avLst>
          </a:prstGeom>
          <a:solidFill>
            <a:srgbClr val="0B1220"/>
          </a:solidFill>
          <a:ln w="12700">
            <a:solidFill>
              <a:srgbClr val="24314A"/>
            </a:solidFill>
            <a:prstDash val="solid"/>
          </a:ln>
        </p:spPr>
        <p:txBody>
          <a:bodyPr/>
          <a:lstStyle/>
          <a:p>
            <a:endParaRPr lang="en-US"/>
          </a:p>
        </p:txBody>
      </p:sp>
      <p:sp>
        <p:nvSpPr>
          <p:cNvPr id="61" name="Text 59"/>
          <p:cNvSpPr/>
          <p:nvPr/>
        </p:nvSpPr>
        <p:spPr>
          <a:xfrm>
            <a:off x="9336024" y="3200400"/>
            <a:ext cx="2057400" cy="1005840"/>
          </a:xfrm>
          <a:prstGeom prst="rect">
            <a:avLst/>
          </a:prstGeom>
          <a:noFill/>
          <a:ln/>
        </p:spPr>
        <p:txBody>
          <a:bodyPr wrap="square" lIns="0" tIns="0" rIns="0" bIns="0" rtlCol="0" anchor="t"/>
          <a:lstStyle/>
          <a:p>
            <a:pPr marL="0" indent="0">
              <a:lnSpc>
                <a:spcPts val="2000"/>
              </a:lnSpc>
              <a:buNone/>
            </a:pPr>
            <a:r>
              <a:rPr lang="en-US" sz="1400" dirty="0">
                <a:solidFill>
                  <a:srgbClr val="E8EDF5"/>
                </a:solidFill>
                <a:latin typeface="Calibri" pitchFamily="34" charset="0"/>
                <a:ea typeface="Calibri" pitchFamily="34" charset="-122"/>
                <a:cs typeface="Calibri" pitchFamily="34" charset="-120"/>
              </a:rPr>
              <a:t>Koordinaten in Google Maps öffnen</a:t>
            </a:r>
            <a:endParaRPr lang="en-US" sz="1400" dirty="0"/>
          </a:p>
        </p:txBody>
      </p:sp>
      <p:sp>
        <p:nvSpPr>
          <p:cNvPr id="62" name="Shape 60"/>
          <p:cNvSpPr/>
          <p:nvPr/>
        </p:nvSpPr>
        <p:spPr>
          <a:xfrm>
            <a:off x="9336024" y="4370832"/>
            <a:ext cx="96012" cy="411480"/>
          </a:xfrm>
          <a:prstGeom prst="rect">
            <a:avLst/>
          </a:prstGeom>
          <a:solidFill>
            <a:srgbClr val="24314A"/>
          </a:solidFill>
          <a:ln w="12700">
            <a:solidFill>
              <a:srgbClr val="24314A"/>
            </a:solidFill>
            <a:prstDash val="solid"/>
          </a:ln>
        </p:spPr>
        <p:txBody>
          <a:bodyPr/>
          <a:lstStyle/>
          <a:p>
            <a:endParaRPr lang="en-US"/>
          </a:p>
        </p:txBody>
      </p:sp>
      <p:sp>
        <p:nvSpPr>
          <p:cNvPr id="63" name="Shape 61"/>
          <p:cNvSpPr/>
          <p:nvPr/>
        </p:nvSpPr>
        <p:spPr>
          <a:xfrm>
            <a:off x="9528048" y="4370832"/>
            <a:ext cx="32004" cy="411480"/>
          </a:xfrm>
          <a:prstGeom prst="rect">
            <a:avLst/>
          </a:prstGeom>
          <a:solidFill>
            <a:srgbClr val="24314A"/>
          </a:solidFill>
          <a:ln w="12700">
            <a:solidFill>
              <a:srgbClr val="24314A"/>
            </a:solidFill>
            <a:prstDash val="solid"/>
          </a:ln>
        </p:spPr>
        <p:txBody>
          <a:bodyPr/>
          <a:lstStyle/>
          <a:p>
            <a:endParaRPr lang="en-US"/>
          </a:p>
        </p:txBody>
      </p:sp>
      <p:sp>
        <p:nvSpPr>
          <p:cNvPr id="64" name="Shape 62"/>
          <p:cNvSpPr/>
          <p:nvPr/>
        </p:nvSpPr>
        <p:spPr>
          <a:xfrm>
            <a:off x="9688068" y="4370832"/>
            <a:ext cx="32004" cy="411480"/>
          </a:xfrm>
          <a:prstGeom prst="rect">
            <a:avLst/>
          </a:prstGeom>
          <a:solidFill>
            <a:srgbClr val="24314A"/>
          </a:solidFill>
          <a:ln w="12700">
            <a:solidFill>
              <a:srgbClr val="24314A"/>
            </a:solidFill>
            <a:prstDash val="solid"/>
          </a:ln>
        </p:spPr>
        <p:txBody>
          <a:bodyPr/>
          <a:lstStyle/>
          <a:p>
            <a:endParaRPr lang="en-US"/>
          </a:p>
        </p:txBody>
      </p:sp>
      <p:sp>
        <p:nvSpPr>
          <p:cNvPr id="65" name="Shape 63"/>
          <p:cNvSpPr/>
          <p:nvPr/>
        </p:nvSpPr>
        <p:spPr>
          <a:xfrm>
            <a:off x="9912096" y="4370832"/>
            <a:ext cx="32004" cy="411480"/>
          </a:xfrm>
          <a:prstGeom prst="rect">
            <a:avLst/>
          </a:prstGeom>
          <a:solidFill>
            <a:srgbClr val="24314A"/>
          </a:solidFill>
          <a:ln w="12700">
            <a:solidFill>
              <a:srgbClr val="24314A"/>
            </a:solidFill>
            <a:prstDash val="solid"/>
          </a:ln>
        </p:spPr>
        <p:txBody>
          <a:bodyPr/>
          <a:lstStyle/>
          <a:p>
            <a:endParaRPr lang="en-US"/>
          </a:p>
        </p:txBody>
      </p:sp>
      <p:sp>
        <p:nvSpPr>
          <p:cNvPr id="66" name="Shape 64"/>
          <p:cNvSpPr/>
          <p:nvPr/>
        </p:nvSpPr>
        <p:spPr>
          <a:xfrm>
            <a:off x="10040112" y="4370832"/>
            <a:ext cx="64008" cy="411480"/>
          </a:xfrm>
          <a:prstGeom prst="rect">
            <a:avLst/>
          </a:prstGeom>
          <a:solidFill>
            <a:srgbClr val="24314A"/>
          </a:solidFill>
          <a:ln w="12700">
            <a:solidFill>
              <a:srgbClr val="24314A"/>
            </a:solidFill>
            <a:prstDash val="solid"/>
          </a:ln>
        </p:spPr>
        <p:txBody>
          <a:bodyPr/>
          <a:lstStyle/>
          <a:p>
            <a:endParaRPr lang="en-US"/>
          </a:p>
        </p:txBody>
      </p:sp>
      <p:sp>
        <p:nvSpPr>
          <p:cNvPr id="67" name="Shape 65"/>
          <p:cNvSpPr/>
          <p:nvPr/>
        </p:nvSpPr>
        <p:spPr>
          <a:xfrm>
            <a:off x="10264140" y="4370832"/>
            <a:ext cx="32004" cy="411480"/>
          </a:xfrm>
          <a:prstGeom prst="rect">
            <a:avLst/>
          </a:prstGeom>
          <a:solidFill>
            <a:srgbClr val="24314A"/>
          </a:solidFill>
          <a:ln w="12700">
            <a:solidFill>
              <a:srgbClr val="24314A"/>
            </a:solidFill>
            <a:prstDash val="solid"/>
          </a:ln>
        </p:spPr>
        <p:txBody>
          <a:bodyPr/>
          <a:lstStyle/>
          <a:p>
            <a:endParaRPr lang="en-US"/>
          </a:p>
        </p:txBody>
      </p:sp>
      <p:sp>
        <p:nvSpPr>
          <p:cNvPr id="68" name="Shape 66"/>
          <p:cNvSpPr/>
          <p:nvPr/>
        </p:nvSpPr>
        <p:spPr>
          <a:xfrm>
            <a:off x="10392156" y="4370832"/>
            <a:ext cx="32004" cy="411480"/>
          </a:xfrm>
          <a:prstGeom prst="rect">
            <a:avLst/>
          </a:prstGeom>
          <a:solidFill>
            <a:srgbClr val="24314A"/>
          </a:solidFill>
          <a:ln w="12700">
            <a:solidFill>
              <a:srgbClr val="24314A"/>
            </a:solidFill>
            <a:prstDash val="solid"/>
          </a:ln>
        </p:spPr>
        <p:txBody>
          <a:bodyPr/>
          <a:lstStyle/>
          <a:p>
            <a:endParaRPr lang="en-US"/>
          </a:p>
        </p:txBody>
      </p:sp>
      <p:sp>
        <p:nvSpPr>
          <p:cNvPr id="69" name="Shape 67"/>
          <p:cNvSpPr/>
          <p:nvPr/>
        </p:nvSpPr>
        <p:spPr>
          <a:xfrm>
            <a:off x="10552176" y="4370832"/>
            <a:ext cx="128016" cy="411480"/>
          </a:xfrm>
          <a:prstGeom prst="rect">
            <a:avLst/>
          </a:prstGeom>
          <a:solidFill>
            <a:srgbClr val="24314A"/>
          </a:solidFill>
          <a:ln w="12700">
            <a:solidFill>
              <a:srgbClr val="24314A"/>
            </a:solidFill>
            <a:prstDash val="solid"/>
          </a:ln>
        </p:spPr>
        <p:txBody>
          <a:bodyPr/>
          <a:lstStyle/>
          <a:p>
            <a:endParaRPr lang="en-US"/>
          </a:p>
        </p:txBody>
      </p:sp>
      <p:sp>
        <p:nvSpPr>
          <p:cNvPr id="70" name="Shape 68"/>
          <p:cNvSpPr/>
          <p:nvPr/>
        </p:nvSpPr>
        <p:spPr>
          <a:xfrm>
            <a:off x="10776204" y="4370832"/>
            <a:ext cx="64008" cy="411480"/>
          </a:xfrm>
          <a:prstGeom prst="rect">
            <a:avLst/>
          </a:prstGeom>
          <a:solidFill>
            <a:srgbClr val="24314A"/>
          </a:solidFill>
          <a:ln w="12700">
            <a:solidFill>
              <a:srgbClr val="24314A"/>
            </a:solidFill>
            <a:prstDash val="solid"/>
          </a:ln>
        </p:spPr>
        <p:txBody>
          <a:bodyPr/>
          <a:lstStyle/>
          <a:p>
            <a:endParaRPr lang="en-US"/>
          </a:p>
        </p:txBody>
      </p:sp>
      <p:sp>
        <p:nvSpPr>
          <p:cNvPr id="71" name="Shape 69"/>
          <p:cNvSpPr/>
          <p:nvPr/>
        </p:nvSpPr>
        <p:spPr>
          <a:xfrm>
            <a:off x="10936224" y="4370832"/>
            <a:ext cx="32004" cy="411480"/>
          </a:xfrm>
          <a:prstGeom prst="rect">
            <a:avLst/>
          </a:prstGeom>
          <a:solidFill>
            <a:srgbClr val="24314A"/>
          </a:solidFill>
          <a:ln w="12700">
            <a:solidFill>
              <a:srgbClr val="24314A"/>
            </a:solidFill>
            <a:prstDash val="solid"/>
          </a:ln>
        </p:spPr>
        <p:txBody>
          <a:bodyPr/>
          <a:lstStyle/>
          <a:p>
            <a:endParaRPr lang="en-US"/>
          </a:p>
        </p:txBody>
      </p:sp>
      <p:sp>
        <p:nvSpPr>
          <p:cNvPr id="72" name="Shape 70"/>
          <p:cNvSpPr/>
          <p:nvPr/>
        </p:nvSpPr>
        <p:spPr>
          <a:xfrm>
            <a:off x="11128248" y="4370832"/>
            <a:ext cx="32004" cy="411480"/>
          </a:xfrm>
          <a:prstGeom prst="rect">
            <a:avLst/>
          </a:prstGeom>
          <a:solidFill>
            <a:srgbClr val="24314A"/>
          </a:solidFill>
          <a:ln w="12700">
            <a:solidFill>
              <a:srgbClr val="24314A"/>
            </a:solidFill>
            <a:prstDash val="solid"/>
          </a:ln>
        </p:spPr>
        <p:txBody>
          <a:bodyPr/>
          <a:lstStyle/>
          <a:p>
            <a:endParaRPr lang="en-US"/>
          </a:p>
        </p:txBody>
      </p:sp>
      <p:sp>
        <p:nvSpPr>
          <p:cNvPr id="73" name="Shape 71"/>
          <p:cNvSpPr/>
          <p:nvPr/>
        </p:nvSpPr>
        <p:spPr>
          <a:xfrm>
            <a:off x="11288268" y="4370832"/>
            <a:ext cx="32004" cy="411480"/>
          </a:xfrm>
          <a:prstGeom prst="rect">
            <a:avLst/>
          </a:prstGeom>
          <a:solidFill>
            <a:srgbClr val="24314A"/>
          </a:solidFill>
          <a:ln w="12700">
            <a:solidFill>
              <a:srgbClr val="24314A"/>
            </a:solidFill>
            <a:prstDash val="solid"/>
          </a:ln>
        </p:spPr>
        <p:txBody>
          <a:bodyPr/>
          <a:lstStyle/>
          <a:p>
            <a:endParaRPr lang="en-US"/>
          </a:p>
        </p:txBody>
      </p:sp>
      <p:sp>
        <p:nvSpPr>
          <p:cNvPr id="74" name="Text 72"/>
          <p:cNvSpPr/>
          <p:nvPr/>
        </p:nvSpPr>
        <p:spPr>
          <a:xfrm>
            <a:off x="2523744" y="2606040"/>
            <a:ext cx="310896" cy="310896"/>
          </a:xfrm>
          <a:prstGeom prst="roundRect">
            <a:avLst>
              <a:gd name="adj" fmla="val 73529"/>
            </a:avLst>
          </a:prstGeom>
          <a:solidFill>
            <a:srgbClr val="00D9A3"/>
          </a:solidFill>
          <a:ln w="12700">
            <a:solidFill>
              <a:srgbClr val="00D9A3"/>
            </a:solidFill>
          </a:ln>
        </p:spPr>
        <p:txBody>
          <a:bodyPr wrap="square" lIns="0" tIns="0" rIns="0" bIns="0" rtlCol="0" anchor="ctr"/>
          <a:lstStyle/>
          <a:p>
            <a:pPr marL="0" indent="0" algn="ctr">
              <a:buNone/>
            </a:pPr>
            <a:r>
              <a:rPr lang="en-US" sz="1400" b="1" dirty="0">
                <a:solidFill>
                  <a:srgbClr val="0B1220"/>
                </a:solidFill>
                <a:latin typeface="Arial" pitchFamily="34" charset="0"/>
                <a:ea typeface="Arial" pitchFamily="34" charset="-122"/>
                <a:cs typeface="Arial" pitchFamily="34" charset="-120"/>
              </a:rPr>
              <a:t>✓</a:t>
            </a:r>
            <a:endParaRPr lang="en-US" sz="1400" dirty="0"/>
          </a:p>
        </p:txBody>
      </p:sp>
      <p:sp>
        <p:nvSpPr>
          <p:cNvPr id="75" name="Text 73"/>
          <p:cNvSpPr/>
          <p:nvPr/>
        </p:nvSpPr>
        <p:spPr>
          <a:xfrm>
            <a:off x="914400" y="4919472"/>
            <a:ext cx="2057400" cy="274320"/>
          </a:xfrm>
          <a:prstGeom prst="rect">
            <a:avLst/>
          </a:prstGeom>
          <a:noFill/>
          <a:ln/>
        </p:spPr>
        <p:txBody>
          <a:bodyPr wrap="square" lIns="0" tIns="0" rIns="0" bIns="0" rtlCol="0" anchor="ctr"/>
          <a:lstStyle/>
          <a:p>
            <a:pPr marL="0" indent="0">
              <a:buNone/>
            </a:pPr>
            <a:r>
              <a:rPr lang="en-US" sz="1100" b="1" dirty="0">
                <a:solidFill>
                  <a:srgbClr val="00D9A3"/>
                </a:solidFill>
                <a:latin typeface="Courier New" pitchFamily="34" charset="0"/>
                <a:ea typeface="Courier New" pitchFamily="34" charset="-122"/>
                <a:cs typeface="Courier New" pitchFamily="34" charset="-120"/>
              </a:rPr>
              <a:t>gezeigt</a:t>
            </a:r>
            <a:endParaRPr lang="en-US" sz="1100" dirty="0"/>
          </a:p>
        </p:txBody>
      </p:sp>
      <p:sp>
        <p:nvSpPr>
          <p:cNvPr id="76" name="Text 74"/>
          <p:cNvSpPr/>
          <p:nvPr/>
        </p:nvSpPr>
        <p:spPr>
          <a:xfrm>
            <a:off x="5330952" y="2606040"/>
            <a:ext cx="310896" cy="310896"/>
          </a:xfrm>
          <a:prstGeom prst="roundRect">
            <a:avLst>
              <a:gd name="adj" fmla="val 73529"/>
            </a:avLst>
          </a:prstGeom>
          <a:solidFill>
            <a:srgbClr val="00D9A3"/>
          </a:solidFill>
          <a:ln w="12700">
            <a:solidFill>
              <a:srgbClr val="00D9A3"/>
            </a:solidFill>
          </a:ln>
        </p:spPr>
        <p:txBody>
          <a:bodyPr wrap="square" lIns="0" tIns="0" rIns="0" bIns="0" rtlCol="0" anchor="ctr"/>
          <a:lstStyle/>
          <a:p>
            <a:pPr marL="0" indent="0" algn="ctr">
              <a:buNone/>
            </a:pPr>
            <a:r>
              <a:rPr lang="en-US" sz="1400" b="1" dirty="0">
                <a:solidFill>
                  <a:srgbClr val="0B1220"/>
                </a:solidFill>
                <a:latin typeface="Arial" pitchFamily="34" charset="0"/>
                <a:ea typeface="Arial" pitchFamily="34" charset="-122"/>
                <a:cs typeface="Arial" pitchFamily="34" charset="-120"/>
              </a:rPr>
              <a:t>✓</a:t>
            </a:r>
            <a:endParaRPr lang="en-US" sz="1400" dirty="0"/>
          </a:p>
        </p:txBody>
      </p:sp>
      <p:sp>
        <p:nvSpPr>
          <p:cNvPr id="77" name="Text 75"/>
          <p:cNvSpPr/>
          <p:nvPr/>
        </p:nvSpPr>
        <p:spPr>
          <a:xfrm>
            <a:off x="3721608" y="4919472"/>
            <a:ext cx="2057400" cy="274320"/>
          </a:xfrm>
          <a:prstGeom prst="rect">
            <a:avLst/>
          </a:prstGeom>
          <a:noFill/>
          <a:ln/>
        </p:spPr>
        <p:txBody>
          <a:bodyPr wrap="square" lIns="0" tIns="0" rIns="0" bIns="0" rtlCol="0" anchor="ctr"/>
          <a:lstStyle/>
          <a:p>
            <a:pPr marL="0" indent="0">
              <a:buNone/>
            </a:pPr>
            <a:r>
              <a:rPr lang="en-US" sz="1100" b="1" dirty="0">
                <a:solidFill>
                  <a:srgbClr val="00D9A3"/>
                </a:solidFill>
                <a:latin typeface="Courier New" pitchFamily="34" charset="0"/>
                <a:ea typeface="Courier New" pitchFamily="34" charset="-122"/>
                <a:cs typeface="Courier New" pitchFamily="34" charset="-120"/>
              </a:rPr>
              <a:t>gezeigt</a:t>
            </a:r>
            <a:endParaRPr lang="en-US" sz="1100" dirty="0"/>
          </a:p>
        </p:txBody>
      </p:sp>
      <p:sp>
        <p:nvSpPr>
          <p:cNvPr id="78" name="Text 76"/>
          <p:cNvSpPr/>
          <p:nvPr/>
        </p:nvSpPr>
        <p:spPr>
          <a:xfrm>
            <a:off x="8138160" y="2606040"/>
            <a:ext cx="310896" cy="310896"/>
          </a:xfrm>
          <a:prstGeom prst="roundRect">
            <a:avLst>
              <a:gd name="adj" fmla="val 73529"/>
            </a:avLst>
          </a:prstGeom>
          <a:solidFill>
            <a:srgbClr val="00D9A3"/>
          </a:solidFill>
          <a:ln w="12700">
            <a:solidFill>
              <a:srgbClr val="00D9A3"/>
            </a:solidFill>
          </a:ln>
        </p:spPr>
        <p:txBody>
          <a:bodyPr wrap="square" lIns="0" tIns="0" rIns="0" bIns="0" rtlCol="0" anchor="ctr"/>
          <a:lstStyle/>
          <a:p>
            <a:pPr marL="0" indent="0" algn="ctr">
              <a:buNone/>
            </a:pPr>
            <a:r>
              <a:rPr lang="en-US" sz="1400" b="1" dirty="0">
                <a:solidFill>
                  <a:srgbClr val="0B1220"/>
                </a:solidFill>
                <a:latin typeface="Arial" pitchFamily="34" charset="0"/>
                <a:ea typeface="Arial" pitchFamily="34" charset="-122"/>
                <a:cs typeface="Arial" pitchFamily="34" charset="-120"/>
              </a:rPr>
              <a:t>✓</a:t>
            </a:r>
            <a:endParaRPr lang="en-US" sz="1400" dirty="0"/>
          </a:p>
        </p:txBody>
      </p:sp>
      <p:sp>
        <p:nvSpPr>
          <p:cNvPr id="79" name="Text 77"/>
          <p:cNvSpPr/>
          <p:nvPr/>
        </p:nvSpPr>
        <p:spPr>
          <a:xfrm>
            <a:off x="6528816" y="4919472"/>
            <a:ext cx="2057400" cy="274320"/>
          </a:xfrm>
          <a:prstGeom prst="rect">
            <a:avLst/>
          </a:prstGeom>
          <a:noFill/>
          <a:ln/>
        </p:spPr>
        <p:txBody>
          <a:bodyPr wrap="square" lIns="0" tIns="0" rIns="0" bIns="0" rtlCol="0" anchor="ctr"/>
          <a:lstStyle/>
          <a:p>
            <a:pPr marL="0" indent="0">
              <a:buNone/>
            </a:pPr>
            <a:r>
              <a:rPr lang="en-US" sz="1100" b="1" dirty="0">
                <a:solidFill>
                  <a:srgbClr val="00D9A3"/>
                </a:solidFill>
                <a:latin typeface="Courier New" pitchFamily="34" charset="0"/>
                <a:ea typeface="Courier New" pitchFamily="34" charset="-122"/>
                <a:cs typeface="Courier New" pitchFamily="34" charset="-120"/>
              </a:rPr>
              <a:t>gezeigt</a:t>
            </a:r>
            <a:endParaRPr lang="en-US" sz="1100" dirty="0"/>
          </a:p>
        </p:txBody>
      </p:sp>
      <p:sp>
        <p:nvSpPr>
          <p:cNvPr id="80" name="Text 78"/>
          <p:cNvSpPr/>
          <p:nvPr/>
        </p:nvSpPr>
        <p:spPr>
          <a:xfrm>
            <a:off x="10945368" y="2606040"/>
            <a:ext cx="310896" cy="310896"/>
          </a:xfrm>
          <a:prstGeom prst="roundRect">
            <a:avLst>
              <a:gd name="adj" fmla="val 73529"/>
            </a:avLst>
          </a:prstGeom>
          <a:solidFill>
            <a:srgbClr val="00D9A3"/>
          </a:solidFill>
          <a:ln w="12700">
            <a:solidFill>
              <a:srgbClr val="00D9A3"/>
            </a:solidFill>
          </a:ln>
        </p:spPr>
        <p:txBody>
          <a:bodyPr wrap="square" lIns="0" tIns="0" rIns="0" bIns="0" rtlCol="0" anchor="ctr"/>
          <a:lstStyle/>
          <a:p>
            <a:pPr marL="0" indent="0" algn="ctr">
              <a:buNone/>
            </a:pPr>
            <a:r>
              <a:rPr lang="en-US" sz="1400" b="1" dirty="0">
                <a:solidFill>
                  <a:srgbClr val="0B1220"/>
                </a:solidFill>
                <a:latin typeface="Arial" pitchFamily="34" charset="0"/>
                <a:ea typeface="Arial" pitchFamily="34" charset="-122"/>
                <a:cs typeface="Arial" pitchFamily="34" charset="-120"/>
              </a:rPr>
              <a:t>✓</a:t>
            </a:r>
            <a:endParaRPr lang="en-US" sz="1400" dirty="0"/>
          </a:p>
        </p:txBody>
      </p:sp>
      <p:sp>
        <p:nvSpPr>
          <p:cNvPr id="81" name="Text 79"/>
          <p:cNvSpPr/>
          <p:nvPr/>
        </p:nvSpPr>
        <p:spPr>
          <a:xfrm>
            <a:off x="9336024" y="4919472"/>
            <a:ext cx="2057400" cy="274320"/>
          </a:xfrm>
          <a:prstGeom prst="rect">
            <a:avLst/>
          </a:prstGeom>
          <a:noFill/>
          <a:ln/>
        </p:spPr>
        <p:txBody>
          <a:bodyPr wrap="square" lIns="0" tIns="0" rIns="0" bIns="0" rtlCol="0" anchor="ctr"/>
          <a:lstStyle/>
          <a:p>
            <a:pPr marL="0" indent="0">
              <a:buNone/>
            </a:pPr>
            <a:r>
              <a:rPr lang="en-US" sz="1100" b="1" dirty="0">
                <a:solidFill>
                  <a:srgbClr val="00D9A3"/>
                </a:solidFill>
                <a:latin typeface="Courier New" pitchFamily="34" charset="0"/>
                <a:ea typeface="Courier New" pitchFamily="34" charset="-122"/>
                <a:cs typeface="Courier New" pitchFamily="34" charset="-120"/>
              </a:rPr>
              <a:t>gezeigt</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4"/>
                                        </p:tgtEl>
                                        <p:attrNameLst>
                                          <p:attrName>style.visibility</p:attrName>
                                        </p:attrNameLst>
                                      </p:cBhvr>
                                      <p:to>
                                        <p:strVal val="visible"/>
                                      </p:to>
                                    </p:set>
                                    <p:animEffect transition="in" filter="fade">
                                      <p:cBhvr>
                                        <p:cTn id="7" dur="400"/>
                                        <p:tgtEl>
                                          <p:spTgt spid="74"/>
                                        </p:tgtEl>
                                      </p:cBhvr>
                                    </p:animEffect>
                                  </p:childTnLst>
                                </p:cTn>
                              </p:par>
                              <p:par>
                                <p:cTn id="8" presetID="10" presetClass="entr" presetSubtype="0" fill="hold" nodeType="withEffect">
                                  <p:stCondLst>
                                    <p:cond delay="0"/>
                                  </p:stCondLst>
                                  <p:childTnLst>
                                    <p:set>
                                      <p:cBhvr>
                                        <p:cTn id="9" dur="1" fill="hold">
                                          <p:stCondLst>
                                            <p:cond delay="0"/>
                                          </p:stCondLst>
                                        </p:cTn>
                                        <p:tgtEl>
                                          <p:spTgt spid="75"/>
                                        </p:tgtEl>
                                        <p:attrNameLst>
                                          <p:attrName>style.visibility</p:attrName>
                                        </p:attrNameLst>
                                      </p:cBhvr>
                                      <p:to>
                                        <p:strVal val="visible"/>
                                      </p:to>
                                    </p:set>
                                    <p:animEffect transition="in" filter="fade">
                                      <p:cBhvr>
                                        <p:cTn id="10" dur="400"/>
                                        <p:tgtEl>
                                          <p:spTgt spid="7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6"/>
                                        </p:tgtEl>
                                        <p:attrNameLst>
                                          <p:attrName>style.visibility</p:attrName>
                                        </p:attrNameLst>
                                      </p:cBhvr>
                                      <p:to>
                                        <p:strVal val="visible"/>
                                      </p:to>
                                    </p:set>
                                    <p:animEffect transition="in" filter="fade">
                                      <p:cBhvr>
                                        <p:cTn id="15" dur="400"/>
                                        <p:tgtEl>
                                          <p:spTgt spid="76"/>
                                        </p:tgtEl>
                                      </p:cBhvr>
                                    </p:animEffect>
                                  </p:childTnLst>
                                </p:cTn>
                              </p:par>
                              <p:par>
                                <p:cTn id="16" presetID="10" presetClass="entr" presetSubtype="0" fill="hold" nodeType="withEffect">
                                  <p:stCondLst>
                                    <p:cond delay="0"/>
                                  </p:stCondLst>
                                  <p:childTnLst>
                                    <p:set>
                                      <p:cBhvr>
                                        <p:cTn id="17" dur="1" fill="hold">
                                          <p:stCondLst>
                                            <p:cond delay="0"/>
                                          </p:stCondLst>
                                        </p:cTn>
                                        <p:tgtEl>
                                          <p:spTgt spid="77"/>
                                        </p:tgtEl>
                                        <p:attrNameLst>
                                          <p:attrName>style.visibility</p:attrName>
                                        </p:attrNameLst>
                                      </p:cBhvr>
                                      <p:to>
                                        <p:strVal val="visible"/>
                                      </p:to>
                                    </p:set>
                                    <p:animEffect transition="in" filter="fade">
                                      <p:cBhvr>
                                        <p:cTn id="18" dur="400"/>
                                        <p:tgtEl>
                                          <p:spTgt spid="7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78"/>
                                        </p:tgtEl>
                                        <p:attrNameLst>
                                          <p:attrName>style.visibility</p:attrName>
                                        </p:attrNameLst>
                                      </p:cBhvr>
                                      <p:to>
                                        <p:strVal val="visible"/>
                                      </p:to>
                                    </p:set>
                                    <p:animEffect transition="in" filter="fade">
                                      <p:cBhvr>
                                        <p:cTn id="23" dur="400"/>
                                        <p:tgtEl>
                                          <p:spTgt spid="78"/>
                                        </p:tgtEl>
                                      </p:cBhvr>
                                    </p:animEffect>
                                  </p:childTnLst>
                                </p:cTn>
                              </p:par>
                              <p:par>
                                <p:cTn id="24" presetID="10" presetClass="entr" presetSubtype="0" fill="hold" nodeType="withEffect">
                                  <p:stCondLst>
                                    <p:cond delay="0"/>
                                  </p:stCondLst>
                                  <p:childTnLst>
                                    <p:set>
                                      <p:cBhvr>
                                        <p:cTn id="25" dur="1" fill="hold">
                                          <p:stCondLst>
                                            <p:cond delay="0"/>
                                          </p:stCondLst>
                                        </p:cTn>
                                        <p:tgtEl>
                                          <p:spTgt spid="79"/>
                                        </p:tgtEl>
                                        <p:attrNameLst>
                                          <p:attrName>style.visibility</p:attrName>
                                        </p:attrNameLst>
                                      </p:cBhvr>
                                      <p:to>
                                        <p:strVal val="visible"/>
                                      </p:to>
                                    </p:set>
                                    <p:animEffect transition="in" filter="fade">
                                      <p:cBhvr>
                                        <p:cTn id="26" dur="400"/>
                                        <p:tgtEl>
                                          <p:spTgt spid="7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80"/>
                                        </p:tgtEl>
                                        <p:attrNameLst>
                                          <p:attrName>style.visibility</p:attrName>
                                        </p:attrNameLst>
                                      </p:cBhvr>
                                      <p:to>
                                        <p:strVal val="visible"/>
                                      </p:to>
                                    </p:set>
                                    <p:animEffect transition="in" filter="fade">
                                      <p:cBhvr>
                                        <p:cTn id="31" dur="400"/>
                                        <p:tgtEl>
                                          <p:spTgt spid="80"/>
                                        </p:tgtEl>
                                      </p:cBhvr>
                                    </p:animEffect>
                                  </p:childTnLst>
                                </p:cTn>
                              </p:par>
                              <p:par>
                                <p:cTn id="32" presetID="10" presetClass="entr" presetSubtype="0" fill="hold" nodeType="withEffect">
                                  <p:stCondLst>
                                    <p:cond delay="0"/>
                                  </p:stCondLst>
                                  <p:childTnLst>
                                    <p:set>
                                      <p:cBhvr>
                                        <p:cTn id="33" dur="1" fill="hold">
                                          <p:stCondLst>
                                            <p:cond delay="0"/>
                                          </p:stCondLst>
                                        </p:cTn>
                                        <p:tgtEl>
                                          <p:spTgt spid="81"/>
                                        </p:tgtEl>
                                        <p:attrNameLst>
                                          <p:attrName>style.visibility</p:attrName>
                                        </p:attrNameLst>
                                      </p:cBhvr>
                                      <p:to>
                                        <p:strVal val="visible"/>
                                      </p:to>
                                    </p:set>
                                    <p:animEffect transition="in" filter="fade">
                                      <p:cBhvr>
                                        <p:cTn id="34" dur="4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51E2E"/>
        </a:solidFill>
        <a:effectLst/>
      </p:bgPr>
    </p:bg>
    <p:spTree>
      <p:nvGrpSpPr>
        <p:cNvPr id="1" name=""/>
        <p:cNvGrpSpPr/>
        <p:nvPr/>
      </p:nvGrpSpPr>
      <p:grpSpPr>
        <a:xfrm>
          <a:off x="0" y="0"/>
          <a:ext cx="0" cy="0"/>
          <a:chOff x="0" y="0"/>
          <a:chExt cx="0" cy="0"/>
        </a:xfrm>
      </p:grpSpPr>
      <p:sp>
        <p:nvSpPr>
          <p:cNvPr id="2" name="Text 0"/>
          <p:cNvSpPr/>
          <p:nvPr/>
        </p:nvSpPr>
        <p:spPr>
          <a:xfrm>
            <a:off x="548640" y="1371600"/>
            <a:ext cx="3200400" cy="2377440"/>
          </a:xfrm>
          <a:prstGeom prst="rect">
            <a:avLst/>
          </a:prstGeom>
          <a:noFill/>
          <a:ln/>
        </p:spPr>
        <p:txBody>
          <a:bodyPr wrap="square" lIns="0" tIns="0" rIns="0" bIns="0" rtlCol="0" anchor="ctr"/>
          <a:lstStyle/>
          <a:p>
            <a:pPr marL="0" indent="0">
              <a:buNone/>
            </a:pPr>
            <a:r>
              <a:rPr lang="en-US" sz="13000" b="1" dirty="0">
                <a:solidFill>
                  <a:srgbClr val="1B2638"/>
                </a:solidFill>
                <a:latin typeface="Arial" pitchFamily="34" charset="0"/>
                <a:ea typeface="Arial" pitchFamily="34" charset="-122"/>
                <a:cs typeface="Arial" pitchFamily="34" charset="-120"/>
              </a:rPr>
              <a:t>03</a:t>
            </a:r>
            <a:endParaRPr lang="en-US" sz="13000" dirty="0"/>
          </a:p>
        </p:txBody>
      </p:sp>
      <p:sp>
        <p:nvSpPr>
          <p:cNvPr id="3" name="Text 1"/>
          <p:cNvSpPr/>
          <p:nvPr/>
        </p:nvSpPr>
        <p:spPr>
          <a:xfrm>
            <a:off x="3108960" y="2148840"/>
            <a:ext cx="7863840" cy="822960"/>
          </a:xfrm>
          <a:prstGeom prst="rect">
            <a:avLst/>
          </a:prstGeom>
          <a:noFill/>
          <a:ln/>
        </p:spPr>
        <p:txBody>
          <a:bodyPr wrap="square" lIns="0" tIns="0" rIns="0" bIns="0" rtlCol="0" anchor="ctr"/>
          <a:lstStyle/>
          <a:p>
            <a:pPr marL="0" indent="0">
              <a:buNone/>
            </a:pPr>
            <a:r>
              <a:rPr lang="en-US" sz="4000" b="1" dirty="0">
                <a:solidFill>
                  <a:srgbClr val="E8EDF5"/>
                </a:solidFill>
                <a:latin typeface="Arial" pitchFamily="34" charset="0"/>
                <a:ea typeface="Arial" pitchFamily="34" charset="-122"/>
                <a:cs typeface="Arial" pitchFamily="34" charset="-120"/>
              </a:rPr>
              <a:t>Code</a:t>
            </a:r>
            <a:endParaRPr lang="en-US" sz="4000" dirty="0"/>
          </a:p>
        </p:txBody>
      </p:sp>
      <p:sp>
        <p:nvSpPr>
          <p:cNvPr id="4" name="Text 2"/>
          <p:cNvSpPr/>
          <p:nvPr/>
        </p:nvSpPr>
        <p:spPr>
          <a:xfrm>
            <a:off x="3154680" y="3017520"/>
            <a:ext cx="7680960" cy="365760"/>
          </a:xfrm>
          <a:prstGeom prst="rect">
            <a:avLst/>
          </a:prstGeom>
          <a:noFill/>
          <a:ln/>
        </p:spPr>
        <p:txBody>
          <a:bodyPr wrap="square" lIns="0" tIns="0" rIns="0" bIns="0" rtlCol="0" anchor="ctr"/>
          <a:lstStyle/>
          <a:p>
            <a:pPr marL="0" indent="0">
              <a:buNone/>
            </a:pPr>
            <a:r>
              <a:rPr lang="en-US" sz="1600" dirty="0">
                <a:solidFill>
                  <a:srgbClr val="8FA0B8"/>
                </a:solidFill>
                <a:latin typeface="Calibri" pitchFamily="34" charset="0"/>
                <a:ea typeface="Calibri" pitchFamily="34" charset="-122"/>
                <a:cs typeface="Calibri" pitchFamily="34" charset="-120"/>
              </a:rPr>
              <a:t>Aufbau des Projekts und eingesetzte Capacitor-Plugins</a:t>
            </a:r>
            <a:endParaRPr lang="en-US" sz="1600" dirty="0"/>
          </a:p>
        </p:txBody>
      </p:sp>
      <p:sp>
        <p:nvSpPr>
          <p:cNvPr id="5" name="Shape 3"/>
          <p:cNvSpPr/>
          <p:nvPr/>
        </p:nvSpPr>
        <p:spPr>
          <a:xfrm>
            <a:off x="3154680" y="3749040"/>
            <a:ext cx="109728" cy="320040"/>
          </a:xfrm>
          <a:prstGeom prst="rect">
            <a:avLst/>
          </a:prstGeom>
          <a:solidFill>
            <a:srgbClr val="00D9A3"/>
          </a:solidFill>
          <a:ln w="12700">
            <a:solidFill>
              <a:srgbClr val="00D9A3"/>
            </a:solidFill>
            <a:prstDash val="solid"/>
          </a:ln>
        </p:spPr>
        <p:txBody>
          <a:bodyPr/>
          <a:lstStyle/>
          <a:p>
            <a:endParaRPr lang="en-US"/>
          </a:p>
        </p:txBody>
      </p:sp>
      <p:sp>
        <p:nvSpPr>
          <p:cNvPr id="6" name="Shape 4"/>
          <p:cNvSpPr/>
          <p:nvPr/>
        </p:nvSpPr>
        <p:spPr>
          <a:xfrm>
            <a:off x="3374136" y="3749040"/>
            <a:ext cx="36576" cy="320040"/>
          </a:xfrm>
          <a:prstGeom prst="rect">
            <a:avLst/>
          </a:prstGeom>
          <a:solidFill>
            <a:srgbClr val="00D9A3"/>
          </a:solidFill>
          <a:ln w="12700">
            <a:solidFill>
              <a:srgbClr val="00D9A3"/>
            </a:solidFill>
            <a:prstDash val="solid"/>
          </a:ln>
        </p:spPr>
        <p:txBody>
          <a:bodyPr/>
          <a:lstStyle/>
          <a:p>
            <a:endParaRPr lang="en-US"/>
          </a:p>
        </p:txBody>
      </p:sp>
      <p:sp>
        <p:nvSpPr>
          <p:cNvPr id="7" name="Shape 5"/>
          <p:cNvSpPr/>
          <p:nvPr/>
        </p:nvSpPr>
        <p:spPr>
          <a:xfrm>
            <a:off x="3557016" y="3749040"/>
            <a:ext cx="36576" cy="320040"/>
          </a:xfrm>
          <a:prstGeom prst="rect">
            <a:avLst/>
          </a:prstGeom>
          <a:solidFill>
            <a:srgbClr val="00D9A3"/>
          </a:solidFill>
          <a:ln w="12700">
            <a:solidFill>
              <a:srgbClr val="00D9A3"/>
            </a:solidFill>
            <a:prstDash val="solid"/>
          </a:ln>
        </p:spPr>
        <p:txBody>
          <a:bodyPr/>
          <a:lstStyle/>
          <a:p>
            <a:endParaRPr lang="en-US"/>
          </a:p>
        </p:txBody>
      </p:sp>
      <p:sp>
        <p:nvSpPr>
          <p:cNvPr id="8" name="Shape 6"/>
          <p:cNvSpPr/>
          <p:nvPr/>
        </p:nvSpPr>
        <p:spPr>
          <a:xfrm>
            <a:off x="3813048" y="3749040"/>
            <a:ext cx="36576" cy="320040"/>
          </a:xfrm>
          <a:prstGeom prst="rect">
            <a:avLst/>
          </a:prstGeom>
          <a:solidFill>
            <a:srgbClr val="00D9A3"/>
          </a:solidFill>
          <a:ln w="12700">
            <a:solidFill>
              <a:srgbClr val="00D9A3"/>
            </a:solidFill>
            <a:prstDash val="solid"/>
          </a:ln>
        </p:spPr>
        <p:txBody>
          <a:bodyPr/>
          <a:lstStyle/>
          <a:p>
            <a:endParaRPr lang="en-US"/>
          </a:p>
        </p:txBody>
      </p:sp>
      <p:sp>
        <p:nvSpPr>
          <p:cNvPr id="9" name="Shape 7"/>
          <p:cNvSpPr/>
          <p:nvPr/>
        </p:nvSpPr>
        <p:spPr>
          <a:xfrm>
            <a:off x="3959352" y="3749040"/>
            <a:ext cx="73152" cy="320040"/>
          </a:xfrm>
          <a:prstGeom prst="rect">
            <a:avLst/>
          </a:prstGeom>
          <a:solidFill>
            <a:srgbClr val="00D9A3"/>
          </a:solidFill>
          <a:ln w="12700">
            <a:solidFill>
              <a:srgbClr val="00D9A3"/>
            </a:solidFill>
            <a:prstDash val="solid"/>
          </a:ln>
        </p:spPr>
        <p:txBody>
          <a:bodyPr/>
          <a:lstStyle/>
          <a:p>
            <a:endParaRPr lang="en-US"/>
          </a:p>
        </p:txBody>
      </p:sp>
      <p:sp>
        <p:nvSpPr>
          <p:cNvPr id="10" name="Shape 8"/>
          <p:cNvSpPr/>
          <p:nvPr/>
        </p:nvSpPr>
        <p:spPr>
          <a:xfrm>
            <a:off x="4215384" y="3749040"/>
            <a:ext cx="36576" cy="320040"/>
          </a:xfrm>
          <a:prstGeom prst="rect">
            <a:avLst/>
          </a:prstGeom>
          <a:solidFill>
            <a:srgbClr val="00D9A3"/>
          </a:solidFill>
          <a:ln w="12700">
            <a:solidFill>
              <a:srgbClr val="00D9A3"/>
            </a:solidFill>
            <a:prstDash val="solid"/>
          </a:ln>
        </p:spPr>
        <p:txBody>
          <a:bodyPr/>
          <a:lstStyle/>
          <a:p>
            <a:endParaRPr lang="en-US"/>
          </a:p>
        </p:txBody>
      </p:sp>
      <p:sp>
        <p:nvSpPr>
          <p:cNvPr id="11" name="Shape 9"/>
          <p:cNvSpPr/>
          <p:nvPr/>
        </p:nvSpPr>
        <p:spPr>
          <a:xfrm>
            <a:off x="4361688" y="3749040"/>
            <a:ext cx="36576" cy="320040"/>
          </a:xfrm>
          <a:prstGeom prst="rect">
            <a:avLst/>
          </a:prstGeom>
          <a:solidFill>
            <a:srgbClr val="00D9A3"/>
          </a:solidFill>
          <a:ln w="12700">
            <a:solidFill>
              <a:srgbClr val="00D9A3"/>
            </a:solidFill>
            <a:prstDash val="solid"/>
          </a:ln>
        </p:spPr>
        <p:txBody>
          <a:bodyPr/>
          <a:lstStyle/>
          <a:p>
            <a:endParaRPr lang="en-US"/>
          </a:p>
        </p:txBody>
      </p:sp>
      <p:sp>
        <p:nvSpPr>
          <p:cNvPr id="12" name="Shape 10"/>
          <p:cNvSpPr/>
          <p:nvPr/>
        </p:nvSpPr>
        <p:spPr>
          <a:xfrm>
            <a:off x="4544568" y="3749040"/>
            <a:ext cx="146304" cy="320040"/>
          </a:xfrm>
          <a:prstGeom prst="rect">
            <a:avLst/>
          </a:prstGeom>
          <a:solidFill>
            <a:srgbClr val="00D9A3"/>
          </a:solidFill>
          <a:ln w="12700">
            <a:solidFill>
              <a:srgbClr val="00D9A3"/>
            </a:solidFill>
            <a:prstDash val="solid"/>
          </a:ln>
        </p:spPr>
        <p:txBody>
          <a:bodyPr/>
          <a:lstStyle/>
          <a:p>
            <a:endParaRPr lang="en-US"/>
          </a:p>
        </p:txBody>
      </p:sp>
      <p:sp>
        <p:nvSpPr>
          <p:cNvPr id="13" name="Shape 11"/>
          <p:cNvSpPr/>
          <p:nvPr/>
        </p:nvSpPr>
        <p:spPr>
          <a:xfrm>
            <a:off x="4800600" y="3749040"/>
            <a:ext cx="73152" cy="320040"/>
          </a:xfrm>
          <a:prstGeom prst="rect">
            <a:avLst/>
          </a:prstGeom>
          <a:solidFill>
            <a:srgbClr val="00D9A3"/>
          </a:solidFill>
          <a:ln w="12700">
            <a:solidFill>
              <a:srgbClr val="00D9A3"/>
            </a:solidFill>
            <a:prstDash val="solid"/>
          </a:ln>
        </p:spPr>
        <p:txBody>
          <a:bodyPr/>
          <a:lstStyle/>
          <a:p>
            <a:endParaRPr lang="en-US"/>
          </a:p>
        </p:txBody>
      </p:sp>
      <p:sp>
        <p:nvSpPr>
          <p:cNvPr id="14" name="Shape 12"/>
          <p:cNvSpPr/>
          <p:nvPr/>
        </p:nvSpPr>
        <p:spPr>
          <a:xfrm>
            <a:off x="4983480" y="3749040"/>
            <a:ext cx="36576" cy="320040"/>
          </a:xfrm>
          <a:prstGeom prst="rect">
            <a:avLst/>
          </a:prstGeom>
          <a:solidFill>
            <a:srgbClr val="00D9A3"/>
          </a:solidFill>
          <a:ln w="12700">
            <a:solidFill>
              <a:srgbClr val="00D9A3"/>
            </a:solidFill>
            <a:prstDash val="solid"/>
          </a:ln>
        </p:spPr>
        <p:txBody>
          <a:bodyPr/>
          <a:lstStyle/>
          <a:p>
            <a:endParaRPr lang="en-US"/>
          </a:p>
        </p:txBody>
      </p:sp>
      <p:sp>
        <p:nvSpPr>
          <p:cNvPr id="15" name="Shape 13"/>
          <p:cNvSpPr/>
          <p:nvPr/>
        </p:nvSpPr>
        <p:spPr>
          <a:xfrm>
            <a:off x="5202936" y="3749040"/>
            <a:ext cx="36576" cy="320040"/>
          </a:xfrm>
          <a:prstGeom prst="rect">
            <a:avLst/>
          </a:prstGeom>
          <a:solidFill>
            <a:srgbClr val="00D9A3"/>
          </a:solidFill>
          <a:ln w="12700">
            <a:solidFill>
              <a:srgbClr val="00D9A3"/>
            </a:solidFill>
            <a:prstDash val="solid"/>
          </a:ln>
        </p:spPr>
        <p:txBody>
          <a:bodyPr/>
          <a:lstStyle/>
          <a:p>
            <a:endParaRPr lang="en-US"/>
          </a:p>
        </p:txBody>
      </p:sp>
      <p:sp>
        <p:nvSpPr>
          <p:cNvPr id="16" name="Shape 14"/>
          <p:cNvSpPr/>
          <p:nvPr/>
        </p:nvSpPr>
        <p:spPr>
          <a:xfrm>
            <a:off x="5385816" y="3749040"/>
            <a:ext cx="36576" cy="320040"/>
          </a:xfrm>
          <a:prstGeom prst="rect">
            <a:avLst/>
          </a:prstGeom>
          <a:solidFill>
            <a:srgbClr val="00D9A3"/>
          </a:solidFill>
          <a:ln w="12700">
            <a:solidFill>
              <a:srgbClr val="00D9A3"/>
            </a:solidFill>
            <a:prstDash val="solid"/>
          </a:ln>
        </p:spPr>
        <p:txBody>
          <a:bodyPr/>
          <a:lstStyle/>
          <a:p>
            <a:endParaRPr lang="en-US"/>
          </a:p>
        </p:txBody>
      </p:sp>
      <p:sp>
        <p:nvSpPr>
          <p:cNvPr id="17" name="Shape 15"/>
          <p:cNvSpPr/>
          <p:nvPr/>
        </p:nvSpPr>
        <p:spPr>
          <a:xfrm>
            <a:off x="5532120" y="3749040"/>
            <a:ext cx="146304" cy="320040"/>
          </a:xfrm>
          <a:prstGeom prst="rect">
            <a:avLst/>
          </a:prstGeom>
          <a:solidFill>
            <a:srgbClr val="00D9A3"/>
          </a:solidFill>
          <a:ln w="12700">
            <a:solidFill>
              <a:srgbClr val="00D9A3"/>
            </a:solidFill>
            <a:prstDash val="solid"/>
          </a:ln>
        </p:spPr>
        <p:txBody>
          <a:bodyPr/>
          <a:lstStyle/>
          <a:p>
            <a:endParaRPr lang="en-US"/>
          </a:p>
        </p:txBody>
      </p:sp>
      <p:sp>
        <p:nvSpPr>
          <p:cNvPr id="18" name="Shape 16"/>
          <p:cNvSpPr/>
          <p:nvPr/>
        </p:nvSpPr>
        <p:spPr>
          <a:xfrm>
            <a:off x="5788152" y="3749040"/>
            <a:ext cx="36576" cy="320040"/>
          </a:xfrm>
          <a:prstGeom prst="rect">
            <a:avLst/>
          </a:prstGeom>
          <a:solidFill>
            <a:srgbClr val="00D9A3"/>
          </a:solidFill>
          <a:ln w="12700">
            <a:solidFill>
              <a:srgbClr val="00D9A3"/>
            </a:solidFill>
            <a:prstDash val="solid"/>
          </a:ln>
        </p:spPr>
        <p:txBody>
          <a:bodyPr/>
          <a:lstStyle/>
          <a:p>
            <a:endParaRPr lang="en-US"/>
          </a:p>
        </p:txBody>
      </p:sp>
      <p:sp>
        <p:nvSpPr>
          <p:cNvPr id="19" name="Shape 17"/>
          <p:cNvSpPr/>
          <p:nvPr/>
        </p:nvSpPr>
        <p:spPr>
          <a:xfrm>
            <a:off x="5971032" y="3749040"/>
            <a:ext cx="36576" cy="320040"/>
          </a:xfrm>
          <a:prstGeom prst="rect">
            <a:avLst/>
          </a:prstGeom>
          <a:solidFill>
            <a:srgbClr val="00D9A3"/>
          </a:solidFill>
          <a:ln w="12700">
            <a:solidFill>
              <a:srgbClr val="00D9A3"/>
            </a:solidFill>
            <a:prstDash val="solid"/>
          </a:ln>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640080" y="411480"/>
            <a:ext cx="548640" cy="274320"/>
          </a:xfrm>
          <a:prstGeom prst="rect">
            <a:avLst/>
          </a:prstGeom>
          <a:noFill/>
          <a:ln/>
        </p:spPr>
        <p:txBody>
          <a:bodyPr wrap="square" lIns="0" tIns="0" rIns="0" bIns="0" rtlCol="0" anchor="ctr"/>
          <a:lstStyle/>
          <a:p>
            <a:pPr marL="0" indent="0">
              <a:buNone/>
            </a:pPr>
            <a:r>
              <a:rPr lang="en-US" sz="1200" b="1" dirty="0">
                <a:solidFill>
                  <a:srgbClr val="00D9A3"/>
                </a:solidFill>
                <a:latin typeface="Courier New" pitchFamily="34" charset="0"/>
                <a:ea typeface="Courier New" pitchFamily="34" charset="-122"/>
                <a:cs typeface="Courier New" pitchFamily="34" charset="-120"/>
              </a:rPr>
              <a:t>03</a:t>
            </a:r>
            <a:endParaRPr lang="en-US" sz="1200" dirty="0"/>
          </a:p>
        </p:txBody>
      </p:sp>
      <p:sp>
        <p:nvSpPr>
          <p:cNvPr id="3" name="Text 1"/>
          <p:cNvSpPr/>
          <p:nvPr/>
        </p:nvSpPr>
        <p:spPr>
          <a:xfrm>
            <a:off x="1143000" y="411480"/>
            <a:ext cx="7315200" cy="274320"/>
          </a:xfrm>
          <a:prstGeom prst="rect">
            <a:avLst/>
          </a:prstGeom>
          <a:noFill/>
          <a:ln/>
        </p:spPr>
        <p:txBody>
          <a:bodyPr wrap="square" lIns="0" tIns="0" rIns="0" bIns="0" rtlCol="0" anchor="ctr"/>
          <a:lstStyle/>
          <a:p>
            <a:pPr marL="0" indent="0">
              <a:buNone/>
            </a:pPr>
            <a:r>
              <a:rPr lang="en-US" sz="1200" kern="0" spc="100" dirty="0">
                <a:solidFill>
                  <a:srgbClr val="8FA0B8"/>
                </a:solidFill>
                <a:latin typeface="Courier New" pitchFamily="34" charset="0"/>
                <a:ea typeface="Courier New" pitchFamily="34" charset="-122"/>
                <a:cs typeface="Courier New" pitchFamily="34" charset="-120"/>
              </a:rPr>
              <a:t>CODE</a:t>
            </a:r>
            <a:endParaRPr lang="en-US" sz="1200" dirty="0"/>
          </a:p>
        </p:txBody>
      </p:sp>
      <p:sp>
        <p:nvSpPr>
          <p:cNvPr id="4" name="Text 2"/>
          <p:cNvSpPr/>
          <p:nvPr/>
        </p:nvSpPr>
        <p:spPr>
          <a:xfrm>
            <a:off x="640080" y="777240"/>
            <a:ext cx="10881360" cy="685800"/>
          </a:xfrm>
          <a:prstGeom prst="rect">
            <a:avLst/>
          </a:prstGeom>
          <a:noFill/>
          <a:ln/>
        </p:spPr>
        <p:txBody>
          <a:bodyPr wrap="square" lIns="0" tIns="0" rIns="0" bIns="0" rtlCol="0" anchor="ctr"/>
          <a:lstStyle/>
          <a:p>
            <a:pPr marL="0" indent="0">
              <a:buNone/>
            </a:pPr>
            <a:r>
              <a:rPr lang="en-US" sz="3400" b="1" dirty="0">
                <a:solidFill>
                  <a:srgbClr val="E8EDF5"/>
                </a:solidFill>
                <a:latin typeface="Arial" pitchFamily="34" charset="0"/>
                <a:ea typeface="Arial" pitchFamily="34" charset="-122"/>
                <a:cs typeface="Arial" pitchFamily="34" charset="-120"/>
              </a:rPr>
              <a:t>Eingesetzte Plugins</a:t>
            </a:r>
            <a:endParaRPr lang="en-US" sz="3400" dirty="0"/>
          </a:p>
        </p:txBody>
      </p:sp>
      <p:sp>
        <p:nvSpPr>
          <p:cNvPr id="5" name="Shape 3"/>
          <p:cNvSpPr/>
          <p:nvPr/>
        </p:nvSpPr>
        <p:spPr>
          <a:xfrm>
            <a:off x="640080" y="1828800"/>
            <a:ext cx="5285232" cy="868680"/>
          </a:xfrm>
          <a:prstGeom prst="roundRect">
            <a:avLst>
              <a:gd name="adj" fmla="val 6316"/>
            </a:avLst>
          </a:prstGeom>
          <a:solidFill>
            <a:srgbClr val="151E2E"/>
          </a:solidFill>
          <a:ln w="12700">
            <a:solidFill>
              <a:srgbClr val="24314A"/>
            </a:solidFill>
            <a:prstDash val="solid"/>
          </a:ln>
        </p:spPr>
        <p:txBody>
          <a:bodyPr/>
          <a:lstStyle/>
          <a:p>
            <a:endParaRPr lang="en-US"/>
          </a:p>
        </p:txBody>
      </p:sp>
      <p:sp>
        <p:nvSpPr>
          <p:cNvPr id="6" name="Text 4"/>
          <p:cNvSpPr/>
          <p:nvPr/>
        </p:nvSpPr>
        <p:spPr>
          <a:xfrm>
            <a:off x="960120" y="1975104"/>
            <a:ext cx="2377440" cy="274320"/>
          </a:xfrm>
          <a:prstGeom prst="rect">
            <a:avLst/>
          </a:prstGeom>
          <a:noFill/>
          <a:ln/>
        </p:spPr>
        <p:txBody>
          <a:bodyPr wrap="square" lIns="0" tIns="0" rIns="0" bIns="0" rtlCol="0" anchor="ctr"/>
          <a:lstStyle/>
          <a:p>
            <a:pPr marL="0" indent="0">
              <a:buNone/>
            </a:pPr>
            <a:r>
              <a:rPr lang="en-US" sz="1300" b="1" dirty="0">
                <a:solidFill>
                  <a:srgbClr val="00D9A3"/>
                </a:solidFill>
                <a:latin typeface="Courier New" pitchFamily="34" charset="0"/>
                <a:ea typeface="Courier New" pitchFamily="34" charset="-122"/>
                <a:cs typeface="Courier New" pitchFamily="34" charset="-120"/>
              </a:rPr>
              <a:t>Barcode Plugin</a:t>
            </a:r>
            <a:endParaRPr lang="en-US" sz="1300" dirty="0"/>
          </a:p>
        </p:txBody>
      </p:sp>
      <p:sp>
        <p:nvSpPr>
          <p:cNvPr id="7" name="Text 5"/>
          <p:cNvSpPr/>
          <p:nvPr/>
        </p:nvSpPr>
        <p:spPr>
          <a:xfrm>
            <a:off x="960120" y="2286000"/>
            <a:ext cx="4663440" cy="274320"/>
          </a:xfrm>
          <a:prstGeom prst="rect">
            <a:avLst/>
          </a:prstGeom>
          <a:noFill/>
          <a:ln/>
        </p:spPr>
        <p:txBody>
          <a:bodyPr wrap="square" lIns="0" tIns="0" rIns="0" bIns="0" rtlCol="0" anchor="ctr"/>
          <a:lstStyle/>
          <a:p>
            <a:pPr marL="0" indent="0">
              <a:buNone/>
            </a:pPr>
            <a:r>
              <a:rPr lang="en-US" sz="1300" dirty="0">
                <a:solidFill>
                  <a:srgbClr val="8FA0B8"/>
                </a:solidFill>
                <a:latin typeface="Calibri" pitchFamily="34" charset="0"/>
                <a:ea typeface="Calibri" pitchFamily="34" charset="-122"/>
                <a:cs typeface="Calibri" pitchFamily="34" charset="-120"/>
              </a:rPr>
              <a:t>Kamerazugriff und Dekodierung der Codes</a:t>
            </a:r>
            <a:endParaRPr lang="en-US" sz="1300" dirty="0"/>
          </a:p>
        </p:txBody>
      </p:sp>
      <p:sp>
        <p:nvSpPr>
          <p:cNvPr id="8" name="Shape 6"/>
          <p:cNvSpPr/>
          <p:nvPr/>
        </p:nvSpPr>
        <p:spPr>
          <a:xfrm>
            <a:off x="6263640" y="1828800"/>
            <a:ext cx="5285232" cy="868680"/>
          </a:xfrm>
          <a:prstGeom prst="roundRect">
            <a:avLst>
              <a:gd name="adj" fmla="val 6316"/>
            </a:avLst>
          </a:prstGeom>
          <a:solidFill>
            <a:srgbClr val="151E2E"/>
          </a:solidFill>
          <a:ln w="12700">
            <a:solidFill>
              <a:srgbClr val="24314A"/>
            </a:solidFill>
            <a:prstDash val="solid"/>
          </a:ln>
        </p:spPr>
        <p:txBody>
          <a:bodyPr/>
          <a:lstStyle/>
          <a:p>
            <a:endParaRPr lang="en-US"/>
          </a:p>
        </p:txBody>
      </p:sp>
      <p:sp>
        <p:nvSpPr>
          <p:cNvPr id="9" name="Text 7"/>
          <p:cNvSpPr/>
          <p:nvPr/>
        </p:nvSpPr>
        <p:spPr>
          <a:xfrm>
            <a:off x="6583680" y="1975104"/>
            <a:ext cx="2377440" cy="274320"/>
          </a:xfrm>
          <a:prstGeom prst="rect">
            <a:avLst/>
          </a:prstGeom>
          <a:noFill/>
          <a:ln/>
        </p:spPr>
        <p:txBody>
          <a:bodyPr wrap="square" lIns="0" tIns="0" rIns="0" bIns="0" rtlCol="0" anchor="ctr"/>
          <a:lstStyle/>
          <a:p>
            <a:pPr marL="0" indent="0">
              <a:buNone/>
            </a:pPr>
            <a:r>
              <a:rPr lang="en-US" sz="1300" b="1" dirty="0">
                <a:solidFill>
                  <a:srgbClr val="00D9A3"/>
                </a:solidFill>
                <a:latin typeface="Courier New" pitchFamily="34" charset="0"/>
                <a:ea typeface="Courier New" pitchFamily="34" charset="-122"/>
                <a:cs typeface="Courier New" pitchFamily="34" charset="-120"/>
              </a:rPr>
              <a:t>Clipboard</a:t>
            </a:r>
            <a:endParaRPr lang="en-US" sz="1300" dirty="0"/>
          </a:p>
        </p:txBody>
      </p:sp>
      <p:sp>
        <p:nvSpPr>
          <p:cNvPr id="10" name="Text 8"/>
          <p:cNvSpPr/>
          <p:nvPr/>
        </p:nvSpPr>
        <p:spPr>
          <a:xfrm>
            <a:off x="6583680" y="2286000"/>
            <a:ext cx="4663440" cy="274320"/>
          </a:xfrm>
          <a:prstGeom prst="rect">
            <a:avLst/>
          </a:prstGeom>
          <a:noFill/>
          <a:ln/>
        </p:spPr>
        <p:txBody>
          <a:bodyPr wrap="square" lIns="0" tIns="0" rIns="0" bIns="0" rtlCol="0" anchor="ctr"/>
          <a:lstStyle/>
          <a:p>
            <a:pPr marL="0" indent="0">
              <a:buNone/>
            </a:pPr>
            <a:r>
              <a:rPr lang="en-US" sz="1300" dirty="0">
                <a:solidFill>
                  <a:srgbClr val="8FA0B8"/>
                </a:solidFill>
                <a:latin typeface="Calibri" pitchFamily="34" charset="0"/>
                <a:ea typeface="Calibri" pitchFamily="34" charset="-122"/>
                <a:cs typeface="Calibri" pitchFamily="34" charset="-120"/>
              </a:rPr>
              <a:t>Inhalte in die Zwischenablage kopieren</a:t>
            </a:r>
            <a:endParaRPr lang="en-US" sz="1300" dirty="0"/>
          </a:p>
        </p:txBody>
      </p:sp>
      <p:sp>
        <p:nvSpPr>
          <p:cNvPr id="11" name="Shape 9"/>
          <p:cNvSpPr/>
          <p:nvPr/>
        </p:nvSpPr>
        <p:spPr>
          <a:xfrm>
            <a:off x="640080" y="2880360"/>
            <a:ext cx="5285232" cy="868680"/>
          </a:xfrm>
          <a:prstGeom prst="roundRect">
            <a:avLst>
              <a:gd name="adj" fmla="val 6316"/>
            </a:avLst>
          </a:prstGeom>
          <a:solidFill>
            <a:srgbClr val="151E2E"/>
          </a:solidFill>
          <a:ln w="12700">
            <a:solidFill>
              <a:srgbClr val="24314A"/>
            </a:solidFill>
            <a:prstDash val="solid"/>
          </a:ln>
        </p:spPr>
        <p:txBody>
          <a:bodyPr/>
          <a:lstStyle/>
          <a:p>
            <a:endParaRPr lang="en-US"/>
          </a:p>
        </p:txBody>
      </p:sp>
      <p:sp>
        <p:nvSpPr>
          <p:cNvPr id="12" name="Text 10"/>
          <p:cNvSpPr/>
          <p:nvPr/>
        </p:nvSpPr>
        <p:spPr>
          <a:xfrm>
            <a:off x="960120" y="3026664"/>
            <a:ext cx="2377440" cy="274320"/>
          </a:xfrm>
          <a:prstGeom prst="rect">
            <a:avLst/>
          </a:prstGeom>
          <a:noFill/>
          <a:ln/>
        </p:spPr>
        <p:txBody>
          <a:bodyPr wrap="square" lIns="0" tIns="0" rIns="0" bIns="0" rtlCol="0" anchor="ctr"/>
          <a:lstStyle/>
          <a:p>
            <a:pPr marL="0" indent="0">
              <a:buNone/>
            </a:pPr>
            <a:r>
              <a:rPr lang="en-US" sz="1300" b="1" dirty="0">
                <a:solidFill>
                  <a:srgbClr val="00D9A3"/>
                </a:solidFill>
                <a:latin typeface="Courier New" pitchFamily="34" charset="0"/>
                <a:ea typeface="Courier New" pitchFamily="34" charset="-122"/>
                <a:cs typeface="Courier New" pitchFamily="34" charset="-120"/>
              </a:rPr>
              <a:t>File Picker</a:t>
            </a:r>
            <a:endParaRPr lang="en-US" sz="1300" dirty="0"/>
          </a:p>
        </p:txBody>
      </p:sp>
      <p:sp>
        <p:nvSpPr>
          <p:cNvPr id="13" name="Text 11"/>
          <p:cNvSpPr/>
          <p:nvPr/>
        </p:nvSpPr>
        <p:spPr>
          <a:xfrm>
            <a:off x="960120" y="3337560"/>
            <a:ext cx="4663440" cy="274320"/>
          </a:xfrm>
          <a:prstGeom prst="rect">
            <a:avLst/>
          </a:prstGeom>
          <a:noFill/>
          <a:ln/>
        </p:spPr>
        <p:txBody>
          <a:bodyPr wrap="square" lIns="0" tIns="0" rIns="0" bIns="0" rtlCol="0" anchor="ctr"/>
          <a:lstStyle/>
          <a:p>
            <a:pPr marL="0" indent="0">
              <a:buNone/>
            </a:pPr>
            <a:r>
              <a:rPr lang="en-US" sz="1300" dirty="0">
                <a:solidFill>
                  <a:srgbClr val="8FA0B8"/>
                </a:solidFill>
                <a:latin typeface="Calibri" pitchFamily="34" charset="0"/>
                <a:ea typeface="Calibri" pitchFamily="34" charset="-122"/>
                <a:cs typeface="Calibri" pitchFamily="34" charset="-120"/>
              </a:rPr>
              <a:t>Bilder mit Barcodes aus dem Speicher laden</a:t>
            </a:r>
            <a:endParaRPr lang="en-US" sz="1300" dirty="0"/>
          </a:p>
        </p:txBody>
      </p:sp>
      <p:sp>
        <p:nvSpPr>
          <p:cNvPr id="14" name="Shape 12"/>
          <p:cNvSpPr/>
          <p:nvPr/>
        </p:nvSpPr>
        <p:spPr>
          <a:xfrm>
            <a:off x="6263640" y="2880360"/>
            <a:ext cx="5285232" cy="868680"/>
          </a:xfrm>
          <a:prstGeom prst="roundRect">
            <a:avLst>
              <a:gd name="adj" fmla="val 6316"/>
            </a:avLst>
          </a:prstGeom>
          <a:solidFill>
            <a:srgbClr val="151E2E"/>
          </a:solidFill>
          <a:ln w="12700">
            <a:solidFill>
              <a:srgbClr val="24314A"/>
            </a:solidFill>
            <a:prstDash val="solid"/>
          </a:ln>
        </p:spPr>
        <p:txBody>
          <a:bodyPr/>
          <a:lstStyle/>
          <a:p>
            <a:endParaRPr lang="en-US"/>
          </a:p>
        </p:txBody>
      </p:sp>
      <p:sp>
        <p:nvSpPr>
          <p:cNvPr id="15" name="Text 13"/>
          <p:cNvSpPr/>
          <p:nvPr/>
        </p:nvSpPr>
        <p:spPr>
          <a:xfrm>
            <a:off x="6583680" y="3026664"/>
            <a:ext cx="2377440" cy="274320"/>
          </a:xfrm>
          <a:prstGeom prst="rect">
            <a:avLst/>
          </a:prstGeom>
          <a:noFill/>
          <a:ln/>
        </p:spPr>
        <p:txBody>
          <a:bodyPr wrap="square" lIns="0" tIns="0" rIns="0" bIns="0" rtlCol="0" anchor="ctr"/>
          <a:lstStyle/>
          <a:p>
            <a:pPr marL="0" indent="0">
              <a:buNone/>
            </a:pPr>
            <a:r>
              <a:rPr lang="en-US" sz="1300" b="1" dirty="0">
                <a:solidFill>
                  <a:srgbClr val="00D9A3"/>
                </a:solidFill>
                <a:latin typeface="Courier New" pitchFamily="34" charset="0"/>
                <a:ea typeface="Courier New" pitchFamily="34" charset="-122"/>
                <a:cs typeface="Courier New" pitchFamily="34" charset="-120"/>
              </a:rPr>
              <a:t>Haptics</a:t>
            </a:r>
            <a:endParaRPr lang="en-US" sz="1300" dirty="0"/>
          </a:p>
        </p:txBody>
      </p:sp>
      <p:sp>
        <p:nvSpPr>
          <p:cNvPr id="16" name="Text 14"/>
          <p:cNvSpPr/>
          <p:nvPr/>
        </p:nvSpPr>
        <p:spPr>
          <a:xfrm>
            <a:off x="6583680" y="3337560"/>
            <a:ext cx="4663440" cy="274320"/>
          </a:xfrm>
          <a:prstGeom prst="rect">
            <a:avLst/>
          </a:prstGeom>
          <a:noFill/>
          <a:ln/>
        </p:spPr>
        <p:txBody>
          <a:bodyPr wrap="square" lIns="0" tIns="0" rIns="0" bIns="0" rtlCol="0" anchor="ctr"/>
          <a:lstStyle/>
          <a:p>
            <a:pPr marL="0" indent="0">
              <a:buNone/>
            </a:pPr>
            <a:r>
              <a:rPr lang="en-US" sz="1300" dirty="0">
                <a:solidFill>
                  <a:srgbClr val="8FA0B8"/>
                </a:solidFill>
                <a:latin typeface="Calibri" pitchFamily="34" charset="0"/>
                <a:ea typeface="Calibri" pitchFamily="34" charset="-122"/>
                <a:cs typeface="Calibri" pitchFamily="34" charset="-120"/>
              </a:rPr>
              <a:t>Haptisches Feedback bei erfolgreichem Scan</a:t>
            </a:r>
            <a:endParaRPr lang="en-US" sz="1300" dirty="0"/>
          </a:p>
        </p:txBody>
      </p:sp>
      <p:sp>
        <p:nvSpPr>
          <p:cNvPr id="17" name="Shape 15"/>
          <p:cNvSpPr/>
          <p:nvPr/>
        </p:nvSpPr>
        <p:spPr>
          <a:xfrm>
            <a:off x="640080" y="3931920"/>
            <a:ext cx="5285232" cy="868680"/>
          </a:xfrm>
          <a:prstGeom prst="roundRect">
            <a:avLst>
              <a:gd name="adj" fmla="val 6316"/>
            </a:avLst>
          </a:prstGeom>
          <a:solidFill>
            <a:srgbClr val="151E2E"/>
          </a:solidFill>
          <a:ln w="12700">
            <a:solidFill>
              <a:srgbClr val="24314A"/>
            </a:solidFill>
            <a:prstDash val="solid"/>
          </a:ln>
        </p:spPr>
        <p:txBody>
          <a:bodyPr/>
          <a:lstStyle/>
          <a:p>
            <a:endParaRPr lang="en-US"/>
          </a:p>
        </p:txBody>
      </p:sp>
      <p:sp>
        <p:nvSpPr>
          <p:cNvPr id="18" name="Text 16"/>
          <p:cNvSpPr/>
          <p:nvPr/>
        </p:nvSpPr>
        <p:spPr>
          <a:xfrm>
            <a:off x="960120" y="4078224"/>
            <a:ext cx="2377440" cy="274320"/>
          </a:xfrm>
          <a:prstGeom prst="rect">
            <a:avLst/>
          </a:prstGeom>
          <a:noFill/>
          <a:ln/>
        </p:spPr>
        <p:txBody>
          <a:bodyPr wrap="square" lIns="0" tIns="0" rIns="0" bIns="0" rtlCol="0" anchor="ctr"/>
          <a:lstStyle/>
          <a:p>
            <a:pPr marL="0" indent="0">
              <a:buNone/>
            </a:pPr>
            <a:r>
              <a:rPr lang="en-US" sz="1300" b="1" dirty="0">
                <a:solidFill>
                  <a:srgbClr val="00D9A3"/>
                </a:solidFill>
                <a:latin typeface="Courier New" pitchFamily="34" charset="0"/>
                <a:ea typeface="Courier New" pitchFamily="34" charset="-122"/>
                <a:cs typeface="Courier New" pitchFamily="34" charset="-120"/>
              </a:rPr>
              <a:t>In-App Browser</a:t>
            </a:r>
            <a:endParaRPr lang="en-US" sz="1300" dirty="0"/>
          </a:p>
        </p:txBody>
      </p:sp>
      <p:sp>
        <p:nvSpPr>
          <p:cNvPr id="19" name="Text 17"/>
          <p:cNvSpPr/>
          <p:nvPr/>
        </p:nvSpPr>
        <p:spPr>
          <a:xfrm>
            <a:off x="960120" y="4389120"/>
            <a:ext cx="4663440" cy="274320"/>
          </a:xfrm>
          <a:prstGeom prst="rect">
            <a:avLst/>
          </a:prstGeom>
          <a:noFill/>
          <a:ln/>
        </p:spPr>
        <p:txBody>
          <a:bodyPr wrap="square" lIns="0" tIns="0" rIns="0" bIns="0" rtlCol="0" anchor="ctr"/>
          <a:lstStyle/>
          <a:p>
            <a:pPr marL="0" indent="0">
              <a:buNone/>
            </a:pPr>
            <a:r>
              <a:rPr lang="en-US" sz="1300" dirty="0">
                <a:solidFill>
                  <a:srgbClr val="8FA0B8"/>
                </a:solidFill>
                <a:latin typeface="Calibri" pitchFamily="34" charset="0"/>
                <a:ea typeface="Calibri" pitchFamily="34" charset="-122"/>
                <a:cs typeface="Calibri" pitchFamily="34" charset="-120"/>
              </a:rPr>
              <a:t>URLs und Karten ohne Verlassen der App</a:t>
            </a:r>
            <a:endParaRPr lang="en-US" sz="1300" dirty="0"/>
          </a:p>
        </p:txBody>
      </p:sp>
      <p:sp>
        <p:nvSpPr>
          <p:cNvPr id="20" name="Shape 18"/>
          <p:cNvSpPr/>
          <p:nvPr/>
        </p:nvSpPr>
        <p:spPr>
          <a:xfrm>
            <a:off x="6263640" y="3931920"/>
            <a:ext cx="5285232" cy="868680"/>
          </a:xfrm>
          <a:prstGeom prst="roundRect">
            <a:avLst>
              <a:gd name="adj" fmla="val 6316"/>
            </a:avLst>
          </a:prstGeom>
          <a:solidFill>
            <a:srgbClr val="151E2E"/>
          </a:solidFill>
          <a:ln w="12700">
            <a:solidFill>
              <a:srgbClr val="24314A"/>
            </a:solidFill>
            <a:prstDash val="solid"/>
          </a:ln>
        </p:spPr>
        <p:txBody>
          <a:bodyPr/>
          <a:lstStyle/>
          <a:p>
            <a:endParaRPr lang="en-US"/>
          </a:p>
        </p:txBody>
      </p:sp>
      <p:sp>
        <p:nvSpPr>
          <p:cNvPr id="21" name="Text 19"/>
          <p:cNvSpPr/>
          <p:nvPr/>
        </p:nvSpPr>
        <p:spPr>
          <a:xfrm>
            <a:off x="6583680" y="4078224"/>
            <a:ext cx="2377440" cy="274320"/>
          </a:xfrm>
          <a:prstGeom prst="rect">
            <a:avLst/>
          </a:prstGeom>
          <a:noFill/>
          <a:ln/>
        </p:spPr>
        <p:txBody>
          <a:bodyPr wrap="square" lIns="0" tIns="0" rIns="0" bIns="0" rtlCol="0" anchor="ctr"/>
          <a:lstStyle/>
          <a:p>
            <a:pPr marL="0" indent="0">
              <a:buNone/>
            </a:pPr>
            <a:r>
              <a:rPr lang="en-US" sz="1300" b="1" dirty="0">
                <a:solidFill>
                  <a:srgbClr val="00D9A3"/>
                </a:solidFill>
                <a:latin typeface="Courier New" pitchFamily="34" charset="0"/>
                <a:ea typeface="Courier New" pitchFamily="34" charset="-122"/>
                <a:cs typeface="Courier New" pitchFamily="34" charset="-120"/>
              </a:rPr>
              <a:t>Preferences</a:t>
            </a:r>
            <a:endParaRPr lang="en-US" sz="1300" dirty="0"/>
          </a:p>
        </p:txBody>
      </p:sp>
      <p:sp>
        <p:nvSpPr>
          <p:cNvPr id="22" name="Text 20"/>
          <p:cNvSpPr/>
          <p:nvPr/>
        </p:nvSpPr>
        <p:spPr>
          <a:xfrm>
            <a:off x="6583680" y="4389120"/>
            <a:ext cx="4663440" cy="274320"/>
          </a:xfrm>
          <a:prstGeom prst="rect">
            <a:avLst/>
          </a:prstGeom>
          <a:noFill/>
          <a:ln/>
        </p:spPr>
        <p:txBody>
          <a:bodyPr wrap="square" lIns="0" tIns="0" rIns="0" bIns="0" rtlCol="0" anchor="ctr"/>
          <a:lstStyle/>
          <a:p>
            <a:pPr marL="0" indent="0">
              <a:buNone/>
            </a:pPr>
            <a:r>
              <a:rPr lang="en-US" sz="1300" dirty="0">
                <a:solidFill>
                  <a:srgbClr val="8FA0B8"/>
                </a:solidFill>
                <a:latin typeface="Calibri" pitchFamily="34" charset="0"/>
                <a:ea typeface="Calibri" pitchFamily="34" charset="-122"/>
                <a:cs typeface="Calibri" pitchFamily="34" charset="-120"/>
              </a:rPr>
              <a:t>Lokale Speicherung der Scan-Historie</a:t>
            </a:r>
            <a:endParaRPr lang="en-US" sz="1300" dirty="0"/>
          </a:p>
        </p:txBody>
      </p:sp>
      <p:sp>
        <p:nvSpPr>
          <p:cNvPr id="23" name="Shape 21"/>
          <p:cNvSpPr/>
          <p:nvPr/>
        </p:nvSpPr>
        <p:spPr>
          <a:xfrm>
            <a:off x="640080" y="4983480"/>
            <a:ext cx="5285232" cy="868680"/>
          </a:xfrm>
          <a:prstGeom prst="roundRect">
            <a:avLst>
              <a:gd name="adj" fmla="val 6316"/>
            </a:avLst>
          </a:prstGeom>
          <a:solidFill>
            <a:srgbClr val="151E2E"/>
          </a:solidFill>
          <a:ln w="12700">
            <a:solidFill>
              <a:srgbClr val="24314A"/>
            </a:solidFill>
            <a:prstDash val="solid"/>
          </a:ln>
        </p:spPr>
        <p:txBody>
          <a:bodyPr/>
          <a:lstStyle/>
          <a:p>
            <a:endParaRPr lang="en-US"/>
          </a:p>
        </p:txBody>
      </p:sp>
      <p:sp>
        <p:nvSpPr>
          <p:cNvPr id="24" name="Text 22"/>
          <p:cNvSpPr/>
          <p:nvPr/>
        </p:nvSpPr>
        <p:spPr>
          <a:xfrm>
            <a:off x="960120" y="5129784"/>
            <a:ext cx="2377440" cy="274320"/>
          </a:xfrm>
          <a:prstGeom prst="rect">
            <a:avLst/>
          </a:prstGeom>
          <a:noFill/>
          <a:ln/>
        </p:spPr>
        <p:txBody>
          <a:bodyPr wrap="square" lIns="0" tIns="0" rIns="0" bIns="0" rtlCol="0" anchor="ctr"/>
          <a:lstStyle/>
          <a:p>
            <a:pPr marL="0" indent="0">
              <a:buNone/>
            </a:pPr>
            <a:r>
              <a:rPr lang="en-US" sz="1300" b="1" dirty="0">
                <a:solidFill>
                  <a:srgbClr val="00D9A3"/>
                </a:solidFill>
                <a:latin typeface="Courier New" pitchFamily="34" charset="0"/>
                <a:ea typeface="Courier New" pitchFamily="34" charset="-122"/>
                <a:cs typeface="Courier New" pitchFamily="34" charset="-120"/>
              </a:rPr>
              <a:t>Share</a:t>
            </a:r>
            <a:endParaRPr lang="en-US" sz="1300" dirty="0"/>
          </a:p>
        </p:txBody>
      </p:sp>
      <p:sp>
        <p:nvSpPr>
          <p:cNvPr id="25" name="Text 23"/>
          <p:cNvSpPr/>
          <p:nvPr/>
        </p:nvSpPr>
        <p:spPr>
          <a:xfrm>
            <a:off x="960120" y="5440680"/>
            <a:ext cx="4663440" cy="274320"/>
          </a:xfrm>
          <a:prstGeom prst="rect">
            <a:avLst/>
          </a:prstGeom>
          <a:noFill/>
          <a:ln/>
        </p:spPr>
        <p:txBody>
          <a:bodyPr wrap="square" lIns="0" tIns="0" rIns="0" bIns="0" rtlCol="0" anchor="ctr"/>
          <a:lstStyle/>
          <a:p>
            <a:pPr marL="0" indent="0">
              <a:buNone/>
            </a:pPr>
            <a:r>
              <a:rPr lang="en-US" sz="1300" dirty="0">
                <a:solidFill>
                  <a:srgbClr val="8FA0B8"/>
                </a:solidFill>
                <a:latin typeface="Calibri" pitchFamily="34" charset="0"/>
                <a:ea typeface="Calibri" pitchFamily="34" charset="-122"/>
                <a:cs typeface="Calibri" pitchFamily="34" charset="-120"/>
              </a:rPr>
              <a:t>Codes an andere Apps weitergeben</a:t>
            </a:r>
            <a:endParaRPr lang="en-US" sz="1300" dirty="0"/>
          </a:p>
        </p:txBody>
      </p:sp>
      <p:sp>
        <p:nvSpPr>
          <p:cNvPr id="26" name="Shape 24"/>
          <p:cNvSpPr/>
          <p:nvPr/>
        </p:nvSpPr>
        <p:spPr>
          <a:xfrm>
            <a:off x="6263640" y="4983480"/>
            <a:ext cx="5285232" cy="868680"/>
          </a:xfrm>
          <a:prstGeom prst="roundRect">
            <a:avLst>
              <a:gd name="adj" fmla="val 6316"/>
            </a:avLst>
          </a:prstGeom>
          <a:solidFill>
            <a:srgbClr val="151E2E"/>
          </a:solidFill>
          <a:ln w="12700">
            <a:solidFill>
              <a:srgbClr val="24314A"/>
            </a:solidFill>
            <a:prstDash val="solid"/>
          </a:ln>
        </p:spPr>
        <p:txBody>
          <a:bodyPr/>
          <a:lstStyle/>
          <a:p>
            <a:endParaRPr lang="en-US"/>
          </a:p>
        </p:txBody>
      </p:sp>
      <p:sp>
        <p:nvSpPr>
          <p:cNvPr id="27" name="Text 25"/>
          <p:cNvSpPr/>
          <p:nvPr/>
        </p:nvSpPr>
        <p:spPr>
          <a:xfrm>
            <a:off x="6583680" y="5129784"/>
            <a:ext cx="2377440" cy="274320"/>
          </a:xfrm>
          <a:prstGeom prst="rect">
            <a:avLst/>
          </a:prstGeom>
          <a:noFill/>
          <a:ln/>
        </p:spPr>
        <p:txBody>
          <a:bodyPr wrap="square" lIns="0" tIns="0" rIns="0" bIns="0" rtlCol="0" anchor="ctr"/>
          <a:lstStyle/>
          <a:p>
            <a:pPr marL="0" indent="0">
              <a:buNone/>
            </a:pPr>
            <a:r>
              <a:rPr lang="en-US" sz="1300" b="1" dirty="0">
                <a:solidFill>
                  <a:srgbClr val="00D9A3"/>
                </a:solidFill>
                <a:latin typeface="Courier New" pitchFamily="34" charset="0"/>
                <a:ea typeface="Courier New" pitchFamily="34" charset="-122"/>
                <a:cs typeface="Courier New" pitchFamily="34" charset="-120"/>
              </a:rPr>
              <a:t>Filesystem</a:t>
            </a:r>
            <a:endParaRPr lang="en-US" sz="1300" dirty="0"/>
          </a:p>
        </p:txBody>
      </p:sp>
      <p:sp>
        <p:nvSpPr>
          <p:cNvPr id="28" name="Text 26"/>
          <p:cNvSpPr/>
          <p:nvPr/>
        </p:nvSpPr>
        <p:spPr>
          <a:xfrm>
            <a:off x="6583680" y="5440680"/>
            <a:ext cx="4663440" cy="274320"/>
          </a:xfrm>
          <a:prstGeom prst="rect">
            <a:avLst/>
          </a:prstGeom>
          <a:noFill/>
          <a:ln/>
        </p:spPr>
        <p:txBody>
          <a:bodyPr wrap="square" lIns="0" tIns="0" rIns="0" bIns="0" rtlCol="0" anchor="ctr"/>
          <a:lstStyle/>
          <a:p>
            <a:pPr marL="0" indent="0">
              <a:buNone/>
            </a:pPr>
            <a:r>
              <a:rPr lang="en-US" sz="1300" dirty="0">
                <a:solidFill>
                  <a:srgbClr val="8FA0B8"/>
                </a:solidFill>
                <a:latin typeface="Calibri" pitchFamily="34" charset="0"/>
                <a:ea typeface="Calibri" pitchFamily="34" charset="-122"/>
                <a:cs typeface="Calibri" pitchFamily="34" charset="-120"/>
              </a:rPr>
              <a:t>Dateien im Cache für den Versand ablegen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640080" y="411480"/>
            <a:ext cx="548640" cy="274320"/>
          </a:xfrm>
          <a:prstGeom prst="rect">
            <a:avLst/>
          </a:prstGeom>
          <a:noFill/>
          <a:ln/>
        </p:spPr>
        <p:txBody>
          <a:bodyPr wrap="square" lIns="0" tIns="0" rIns="0" bIns="0" rtlCol="0" anchor="ctr"/>
          <a:lstStyle/>
          <a:p>
            <a:pPr marL="0" indent="0">
              <a:buNone/>
            </a:pPr>
            <a:r>
              <a:rPr lang="en-US" sz="1200" b="1" dirty="0">
                <a:solidFill>
                  <a:srgbClr val="00D9A3"/>
                </a:solidFill>
                <a:latin typeface="Courier New" pitchFamily="34" charset="0"/>
                <a:ea typeface="Courier New" pitchFamily="34" charset="-122"/>
                <a:cs typeface="Courier New" pitchFamily="34" charset="-120"/>
              </a:rPr>
              <a:t>03</a:t>
            </a:r>
            <a:endParaRPr lang="en-US" sz="1200" dirty="0"/>
          </a:p>
        </p:txBody>
      </p:sp>
      <p:sp>
        <p:nvSpPr>
          <p:cNvPr id="3" name="Text 1"/>
          <p:cNvSpPr/>
          <p:nvPr/>
        </p:nvSpPr>
        <p:spPr>
          <a:xfrm>
            <a:off x="1143000" y="411480"/>
            <a:ext cx="7315200" cy="274320"/>
          </a:xfrm>
          <a:prstGeom prst="rect">
            <a:avLst/>
          </a:prstGeom>
          <a:noFill/>
          <a:ln/>
        </p:spPr>
        <p:txBody>
          <a:bodyPr wrap="square" lIns="0" tIns="0" rIns="0" bIns="0" rtlCol="0" anchor="ctr"/>
          <a:lstStyle/>
          <a:p>
            <a:pPr marL="0" indent="0">
              <a:buNone/>
            </a:pPr>
            <a:r>
              <a:rPr lang="en-US" sz="1200" kern="0" spc="100" dirty="0">
                <a:solidFill>
                  <a:srgbClr val="8FA0B8"/>
                </a:solidFill>
                <a:latin typeface="Courier New" pitchFamily="34" charset="0"/>
                <a:ea typeface="Courier New" pitchFamily="34" charset="-122"/>
                <a:cs typeface="Courier New" pitchFamily="34" charset="-120"/>
              </a:rPr>
              <a:t>CODE</a:t>
            </a:r>
            <a:endParaRPr lang="en-US" sz="1200" dirty="0"/>
          </a:p>
        </p:txBody>
      </p:sp>
      <p:sp>
        <p:nvSpPr>
          <p:cNvPr id="4" name="Text 2"/>
          <p:cNvSpPr/>
          <p:nvPr/>
        </p:nvSpPr>
        <p:spPr>
          <a:xfrm>
            <a:off x="640080" y="777240"/>
            <a:ext cx="7315200" cy="548640"/>
          </a:xfrm>
          <a:prstGeom prst="rect">
            <a:avLst/>
          </a:prstGeom>
          <a:noFill/>
          <a:ln/>
        </p:spPr>
        <p:txBody>
          <a:bodyPr wrap="square" lIns="0" tIns="0" rIns="0" bIns="0" rtlCol="0" anchor="ctr"/>
          <a:lstStyle/>
          <a:p>
            <a:pPr marL="0" indent="0">
              <a:buNone/>
            </a:pPr>
            <a:r>
              <a:rPr lang="en-US" sz="3200" b="1" dirty="0">
                <a:solidFill>
                  <a:srgbClr val="E8EDF5"/>
                </a:solidFill>
                <a:latin typeface="Arial" pitchFamily="34" charset="0"/>
                <a:ea typeface="Arial" pitchFamily="34" charset="-122"/>
                <a:cs typeface="Arial" pitchFamily="34" charset="-120"/>
              </a:rPr>
              <a:t>Barcode Plugin</a:t>
            </a:r>
            <a:endParaRPr lang="en-US" sz="3200" dirty="0"/>
          </a:p>
        </p:txBody>
      </p:sp>
      <p:sp>
        <p:nvSpPr>
          <p:cNvPr id="5" name="Shape 3"/>
          <p:cNvSpPr/>
          <p:nvPr/>
        </p:nvSpPr>
        <p:spPr>
          <a:xfrm>
            <a:off x="8229600" y="841248"/>
            <a:ext cx="3319272" cy="411480"/>
          </a:xfrm>
          <a:prstGeom prst="roundRect">
            <a:avLst>
              <a:gd name="adj" fmla="val 13333"/>
            </a:avLst>
          </a:prstGeom>
          <a:solidFill>
            <a:srgbClr val="151E2E"/>
          </a:solidFill>
          <a:ln w="12700">
            <a:solidFill>
              <a:srgbClr val="24314A"/>
            </a:solidFill>
            <a:prstDash val="solid"/>
          </a:ln>
        </p:spPr>
        <p:txBody>
          <a:bodyPr/>
          <a:lstStyle/>
          <a:p>
            <a:endParaRPr lang="en-US"/>
          </a:p>
        </p:txBody>
      </p:sp>
      <p:sp>
        <p:nvSpPr>
          <p:cNvPr id="6" name="Text 4"/>
          <p:cNvSpPr/>
          <p:nvPr/>
        </p:nvSpPr>
        <p:spPr>
          <a:xfrm>
            <a:off x="8229600" y="841248"/>
            <a:ext cx="3319272" cy="411480"/>
          </a:xfrm>
          <a:prstGeom prst="rect">
            <a:avLst/>
          </a:prstGeom>
          <a:noFill/>
          <a:ln/>
        </p:spPr>
        <p:txBody>
          <a:bodyPr wrap="square" lIns="0" tIns="0" rIns="0" bIns="0" rtlCol="0" anchor="ctr"/>
          <a:lstStyle/>
          <a:p>
            <a:pPr marL="0" indent="0" algn="ctr">
              <a:buNone/>
            </a:pPr>
            <a:r>
              <a:rPr lang="en-US" sz="1200" dirty="0">
                <a:solidFill>
                  <a:srgbClr val="00D9A3"/>
                </a:solidFill>
                <a:latin typeface="Courier New" pitchFamily="34" charset="0"/>
                <a:ea typeface="Courier New" pitchFamily="34" charset="-122"/>
                <a:cs typeface="Courier New" pitchFamily="34" charset="-120"/>
              </a:rPr>
              <a:t>scanner.service</a:t>
            </a:r>
            <a:endParaRPr lang="en-US" sz="1200" dirty="0"/>
          </a:p>
        </p:txBody>
      </p:sp>
      <p:sp>
        <p:nvSpPr>
          <p:cNvPr id="7" name="Text 5"/>
          <p:cNvSpPr/>
          <p:nvPr/>
        </p:nvSpPr>
        <p:spPr>
          <a:xfrm>
            <a:off x="640080" y="1444752"/>
            <a:ext cx="10881360" cy="365760"/>
          </a:xfrm>
          <a:prstGeom prst="rect">
            <a:avLst/>
          </a:prstGeom>
          <a:noFill/>
          <a:ln/>
        </p:spPr>
        <p:txBody>
          <a:bodyPr wrap="square" lIns="0" tIns="0" rIns="0" bIns="0" rtlCol="0" anchor="ctr"/>
          <a:lstStyle/>
          <a:p>
            <a:pPr marL="0" indent="0">
              <a:buNone/>
            </a:pPr>
            <a:r>
              <a:rPr lang="en-US" sz="1400" dirty="0">
                <a:solidFill>
                  <a:srgbClr val="8FA0B8"/>
                </a:solidFill>
                <a:latin typeface="Calibri" pitchFamily="34" charset="0"/>
                <a:ea typeface="Calibri" pitchFamily="34" charset="-122"/>
                <a:cs typeface="Calibri" pitchFamily="34" charset="-120"/>
              </a:rPr>
              <a:t>Berechtigung prüfen, anfragen und anschließend die Kamera zum Scannen öffnen.</a:t>
            </a:r>
            <a:endParaRPr lang="en-US" sz="1400" dirty="0"/>
          </a:p>
        </p:txBody>
      </p:sp>
      <p:sp>
        <p:nvSpPr>
          <p:cNvPr id="8" name="Text 6"/>
          <p:cNvSpPr/>
          <p:nvPr/>
        </p:nvSpPr>
        <p:spPr>
          <a:xfrm>
            <a:off x="2453567" y="2057400"/>
            <a:ext cx="7281818" cy="237744"/>
          </a:xfrm>
          <a:prstGeom prst="rect">
            <a:avLst/>
          </a:prstGeom>
          <a:noFill/>
          <a:ln/>
        </p:spPr>
        <p:txBody>
          <a:bodyPr wrap="square" lIns="0" tIns="0" rIns="0" bIns="0" rtlCol="0" anchor="ctr"/>
          <a:lstStyle/>
          <a:p>
            <a:pPr marL="0" indent="0">
              <a:buNone/>
            </a:pPr>
            <a:r>
              <a:rPr lang="en-US" sz="1100" dirty="0">
                <a:solidFill>
                  <a:srgbClr val="8FA0B8"/>
                </a:solidFill>
                <a:latin typeface="Courier New" pitchFamily="34" charset="0"/>
                <a:ea typeface="Courier New" pitchFamily="34" charset="-122"/>
                <a:cs typeface="Courier New" pitchFamily="34" charset="-120"/>
              </a:rPr>
              <a:t>// Berechtigung prüfen und bei Bedarf anfragen</a:t>
            </a:r>
            <a:endParaRPr lang="en-US" sz="1100" dirty="0"/>
          </a:p>
        </p:txBody>
      </p:sp>
      <p:pic>
        <p:nvPicPr>
          <p:cNvPr id="9" name="Image 0" descr="code/img-000.png"/>
          <p:cNvPicPr>
            <a:picLocks noChangeAspect="1"/>
          </p:cNvPicPr>
          <p:nvPr/>
        </p:nvPicPr>
        <p:blipFill>
          <a:blip r:embed="rId3"/>
          <a:stretch>
            <a:fillRect/>
          </a:stretch>
        </p:blipFill>
        <p:spPr>
          <a:xfrm>
            <a:off x="2453567" y="2331720"/>
            <a:ext cx="7281818" cy="2349993"/>
          </a:xfrm>
          <a:prstGeom prst="rect">
            <a:avLst/>
          </a:prstGeom>
        </p:spPr>
      </p:pic>
      <p:sp>
        <p:nvSpPr>
          <p:cNvPr id="10" name="Text 7"/>
          <p:cNvSpPr/>
          <p:nvPr/>
        </p:nvSpPr>
        <p:spPr>
          <a:xfrm>
            <a:off x="2453567" y="4956033"/>
            <a:ext cx="7281818" cy="237744"/>
          </a:xfrm>
          <a:prstGeom prst="rect">
            <a:avLst/>
          </a:prstGeom>
          <a:noFill/>
          <a:ln/>
        </p:spPr>
        <p:txBody>
          <a:bodyPr wrap="square" lIns="0" tIns="0" rIns="0" bIns="0" rtlCol="0" anchor="ctr"/>
          <a:lstStyle/>
          <a:p>
            <a:pPr marL="0" indent="0">
              <a:buNone/>
            </a:pPr>
            <a:r>
              <a:rPr lang="en-US" sz="1100" dirty="0">
                <a:solidFill>
                  <a:srgbClr val="8FA0B8"/>
                </a:solidFill>
                <a:latin typeface="Courier New" pitchFamily="34" charset="0"/>
                <a:ea typeface="Courier New" pitchFamily="34" charset="-122"/>
                <a:cs typeface="Courier New" pitchFamily="34" charset="-120"/>
              </a:rPr>
              <a:t>// Scan über die Kamera starten</a:t>
            </a:r>
            <a:endParaRPr lang="en-US" sz="1100" dirty="0"/>
          </a:p>
        </p:txBody>
      </p:sp>
      <p:pic>
        <p:nvPicPr>
          <p:cNvPr id="11" name="Image 1" descr="code/img-001.png"/>
          <p:cNvPicPr>
            <a:picLocks noChangeAspect="1"/>
          </p:cNvPicPr>
          <p:nvPr/>
        </p:nvPicPr>
        <p:blipFill>
          <a:blip r:embed="rId4"/>
          <a:stretch>
            <a:fillRect/>
          </a:stretch>
        </p:blipFill>
        <p:spPr>
          <a:xfrm>
            <a:off x="2453567" y="5230353"/>
            <a:ext cx="7281818" cy="98756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640080" y="411480"/>
            <a:ext cx="548640" cy="274320"/>
          </a:xfrm>
          <a:prstGeom prst="rect">
            <a:avLst/>
          </a:prstGeom>
          <a:noFill/>
          <a:ln/>
        </p:spPr>
        <p:txBody>
          <a:bodyPr wrap="square" lIns="0" tIns="0" rIns="0" bIns="0" rtlCol="0" anchor="ctr"/>
          <a:lstStyle/>
          <a:p>
            <a:pPr marL="0" indent="0">
              <a:buNone/>
            </a:pPr>
            <a:r>
              <a:rPr lang="en-US" sz="1200" b="1" dirty="0">
                <a:solidFill>
                  <a:srgbClr val="00D9A3"/>
                </a:solidFill>
                <a:latin typeface="Courier New" pitchFamily="34" charset="0"/>
                <a:ea typeface="Courier New" pitchFamily="34" charset="-122"/>
                <a:cs typeface="Courier New" pitchFamily="34" charset="-120"/>
              </a:rPr>
              <a:t>03</a:t>
            </a:r>
            <a:endParaRPr lang="en-US" sz="1200" dirty="0"/>
          </a:p>
        </p:txBody>
      </p:sp>
      <p:sp>
        <p:nvSpPr>
          <p:cNvPr id="3" name="Text 1"/>
          <p:cNvSpPr/>
          <p:nvPr/>
        </p:nvSpPr>
        <p:spPr>
          <a:xfrm>
            <a:off x="1143000" y="411480"/>
            <a:ext cx="7315200" cy="274320"/>
          </a:xfrm>
          <a:prstGeom prst="rect">
            <a:avLst/>
          </a:prstGeom>
          <a:noFill/>
          <a:ln/>
        </p:spPr>
        <p:txBody>
          <a:bodyPr wrap="square" lIns="0" tIns="0" rIns="0" bIns="0" rtlCol="0" anchor="ctr"/>
          <a:lstStyle/>
          <a:p>
            <a:pPr marL="0" indent="0">
              <a:buNone/>
            </a:pPr>
            <a:r>
              <a:rPr lang="en-US" sz="1200" kern="0" spc="100" dirty="0">
                <a:solidFill>
                  <a:srgbClr val="8FA0B8"/>
                </a:solidFill>
                <a:latin typeface="Courier New" pitchFamily="34" charset="0"/>
                <a:ea typeface="Courier New" pitchFamily="34" charset="-122"/>
                <a:cs typeface="Courier New" pitchFamily="34" charset="-120"/>
              </a:rPr>
              <a:t>CODE</a:t>
            </a:r>
            <a:endParaRPr lang="en-US" sz="1200" dirty="0"/>
          </a:p>
        </p:txBody>
      </p:sp>
      <p:sp>
        <p:nvSpPr>
          <p:cNvPr id="4" name="Text 2"/>
          <p:cNvSpPr/>
          <p:nvPr/>
        </p:nvSpPr>
        <p:spPr>
          <a:xfrm>
            <a:off x="640080" y="777240"/>
            <a:ext cx="7315200" cy="548640"/>
          </a:xfrm>
          <a:prstGeom prst="rect">
            <a:avLst/>
          </a:prstGeom>
          <a:noFill/>
          <a:ln/>
        </p:spPr>
        <p:txBody>
          <a:bodyPr wrap="square" lIns="0" tIns="0" rIns="0" bIns="0" rtlCol="0" anchor="ctr"/>
          <a:lstStyle/>
          <a:p>
            <a:pPr marL="0" indent="0">
              <a:buNone/>
            </a:pPr>
            <a:r>
              <a:rPr lang="en-US" sz="3200" b="1" dirty="0">
                <a:solidFill>
                  <a:srgbClr val="E8EDF5"/>
                </a:solidFill>
                <a:latin typeface="Arial" pitchFamily="34" charset="0"/>
                <a:ea typeface="Arial" pitchFamily="34" charset="-122"/>
                <a:cs typeface="Arial" pitchFamily="34" charset="-120"/>
              </a:rPr>
              <a:t>File Picker</a:t>
            </a:r>
            <a:endParaRPr lang="en-US" sz="3200" dirty="0"/>
          </a:p>
        </p:txBody>
      </p:sp>
      <p:sp>
        <p:nvSpPr>
          <p:cNvPr id="5" name="Shape 3"/>
          <p:cNvSpPr/>
          <p:nvPr/>
        </p:nvSpPr>
        <p:spPr>
          <a:xfrm>
            <a:off x="8229600" y="841248"/>
            <a:ext cx="3319272" cy="411480"/>
          </a:xfrm>
          <a:prstGeom prst="roundRect">
            <a:avLst>
              <a:gd name="adj" fmla="val 13333"/>
            </a:avLst>
          </a:prstGeom>
          <a:solidFill>
            <a:srgbClr val="151E2E"/>
          </a:solidFill>
          <a:ln w="12700">
            <a:solidFill>
              <a:srgbClr val="24314A"/>
            </a:solidFill>
            <a:prstDash val="solid"/>
          </a:ln>
        </p:spPr>
        <p:txBody>
          <a:bodyPr/>
          <a:lstStyle/>
          <a:p>
            <a:endParaRPr lang="en-US"/>
          </a:p>
        </p:txBody>
      </p:sp>
      <p:sp>
        <p:nvSpPr>
          <p:cNvPr id="6" name="Text 4"/>
          <p:cNvSpPr/>
          <p:nvPr/>
        </p:nvSpPr>
        <p:spPr>
          <a:xfrm>
            <a:off x="8229600" y="841248"/>
            <a:ext cx="3319272" cy="411480"/>
          </a:xfrm>
          <a:prstGeom prst="rect">
            <a:avLst/>
          </a:prstGeom>
          <a:noFill/>
          <a:ln/>
        </p:spPr>
        <p:txBody>
          <a:bodyPr wrap="square" lIns="0" tIns="0" rIns="0" bIns="0" rtlCol="0" anchor="ctr"/>
          <a:lstStyle/>
          <a:p>
            <a:pPr marL="0" indent="0" algn="ctr">
              <a:buNone/>
            </a:pPr>
            <a:r>
              <a:rPr lang="en-US" sz="1200" dirty="0">
                <a:solidFill>
                  <a:srgbClr val="00D9A3"/>
                </a:solidFill>
                <a:latin typeface="Courier New" pitchFamily="34" charset="0"/>
                <a:ea typeface="Courier New" pitchFamily="34" charset="-122"/>
                <a:cs typeface="Courier New" pitchFamily="34" charset="-120"/>
              </a:rPr>
              <a:t>imagePicker.service</a:t>
            </a:r>
            <a:endParaRPr lang="en-US" sz="1200" dirty="0"/>
          </a:p>
        </p:txBody>
      </p:sp>
      <p:sp>
        <p:nvSpPr>
          <p:cNvPr id="7" name="Text 5"/>
          <p:cNvSpPr/>
          <p:nvPr/>
        </p:nvSpPr>
        <p:spPr>
          <a:xfrm>
            <a:off x="640080" y="1444752"/>
            <a:ext cx="10881360" cy="365760"/>
          </a:xfrm>
          <a:prstGeom prst="rect">
            <a:avLst/>
          </a:prstGeom>
          <a:noFill/>
          <a:ln/>
        </p:spPr>
        <p:txBody>
          <a:bodyPr wrap="square" lIns="0" tIns="0" rIns="0" bIns="0" rtlCol="0" anchor="ctr"/>
          <a:lstStyle/>
          <a:p>
            <a:pPr marL="0" indent="0">
              <a:buNone/>
            </a:pPr>
            <a:r>
              <a:rPr lang="en-US" sz="1400" dirty="0">
                <a:solidFill>
                  <a:srgbClr val="8FA0B8"/>
                </a:solidFill>
                <a:latin typeface="Calibri" pitchFamily="34" charset="0"/>
                <a:ea typeface="Calibri" pitchFamily="34" charset="-122"/>
                <a:cs typeface="Calibri" pitchFamily="34" charset="-120"/>
              </a:rPr>
              <a:t>Bild aus der Galerie wählen und den Barcode aus dem Bild lesen – ohne Kamera.</a:t>
            </a:r>
            <a:endParaRPr lang="en-US" sz="1400" dirty="0"/>
          </a:p>
        </p:txBody>
      </p:sp>
      <p:sp>
        <p:nvSpPr>
          <p:cNvPr id="8" name="Text 6"/>
          <p:cNvSpPr/>
          <p:nvPr/>
        </p:nvSpPr>
        <p:spPr>
          <a:xfrm>
            <a:off x="640080" y="2057400"/>
            <a:ext cx="5221224" cy="237744"/>
          </a:xfrm>
          <a:prstGeom prst="rect">
            <a:avLst/>
          </a:prstGeom>
          <a:noFill/>
          <a:ln/>
        </p:spPr>
        <p:txBody>
          <a:bodyPr wrap="square" lIns="0" tIns="0" rIns="0" bIns="0" rtlCol="0" anchor="ctr"/>
          <a:lstStyle/>
          <a:p>
            <a:pPr marL="0" indent="0">
              <a:buNone/>
            </a:pPr>
            <a:r>
              <a:rPr lang="en-US" sz="1100" dirty="0">
                <a:solidFill>
                  <a:srgbClr val="8FA0B8"/>
                </a:solidFill>
                <a:latin typeface="Courier New" pitchFamily="34" charset="0"/>
                <a:ea typeface="Courier New" pitchFamily="34" charset="-122"/>
                <a:cs typeface="Courier New" pitchFamily="34" charset="-120"/>
              </a:rPr>
              <a:t>// Bild aus der Galerie auswählen</a:t>
            </a:r>
            <a:endParaRPr lang="en-US" sz="1100" dirty="0"/>
          </a:p>
        </p:txBody>
      </p:sp>
      <p:pic>
        <p:nvPicPr>
          <p:cNvPr id="9" name="Image 0" descr="code/img-003.png"/>
          <p:cNvPicPr>
            <a:picLocks noChangeAspect="1"/>
          </p:cNvPicPr>
          <p:nvPr/>
        </p:nvPicPr>
        <p:blipFill>
          <a:blip r:embed="rId3"/>
          <a:stretch>
            <a:fillRect/>
          </a:stretch>
        </p:blipFill>
        <p:spPr>
          <a:xfrm>
            <a:off x="640080" y="2331720"/>
            <a:ext cx="5221224" cy="3513500"/>
          </a:xfrm>
          <a:prstGeom prst="rect">
            <a:avLst/>
          </a:prstGeom>
        </p:spPr>
      </p:pic>
      <p:sp>
        <p:nvSpPr>
          <p:cNvPr id="10" name="Text 7"/>
          <p:cNvSpPr/>
          <p:nvPr/>
        </p:nvSpPr>
        <p:spPr>
          <a:xfrm>
            <a:off x="6053328" y="2057400"/>
            <a:ext cx="5486400" cy="237744"/>
          </a:xfrm>
          <a:prstGeom prst="rect">
            <a:avLst/>
          </a:prstGeom>
          <a:noFill/>
          <a:ln/>
        </p:spPr>
        <p:txBody>
          <a:bodyPr wrap="square" lIns="0" tIns="0" rIns="0" bIns="0" rtlCol="0" anchor="ctr"/>
          <a:lstStyle/>
          <a:p>
            <a:pPr marL="0" indent="0">
              <a:buNone/>
            </a:pPr>
            <a:r>
              <a:rPr lang="en-US" sz="1100" dirty="0">
                <a:solidFill>
                  <a:srgbClr val="8FA0B8"/>
                </a:solidFill>
                <a:latin typeface="Courier New" pitchFamily="34" charset="0"/>
                <a:ea typeface="Courier New" pitchFamily="34" charset="-122"/>
                <a:cs typeface="Courier New" pitchFamily="34" charset="-120"/>
              </a:rPr>
              <a:t>// Barcode aus dem Bild lesen</a:t>
            </a:r>
            <a:endParaRPr lang="en-US" sz="1100" dirty="0"/>
          </a:p>
        </p:txBody>
      </p:sp>
      <p:pic>
        <p:nvPicPr>
          <p:cNvPr id="11" name="Image 1" descr="code/img-002.png"/>
          <p:cNvPicPr>
            <a:picLocks noChangeAspect="1"/>
          </p:cNvPicPr>
          <p:nvPr/>
        </p:nvPicPr>
        <p:blipFill>
          <a:blip r:embed="rId4"/>
          <a:stretch>
            <a:fillRect/>
          </a:stretch>
        </p:blipFill>
        <p:spPr>
          <a:xfrm>
            <a:off x="6053328" y="2331720"/>
            <a:ext cx="5486400" cy="637130"/>
          </a:xfrm>
          <a:prstGeom prst="rect">
            <a:avLst/>
          </a:prstGeom>
        </p:spPr>
      </p:pic>
      <p:sp>
        <p:nvSpPr>
          <p:cNvPr id="12" name="Shape 8"/>
          <p:cNvSpPr/>
          <p:nvPr/>
        </p:nvSpPr>
        <p:spPr>
          <a:xfrm>
            <a:off x="6053328" y="3426050"/>
            <a:ext cx="5486400" cy="1783080"/>
          </a:xfrm>
          <a:prstGeom prst="roundRect">
            <a:avLst>
              <a:gd name="adj" fmla="val 3077"/>
            </a:avLst>
          </a:prstGeom>
          <a:solidFill>
            <a:srgbClr val="151E2E"/>
          </a:solidFill>
          <a:ln w="12700">
            <a:solidFill>
              <a:srgbClr val="24314A"/>
            </a:solidFill>
            <a:prstDash val="solid"/>
          </a:ln>
        </p:spPr>
        <p:txBody>
          <a:bodyPr/>
          <a:lstStyle/>
          <a:p>
            <a:endParaRPr lang="en-US"/>
          </a:p>
        </p:txBody>
      </p:sp>
      <p:sp>
        <p:nvSpPr>
          <p:cNvPr id="13" name="Text 9"/>
          <p:cNvSpPr/>
          <p:nvPr/>
        </p:nvSpPr>
        <p:spPr>
          <a:xfrm>
            <a:off x="6373368" y="3654650"/>
            <a:ext cx="4846320" cy="274320"/>
          </a:xfrm>
          <a:prstGeom prst="rect">
            <a:avLst/>
          </a:prstGeom>
          <a:noFill/>
          <a:ln/>
        </p:spPr>
        <p:txBody>
          <a:bodyPr wrap="square" lIns="0" tIns="0" rIns="0" bIns="0" rtlCol="0" anchor="ctr"/>
          <a:lstStyle/>
          <a:p>
            <a:pPr marL="0" indent="0">
              <a:buNone/>
            </a:pPr>
            <a:r>
              <a:rPr lang="en-US" sz="1200" b="1" kern="0" spc="100" dirty="0">
                <a:solidFill>
                  <a:srgbClr val="00D9A3"/>
                </a:solidFill>
                <a:latin typeface="Courier New" pitchFamily="34" charset="0"/>
                <a:ea typeface="Courier New" pitchFamily="34" charset="-122"/>
                <a:cs typeface="Courier New" pitchFamily="34" charset="-120"/>
              </a:rPr>
              <a:t>Zwei Wege</a:t>
            </a:r>
            <a:endParaRPr lang="en-US" sz="1200" dirty="0"/>
          </a:p>
        </p:txBody>
      </p:sp>
      <p:sp>
        <p:nvSpPr>
          <p:cNvPr id="14" name="Text 10"/>
          <p:cNvSpPr/>
          <p:nvPr/>
        </p:nvSpPr>
        <p:spPr>
          <a:xfrm>
            <a:off x="6373368" y="3992978"/>
            <a:ext cx="4846320" cy="1005840"/>
          </a:xfrm>
          <a:prstGeom prst="rect">
            <a:avLst/>
          </a:prstGeom>
          <a:noFill/>
          <a:ln/>
        </p:spPr>
        <p:txBody>
          <a:bodyPr wrap="square" lIns="0" tIns="0" rIns="0" bIns="0" rtlCol="0" anchor="t"/>
          <a:lstStyle/>
          <a:p>
            <a:pPr marL="0" indent="0">
              <a:lnSpc>
                <a:spcPts val="1900"/>
              </a:lnSpc>
              <a:buNone/>
            </a:pPr>
            <a:r>
              <a:rPr lang="en-US" sz="1300" b="1" dirty="0">
                <a:solidFill>
                  <a:srgbClr val="E8EDF5"/>
                </a:solidFill>
                <a:latin typeface="Calibri" pitchFamily="34" charset="0"/>
                <a:ea typeface="Calibri" pitchFamily="34" charset="-122"/>
                <a:cs typeface="Calibri" pitchFamily="34" charset="-120"/>
              </a:rPr>
              <a:t>Nativ</a:t>
            </a:r>
            <a:r>
              <a:rPr lang="en-US" sz="1300" dirty="0">
                <a:solidFill>
                  <a:srgbClr val="8FA0B8"/>
                </a:solidFill>
                <a:latin typeface="Calibri" pitchFamily="34" charset="0"/>
                <a:ea typeface="Calibri" pitchFamily="34" charset="-122"/>
                <a:cs typeface="Calibri" pitchFamily="34" charset="-120"/>
              </a:rPr>
              <a:t>  liefert der Picker eine Datei-URI, die MLKit direkt lesen kann.</a:t>
            </a:r>
            <a:endParaRPr lang="en-US" sz="1300" dirty="0"/>
          </a:p>
          <a:p>
            <a:pPr marL="0" indent="0">
              <a:lnSpc>
                <a:spcPts val="1900"/>
              </a:lnSpc>
              <a:buNone/>
            </a:pPr>
            <a:r>
              <a:rPr lang="en-US" sz="1300" b="1" dirty="0">
                <a:solidFill>
                  <a:srgbClr val="E8EDF5"/>
                </a:solidFill>
                <a:latin typeface="Calibri" pitchFamily="34" charset="0"/>
                <a:ea typeface="Calibri" pitchFamily="34" charset="-122"/>
                <a:cs typeface="Calibri" pitchFamily="34" charset="-120"/>
              </a:rPr>
              <a:t>Im Browser</a:t>
            </a:r>
            <a:r>
              <a:rPr lang="en-US" sz="1300" dirty="0">
                <a:solidFill>
                  <a:srgbClr val="8FA0B8"/>
                </a:solidFill>
                <a:latin typeface="Calibri" pitchFamily="34" charset="0"/>
                <a:ea typeface="Calibri" pitchFamily="34" charset="-122"/>
                <a:cs typeface="Calibri" pitchFamily="34" charset="-120"/>
              </a:rPr>
              <a:t>  gibt es nur einen webPath – daraus wird der Blob geholt.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640080" y="411480"/>
            <a:ext cx="548640" cy="274320"/>
          </a:xfrm>
          <a:prstGeom prst="rect">
            <a:avLst/>
          </a:prstGeom>
          <a:noFill/>
          <a:ln/>
        </p:spPr>
        <p:txBody>
          <a:bodyPr wrap="square" lIns="0" tIns="0" rIns="0" bIns="0" rtlCol="0" anchor="ctr"/>
          <a:lstStyle/>
          <a:p>
            <a:pPr marL="0" indent="0">
              <a:buNone/>
            </a:pPr>
            <a:r>
              <a:rPr lang="en-US" sz="1200" b="1" dirty="0">
                <a:solidFill>
                  <a:srgbClr val="00D9A3"/>
                </a:solidFill>
                <a:latin typeface="Courier New" pitchFamily="34" charset="0"/>
                <a:ea typeface="Courier New" pitchFamily="34" charset="-122"/>
                <a:cs typeface="Courier New" pitchFamily="34" charset="-120"/>
              </a:rPr>
              <a:t>03</a:t>
            </a:r>
            <a:endParaRPr lang="en-US" sz="1200" dirty="0"/>
          </a:p>
        </p:txBody>
      </p:sp>
      <p:sp>
        <p:nvSpPr>
          <p:cNvPr id="3" name="Text 1"/>
          <p:cNvSpPr/>
          <p:nvPr/>
        </p:nvSpPr>
        <p:spPr>
          <a:xfrm>
            <a:off x="1143000" y="411480"/>
            <a:ext cx="7315200" cy="274320"/>
          </a:xfrm>
          <a:prstGeom prst="rect">
            <a:avLst/>
          </a:prstGeom>
          <a:noFill/>
          <a:ln/>
        </p:spPr>
        <p:txBody>
          <a:bodyPr wrap="square" lIns="0" tIns="0" rIns="0" bIns="0" rtlCol="0" anchor="ctr"/>
          <a:lstStyle/>
          <a:p>
            <a:pPr marL="0" indent="0">
              <a:buNone/>
            </a:pPr>
            <a:r>
              <a:rPr lang="en-US" sz="1200" kern="0" spc="100" dirty="0">
                <a:solidFill>
                  <a:srgbClr val="8FA0B8"/>
                </a:solidFill>
                <a:latin typeface="Courier New" pitchFamily="34" charset="0"/>
                <a:ea typeface="Courier New" pitchFamily="34" charset="-122"/>
                <a:cs typeface="Courier New" pitchFamily="34" charset="-120"/>
              </a:rPr>
              <a:t>CODE</a:t>
            </a:r>
            <a:endParaRPr lang="en-US" sz="1200" dirty="0"/>
          </a:p>
        </p:txBody>
      </p:sp>
      <p:sp>
        <p:nvSpPr>
          <p:cNvPr id="4" name="Text 2"/>
          <p:cNvSpPr/>
          <p:nvPr/>
        </p:nvSpPr>
        <p:spPr>
          <a:xfrm>
            <a:off x="640080" y="777240"/>
            <a:ext cx="7315200" cy="548640"/>
          </a:xfrm>
          <a:prstGeom prst="rect">
            <a:avLst/>
          </a:prstGeom>
          <a:noFill/>
          <a:ln/>
        </p:spPr>
        <p:txBody>
          <a:bodyPr wrap="square" lIns="0" tIns="0" rIns="0" bIns="0" rtlCol="0" anchor="ctr"/>
          <a:lstStyle/>
          <a:p>
            <a:pPr marL="0" indent="0">
              <a:buNone/>
            </a:pPr>
            <a:r>
              <a:rPr lang="en-US" sz="3200" b="1" dirty="0">
                <a:solidFill>
                  <a:srgbClr val="E8EDF5"/>
                </a:solidFill>
                <a:latin typeface="Arial" pitchFamily="34" charset="0"/>
                <a:ea typeface="Arial" pitchFamily="34" charset="-122"/>
                <a:cs typeface="Arial" pitchFamily="34" charset="-120"/>
              </a:rPr>
              <a:t>In-App Browser</a:t>
            </a:r>
            <a:endParaRPr lang="en-US" sz="3200" dirty="0"/>
          </a:p>
        </p:txBody>
      </p:sp>
      <p:sp>
        <p:nvSpPr>
          <p:cNvPr id="5" name="Shape 3"/>
          <p:cNvSpPr/>
          <p:nvPr/>
        </p:nvSpPr>
        <p:spPr>
          <a:xfrm>
            <a:off x="8229600" y="841248"/>
            <a:ext cx="3319272" cy="411480"/>
          </a:xfrm>
          <a:prstGeom prst="roundRect">
            <a:avLst>
              <a:gd name="adj" fmla="val 13333"/>
            </a:avLst>
          </a:prstGeom>
          <a:solidFill>
            <a:srgbClr val="151E2E"/>
          </a:solidFill>
          <a:ln w="12700">
            <a:solidFill>
              <a:srgbClr val="24314A"/>
            </a:solidFill>
            <a:prstDash val="solid"/>
          </a:ln>
        </p:spPr>
        <p:txBody>
          <a:bodyPr/>
          <a:lstStyle/>
          <a:p>
            <a:endParaRPr lang="en-US"/>
          </a:p>
        </p:txBody>
      </p:sp>
      <p:sp>
        <p:nvSpPr>
          <p:cNvPr id="6" name="Text 4"/>
          <p:cNvSpPr/>
          <p:nvPr/>
        </p:nvSpPr>
        <p:spPr>
          <a:xfrm>
            <a:off x="8229600" y="841248"/>
            <a:ext cx="3319272" cy="411480"/>
          </a:xfrm>
          <a:prstGeom prst="rect">
            <a:avLst/>
          </a:prstGeom>
          <a:noFill/>
          <a:ln/>
        </p:spPr>
        <p:txBody>
          <a:bodyPr wrap="square" lIns="0" tIns="0" rIns="0" bIns="0" rtlCol="0" anchor="ctr"/>
          <a:lstStyle/>
          <a:p>
            <a:pPr marL="0" indent="0" algn="ctr">
              <a:buNone/>
            </a:pPr>
            <a:r>
              <a:rPr lang="en-US" sz="1200" dirty="0">
                <a:solidFill>
                  <a:srgbClr val="00D9A3"/>
                </a:solidFill>
                <a:latin typeface="Courier New" pitchFamily="34" charset="0"/>
                <a:ea typeface="Courier New" pitchFamily="34" charset="-122"/>
                <a:cs typeface="Courier New" pitchFamily="34" charset="-120"/>
              </a:rPr>
              <a:t>barcode.opener</a:t>
            </a:r>
            <a:endParaRPr lang="en-US" sz="1200" dirty="0"/>
          </a:p>
        </p:txBody>
      </p:sp>
      <p:sp>
        <p:nvSpPr>
          <p:cNvPr id="7" name="Text 5"/>
          <p:cNvSpPr/>
          <p:nvPr/>
        </p:nvSpPr>
        <p:spPr>
          <a:xfrm>
            <a:off x="640080" y="1444752"/>
            <a:ext cx="10881360" cy="365760"/>
          </a:xfrm>
          <a:prstGeom prst="rect">
            <a:avLst/>
          </a:prstGeom>
          <a:noFill/>
          <a:ln/>
        </p:spPr>
        <p:txBody>
          <a:bodyPr wrap="square" lIns="0" tIns="0" rIns="0" bIns="0" rtlCol="0" anchor="ctr"/>
          <a:lstStyle/>
          <a:p>
            <a:pPr marL="0" indent="0">
              <a:buNone/>
            </a:pPr>
            <a:r>
              <a:rPr lang="en-US" sz="1400" dirty="0">
                <a:solidFill>
                  <a:srgbClr val="8FA0B8"/>
                </a:solidFill>
                <a:latin typeface="Calibri" pitchFamily="34" charset="0"/>
                <a:ea typeface="Calibri" pitchFamily="34" charset="-122"/>
                <a:cs typeface="Calibri" pitchFamily="34" charset="-120"/>
              </a:rPr>
              <a:t>URLs und Kartenlinks werden geöffnet, ohne die App zu verlassen.</a:t>
            </a:r>
            <a:endParaRPr lang="en-US" sz="1400" dirty="0"/>
          </a:p>
        </p:txBody>
      </p:sp>
      <p:sp>
        <p:nvSpPr>
          <p:cNvPr id="8" name="Text 6"/>
          <p:cNvSpPr/>
          <p:nvPr/>
        </p:nvSpPr>
        <p:spPr>
          <a:xfrm>
            <a:off x="640080" y="3054213"/>
            <a:ext cx="5221224" cy="237744"/>
          </a:xfrm>
          <a:prstGeom prst="rect">
            <a:avLst/>
          </a:prstGeom>
          <a:noFill/>
          <a:ln/>
        </p:spPr>
        <p:txBody>
          <a:bodyPr wrap="square" lIns="0" tIns="0" rIns="0" bIns="0" rtlCol="0" anchor="ctr"/>
          <a:lstStyle/>
          <a:p>
            <a:pPr marL="0" indent="0">
              <a:buNone/>
            </a:pPr>
            <a:r>
              <a:rPr lang="en-US" sz="1100" dirty="0">
                <a:solidFill>
                  <a:srgbClr val="8FA0B8"/>
                </a:solidFill>
                <a:latin typeface="Courier New" pitchFamily="34" charset="0"/>
                <a:ea typeface="Courier New" pitchFamily="34" charset="-122"/>
                <a:cs typeface="Courier New" pitchFamily="34" charset="-120"/>
              </a:rPr>
              <a:t>// je nach valueType die passende Aktion</a:t>
            </a:r>
            <a:endParaRPr lang="en-US" sz="1100" dirty="0"/>
          </a:p>
        </p:txBody>
      </p:sp>
      <p:pic>
        <p:nvPicPr>
          <p:cNvPr id="9" name="Image 0" descr="code/img-004.png"/>
          <p:cNvPicPr>
            <a:picLocks noChangeAspect="1"/>
          </p:cNvPicPr>
          <p:nvPr/>
        </p:nvPicPr>
        <p:blipFill>
          <a:blip r:embed="rId3"/>
          <a:stretch>
            <a:fillRect/>
          </a:stretch>
        </p:blipFill>
        <p:spPr>
          <a:xfrm>
            <a:off x="640080" y="3328533"/>
            <a:ext cx="5221224" cy="1892575"/>
          </a:xfrm>
          <a:prstGeom prst="rect">
            <a:avLst/>
          </a:prstGeom>
        </p:spPr>
      </p:pic>
      <p:sp>
        <p:nvSpPr>
          <p:cNvPr id="10" name="Text 7"/>
          <p:cNvSpPr/>
          <p:nvPr/>
        </p:nvSpPr>
        <p:spPr>
          <a:xfrm>
            <a:off x="6327648" y="3054213"/>
            <a:ext cx="5221224" cy="237744"/>
          </a:xfrm>
          <a:prstGeom prst="rect">
            <a:avLst/>
          </a:prstGeom>
          <a:noFill/>
          <a:ln/>
        </p:spPr>
        <p:txBody>
          <a:bodyPr wrap="square" lIns="0" tIns="0" rIns="0" bIns="0" rtlCol="0" anchor="ctr"/>
          <a:lstStyle/>
          <a:p>
            <a:pPr marL="0" indent="0">
              <a:buNone/>
            </a:pPr>
            <a:r>
              <a:rPr lang="en-US" sz="1100" dirty="0">
                <a:solidFill>
                  <a:srgbClr val="8FA0B8"/>
                </a:solidFill>
                <a:latin typeface="Courier New" pitchFamily="34" charset="0"/>
                <a:ea typeface="Courier New" pitchFamily="34" charset="-122"/>
                <a:cs typeface="Courier New" pitchFamily="34" charset="-120"/>
              </a:rPr>
              <a:t>// Koordinaten zu einer Maps-URL bauen</a:t>
            </a:r>
            <a:endParaRPr lang="en-US" sz="1100" dirty="0"/>
          </a:p>
        </p:txBody>
      </p:sp>
      <p:pic>
        <p:nvPicPr>
          <p:cNvPr id="11" name="Image 1" descr="code/img-005.png"/>
          <p:cNvPicPr>
            <a:picLocks noChangeAspect="1"/>
          </p:cNvPicPr>
          <p:nvPr/>
        </p:nvPicPr>
        <p:blipFill>
          <a:blip r:embed="rId4"/>
          <a:stretch>
            <a:fillRect/>
          </a:stretch>
        </p:blipFill>
        <p:spPr>
          <a:xfrm>
            <a:off x="6327648" y="3328533"/>
            <a:ext cx="5221224" cy="138706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640080" y="411480"/>
            <a:ext cx="548640" cy="274320"/>
          </a:xfrm>
          <a:prstGeom prst="rect">
            <a:avLst/>
          </a:prstGeom>
          <a:noFill/>
          <a:ln/>
        </p:spPr>
        <p:txBody>
          <a:bodyPr wrap="square" lIns="0" tIns="0" rIns="0" bIns="0" rtlCol="0" anchor="ctr"/>
          <a:lstStyle/>
          <a:p>
            <a:pPr marL="0" indent="0">
              <a:buNone/>
            </a:pPr>
            <a:r>
              <a:rPr lang="en-US" sz="1200" b="1" dirty="0">
                <a:solidFill>
                  <a:srgbClr val="00D9A3"/>
                </a:solidFill>
                <a:latin typeface="Courier New" pitchFamily="34" charset="0"/>
                <a:ea typeface="Courier New" pitchFamily="34" charset="-122"/>
                <a:cs typeface="Courier New" pitchFamily="34" charset="-120"/>
              </a:rPr>
              <a:t>03</a:t>
            </a:r>
            <a:endParaRPr lang="en-US" sz="1200" dirty="0"/>
          </a:p>
        </p:txBody>
      </p:sp>
      <p:sp>
        <p:nvSpPr>
          <p:cNvPr id="3" name="Text 1"/>
          <p:cNvSpPr/>
          <p:nvPr/>
        </p:nvSpPr>
        <p:spPr>
          <a:xfrm>
            <a:off x="1143000" y="411480"/>
            <a:ext cx="7315200" cy="274320"/>
          </a:xfrm>
          <a:prstGeom prst="rect">
            <a:avLst/>
          </a:prstGeom>
          <a:noFill/>
          <a:ln/>
        </p:spPr>
        <p:txBody>
          <a:bodyPr wrap="square" lIns="0" tIns="0" rIns="0" bIns="0" rtlCol="0" anchor="ctr"/>
          <a:lstStyle/>
          <a:p>
            <a:pPr marL="0" indent="0">
              <a:buNone/>
            </a:pPr>
            <a:r>
              <a:rPr lang="en-US" sz="1200" kern="0" spc="100" dirty="0">
                <a:solidFill>
                  <a:srgbClr val="8FA0B8"/>
                </a:solidFill>
                <a:latin typeface="Courier New" pitchFamily="34" charset="0"/>
                <a:ea typeface="Courier New" pitchFamily="34" charset="-122"/>
                <a:cs typeface="Courier New" pitchFamily="34" charset="-120"/>
              </a:rPr>
              <a:t>CODE</a:t>
            </a:r>
            <a:endParaRPr lang="en-US" sz="1200" dirty="0"/>
          </a:p>
        </p:txBody>
      </p:sp>
      <p:sp>
        <p:nvSpPr>
          <p:cNvPr id="4" name="Text 2"/>
          <p:cNvSpPr/>
          <p:nvPr/>
        </p:nvSpPr>
        <p:spPr>
          <a:xfrm>
            <a:off x="640080" y="777240"/>
            <a:ext cx="7315200" cy="548640"/>
          </a:xfrm>
          <a:prstGeom prst="rect">
            <a:avLst/>
          </a:prstGeom>
          <a:noFill/>
          <a:ln/>
        </p:spPr>
        <p:txBody>
          <a:bodyPr wrap="square" lIns="0" tIns="0" rIns="0" bIns="0" rtlCol="0" anchor="ctr"/>
          <a:lstStyle/>
          <a:p>
            <a:pPr marL="0" indent="0">
              <a:buNone/>
            </a:pPr>
            <a:r>
              <a:rPr lang="en-US" sz="3200" b="1" dirty="0">
                <a:solidFill>
                  <a:srgbClr val="E8EDF5"/>
                </a:solidFill>
                <a:latin typeface="Arial" pitchFamily="34" charset="0"/>
                <a:ea typeface="Arial" pitchFamily="34" charset="-122"/>
                <a:cs typeface="Arial" pitchFamily="34" charset="-120"/>
              </a:rPr>
              <a:t>Clipboard</a:t>
            </a:r>
            <a:endParaRPr lang="en-US" sz="3200" dirty="0"/>
          </a:p>
        </p:txBody>
      </p:sp>
      <p:sp>
        <p:nvSpPr>
          <p:cNvPr id="5" name="Shape 3"/>
          <p:cNvSpPr/>
          <p:nvPr/>
        </p:nvSpPr>
        <p:spPr>
          <a:xfrm>
            <a:off x="8229600" y="841248"/>
            <a:ext cx="3319272" cy="411480"/>
          </a:xfrm>
          <a:prstGeom prst="roundRect">
            <a:avLst>
              <a:gd name="adj" fmla="val 13333"/>
            </a:avLst>
          </a:prstGeom>
          <a:solidFill>
            <a:srgbClr val="151E2E"/>
          </a:solidFill>
          <a:ln w="12700">
            <a:solidFill>
              <a:srgbClr val="24314A"/>
            </a:solidFill>
            <a:prstDash val="solid"/>
          </a:ln>
        </p:spPr>
        <p:txBody>
          <a:bodyPr/>
          <a:lstStyle/>
          <a:p>
            <a:endParaRPr lang="en-US"/>
          </a:p>
        </p:txBody>
      </p:sp>
      <p:sp>
        <p:nvSpPr>
          <p:cNvPr id="6" name="Text 4"/>
          <p:cNvSpPr/>
          <p:nvPr/>
        </p:nvSpPr>
        <p:spPr>
          <a:xfrm>
            <a:off x="8229600" y="841248"/>
            <a:ext cx="3319272" cy="411480"/>
          </a:xfrm>
          <a:prstGeom prst="rect">
            <a:avLst/>
          </a:prstGeom>
          <a:noFill/>
          <a:ln/>
        </p:spPr>
        <p:txBody>
          <a:bodyPr wrap="square" lIns="0" tIns="0" rIns="0" bIns="0" rtlCol="0" anchor="ctr"/>
          <a:lstStyle/>
          <a:p>
            <a:pPr marL="0" indent="0" algn="ctr">
              <a:buNone/>
            </a:pPr>
            <a:r>
              <a:rPr lang="en-US" sz="1200" dirty="0">
                <a:solidFill>
                  <a:srgbClr val="00D9A3"/>
                </a:solidFill>
                <a:latin typeface="Courier New" pitchFamily="34" charset="0"/>
                <a:ea typeface="Courier New" pitchFamily="34" charset="-122"/>
                <a:cs typeface="Courier New" pitchFamily="34" charset="-120"/>
              </a:rPr>
              <a:t>sharing.service</a:t>
            </a:r>
            <a:endParaRPr lang="en-US" sz="1200" dirty="0"/>
          </a:p>
        </p:txBody>
      </p:sp>
      <p:sp>
        <p:nvSpPr>
          <p:cNvPr id="7" name="Text 5"/>
          <p:cNvSpPr/>
          <p:nvPr/>
        </p:nvSpPr>
        <p:spPr>
          <a:xfrm>
            <a:off x="640080" y="1444752"/>
            <a:ext cx="10881360" cy="365760"/>
          </a:xfrm>
          <a:prstGeom prst="rect">
            <a:avLst/>
          </a:prstGeom>
          <a:noFill/>
          <a:ln/>
        </p:spPr>
        <p:txBody>
          <a:bodyPr wrap="square" lIns="0" tIns="0" rIns="0" bIns="0" rtlCol="0" anchor="ctr"/>
          <a:lstStyle/>
          <a:p>
            <a:pPr marL="0" indent="0">
              <a:buNone/>
            </a:pPr>
            <a:r>
              <a:rPr lang="en-US" sz="1400" dirty="0">
                <a:solidFill>
                  <a:srgbClr val="8FA0B8"/>
                </a:solidFill>
                <a:latin typeface="Calibri" pitchFamily="34" charset="0"/>
                <a:ea typeface="Calibri" pitchFamily="34" charset="-122"/>
                <a:cs typeface="Calibri" pitchFamily="34" charset="-120"/>
              </a:rPr>
              <a:t>Werte in die Zwischenablage kopieren und den Erfolg per Toast zurückmelden.</a:t>
            </a:r>
            <a:endParaRPr lang="en-US" sz="1400" dirty="0"/>
          </a:p>
        </p:txBody>
      </p:sp>
      <p:sp>
        <p:nvSpPr>
          <p:cNvPr id="8" name="Text 6"/>
          <p:cNvSpPr/>
          <p:nvPr/>
        </p:nvSpPr>
        <p:spPr>
          <a:xfrm>
            <a:off x="2711196" y="2057400"/>
            <a:ext cx="6766560" cy="237744"/>
          </a:xfrm>
          <a:prstGeom prst="rect">
            <a:avLst/>
          </a:prstGeom>
          <a:noFill/>
          <a:ln/>
        </p:spPr>
        <p:txBody>
          <a:bodyPr wrap="square" lIns="0" tIns="0" rIns="0" bIns="0" rtlCol="0" anchor="ctr"/>
          <a:lstStyle/>
          <a:p>
            <a:pPr marL="0" indent="0">
              <a:buNone/>
            </a:pPr>
            <a:r>
              <a:rPr lang="en-US" sz="1100" dirty="0">
                <a:solidFill>
                  <a:srgbClr val="8FA0B8"/>
                </a:solidFill>
                <a:latin typeface="Courier New" pitchFamily="34" charset="0"/>
                <a:ea typeface="Courier New" pitchFamily="34" charset="-122"/>
                <a:cs typeface="Courier New" pitchFamily="34" charset="-120"/>
              </a:rPr>
              <a:t>// generische Kopierfunktion</a:t>
            </a:r>
            <a:endParaRPr lang="en-US" sz="1100" dirty="0"/>
          </a:p>
        </p:txBody>
      </p:sp>
      <p:pic>
        <p:nvPicPr>
          <p:cNvPr id="9" name="Image 0" descr="code/img-006.png"/>
          <p:cNvPicPr>
            <a:picLocks noChangeAspect="1"/>
          </p:cNvPicPr>
          <p:nvPr/>
        </p:nvPicPr>
        <p:blipFill>
          <a:blip r:embed="rId3"/>
          <a:stretch>
            <a:fillRect/>
          </a:stretch>
        </p:blipFill>
        <p:spPr>
          <a:xfrm>
            <a:off x="2711196" y="2331720"/>
            <a:ext cx="6766560" cy="960415"/>
          </a:xfrm>
          <a:prstGeom prst="rect">
            <a:avLst/>
          </a:prstGeom>
        </p:spPr>
      </p:pic>
      <p:sp>
        <p:nvSpPr>
          <p:cNvPr id="10" name="Text 7"/>
          <p:cNvSpPr/>
          <p:nvPr/>
        </p:nvSpPr>
        <p:spPr>
          <a:xfrm>
            <a:off x="640080" y="3612175"/>
            <a:ext cx="5221224" cy="237744"/>
          </a:xfrm>
          <a:prstGeom prst="rect">
            <a:avLst/>
          </a:prstGeom>
          <a:noFill/>
          <a:ln/>
        </p:spPr>
        <p:txBody>
          <a:bodyPr wrap="square" lIns="0" tIns="0" rIns="0" bIns="0" rtlCol="0" anchor="ctr"/>
          <a:lstStyle/>
          <a:p>
            <a:pPr marL="0" indent="0">
              <a:buNone/>
            </a:pPr>
            <a:r>
              <a:rPr lang="en-US" sz="1100" dirty="0">
                <a:solidFill>
                  <a:srgbClr val="8FA0B8"/>
                </a:solidFill>
                <a:latin typeface="Courier New" pitchFamily="34" charset="0"/>
                <a:ea typeface="Courier New" pitchFamily="34" charset="-122"/>
                <a:cs typeface="Courier New" pitchFamily="34" charset="-120"/>
              </a:rPr>
              <a:t>// Barcode kopieren, mit Fehlerbehandlung</a:t>
            </a:r>
            <a:endParaRPr lang="en-US" sz="1100" dirty="0"/>
          </a:p>
        </p:txBody>
      </p:sp>
      <p:pic>
        <p:nvPicPr>
          <p:cNvPr id="11" name="Image 1" descr="code/img-007.png"/>
          <p:cNvPicPr>
            <a:picLocks noChangeAspect="1"/>
          </p:cNvPicPr>
          <p:nvPr/>
        </p:nvPicPr>
        <p:blipFill>
          <a:blip r:embed="rId4"/>
          <a:stretch>
            <a:fillRect/>
          </a:stretch>
        </p:blipFill>
        <p:spPr>
          <a:xfrm>
            <a:off x="640080" y="3886495"/>
            <a:ext cx="5221224" cy="1840352"/>
          </a:xfrm>
          <a:prstGeom prst="rect">
            <a:avLst/>
          </a:prstGeom>
        </p:spPr>
      </p:pic>
      <p:sp>
        <p:nvSpPr>
          <p:cNvPr id="12" name="Text 8"/>
          <p:cNvSpPr/>
          <p:nvPr/>
        </p:nvSpPr>
        <p:spPr>
          <a:xfrm>
            <a:off x="6327648" y="3612175"/>
            <a:ext cx="5221224" cy="237744"/>
          </a:xfrm>
          <a:prstGeom prst="rect">
            <a:avLst/>
          </a:prstGeom>
          <a:noFill/>
          <a:ln/>
        </p:spPr>
        <p:txBody>
          <a:bodyPr wrap="square" lIns="0" tIns="0" rIns="0" bIns="0" rtlCol="0" anchor="ctr"/>
          <a:lstStyle/>
          <a:p>
            <a:pPr marL="0" indent="0">
              <a:buNone/>
            </a:pPr>
            <a:r>
              <a:rPr lang="en-US" sz="1100" dirty="0">
                <a:solidFill>
                  <a:srgbClr val="8FA0B8"/>
                </a:solidFill>
                <a:latin typeface="Courier New" pitchFamily="34" charset="0"/>
                <a:ea typeface="Courier New" pitchFamily="34" charset="-122"/>
                <a:cs typeface="Courier New" pitchFamily="34" charset="-120"/>
              </a:rPr>
              <a:t>// Anwendungsfall WIFI-Passwort</a:t>
            </a:r>
            <a:endParaRPr lang="en-US" sz="1100" dirty="0"/>
          </a:p>
        </p:txBody>
      </p:sp>
      <p:pic>
        <p:nvPicPr>
          <p:cNvPr id="13" name="Image 2" descr="code/img-009.png"/>
          <p:cNvPicPr>
            <a:picLocks noChangeAspect="1"/>
          </p:cNvPicPr>
          <p:nvPr/>
        </p:nvPicPr>
        <p:blipFill>
          <a:blip r:embed="rId5"/>
          <a:stretch>
            <a:fillRect/>
          </a:stretch>
        </p:blipFill>
        <p:spPr>
          <a:xfrm>
            <a:off x="6327648" y="3886495"/>
            <a:ext cx="5221224" cy="242847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640080" y="411480"/>
            <a:ext cx="548640" cy="274320"/>
          </a:xfrm>
          <a:prstGeom prst="rect">
            <a:avLst/>
          </a:prstGeom>
          <a:noFill/>
          <a:ln/>
        </p:spPr>
        <p:txBody>
          <a:bodyPr wrap="square" lIns="0" tIns="0" rIns="0" bIns="0" rtlCol="0" anchor="ctr"/>
          <a:lstStyle/>
          <a:p>
            <a:pPr marL="0" indent="0">
              <a:buNone/>
            </a:pPr>
            <a:r>
              <a:rPr lang="en-US" sz="1200" b="1" dirty="0">
                <a:solidFill>
                  <a:srgbClr val="00D9A3"/>
                </a:solidFill>
                <a:latin typeface="Courier New" pitchFamily="34" charset="0"/>
                <a:ea typeface="Courier New" pitchFamily="34" charset="-122"/>
                <a:cs typeface="Courier New" pitchFamily="34" charset="-120"/>
              </a:rPr>
              <a:t>03</a:t>
            </a:r>
            <a:endParaRPr lang="en-US" sz="1200" dirty="0"/>
          </a:p>
        </p:txBody>
      </p:sp>
      <p:sp>
        <p:nvSpPr>
          <p:cNvPr id="3" name="Text 1"/>
          <p:cNvSpPr/>
          <p:nvPr/>
        </p:nvSpPr>
        <p:spPr>
          <a:xfrm>
            <a:off x="1143000" y="411480"/>
            <a:ext cx="7315200" cy="274320"/>
          </a:xfrm>
          <a:prstGeom prst="rect">
            <a:avLst/>
          </a:prstGeom>
          <a:noFill/>
          <a:ln/>
        </p:spPr>
        <p:txBody>
          <a:bodyPr wrap="square" lIns="0" tIns="0" rIns="0" bIns="0" rtlCol="0" anchor="ctr"/>
          <a:lstStyle/>
          <a:p>
            <a:pPr marL="0" indent="0">
              <a:buNone/>
            </a:pPr>
            <a:r>
              <a:rPr lang="en-US" sz="1200" kern="0" spc="100" dirty="0">
                <a:solidFill>
                  <a:srgbClr val="8FA0B8"/>
                </a:solidFill>
                <a:latin typeface="Courier New" pitchFamily="34" charset="0"/>
                <a:ea typeface="Courier New" pitchFamily="34" charset="-122"/>
                <a:cs typeface="Courier New" pitchFamily="34" charset="-120"/>
              </a:rPr>
              <a:t>CODE</a:t>
            </a:r>
            <a:endParaRPr lang="en-US" sz="1200" dirty="0"/>
          </a:p>
        </p:txBody>
      </p:sp>
      <p:sp>
        <p:nvSpPr>
          <p:cNvPr id="4" name="Text 2"/>
          <p:cNvSpPr/>
          <p:nvPr/>
        </p:nvSpPr>
        <p:spPr>
          <a:xfrm>
            <a:off x="640080" y="777240"/>
            <a:ext cx="7315200" cy="548640"/>
          </a:xfrm>
          <a:prstGeom prst="rect">
            <a:avLst/>
          </a:prstGeom>
          <a:noFill/>
          <a:ln/>
        </p:spPr>
        <p:txBody>
          <a:bodyPr wrap="square" lIns="0" tIns="0" rIns="0" bIns="0" rtlCol="0" anchor="ctr"/>
          <a:lstStyle/>
          <a:p>
            <a:pPr marL="0" indent="0">
              <a:buNone/>
            </a:pPr>
            <a:r>
              <a:rPr lang="en-US" sz="3200" b="1" dirty="0">
                <a:solidFill>
                  <a:srgbClr val="E8EDF5"/>
                </a:solidFill>
                <a:latin typeface="Arial" pitchFamily="34" charset="0"/>
                <a:ea typeface="Arial" pitchFamily="34" charset="-122"/>
                <a:cs typeface="Arial" pitchFamily="34" charset="-120"/>
              </a:rPr>
              <a:t>Haptics</a:t>
            </a:r>
            <a:endParaRPr lang="en-US" sz="3200" dirty="0"/>
          </a:p>
        </p:txBody>
      </p:sp>
      <p:sp>
        <p:nvSpPr>
          <p:cNvPr id="5" name="Shape 3"/>
          <p:cNvSpPr/>
          <p:nvPr/>
        </p:nvSpPr>
        <p:spPr>
          <a:xfrm>
            <a:off x="8229600" y="841248"/>
            <a:ext cx="3319272" cy="411480"/>
          </a:xfrm>
          <a:prstGeom prst="roundRect">
            <a:avLst>
              <a:gd name="adj" fmla="val 13333"/>
            </a:avLst>
          </a:prstGeom>
          <a:solidFill>
            <a:srgbClr val="151E2E"/>
          </a:solidFill>
          <a:ln w="12700">
            <a:solidFill>
              <a:srgbClr val="24314A"/>
            </a:solidFill>
            <a:prstDash val="solid"/>
          </a:ln>
        </p:spPr>
        <p:txBody>
          <a:bodyPr/>
          <a:lstStyle/>
          <a:p>
            <a:endParaRPr lang="en-US"/>
          </a:p>
        </p:txBody>
      </p:sp>
      <p:sp>
        <p:nvSpPr>
          <p:cNvPr id="6" name="Text 4"/>
          <p:cNvSpPr/>
          <p:nvPr/>
        </p:nvSpPr>
        <p:spPr>
          <a:xfrm>
            <a:off x="8229600" y="841248"/>
            <a:ext cx="3319272" cy="411480"/>
          </a:xfrm>
          <a:prstGeom prst="rect">
            <a:avLst/>
          </a:prstGeom>
          <a:noFill/>
          <a:ln/>
        </p:spPr>
        <p:txBody>
          <a:bodyPr wrap="square" lIns="0" tIns="0" rIns="0" bIns="0" rtlCol="0" anchor="ctr"/>
          <a:lstStyle/>
          <a:p>
            <a:pPr marL="0" indent="0" algn="ctr">
              <a:buNone/>
            </a:pPr>
            <a:r>
              <a:rPr lang="en-US" sz="1200" dirty="0">
                <a:solidFill>
                  <a:srgbClr val="00D9A3"/>
                </a:solidFill>
                <a:latin typeface="Courier New" pitchFamily="34" charset="0"/>
                <a:ea typeface="Courier New" pitchFamily="34" charset="-122"/>
                <a:cs typeface="Courier New" pitchFamily="34" charset="-120"/>
              </a:rPr>
              <a:t>haptic.service</a:t>
            </a:r>
            <a:endParaRPr lang="en-US" sz="1200" dirty="0"/>
          </a:p>
        </p:txBody>
      </p:sp>
      <p:sp>
        <p:nvSpPr>
          <p:cNvPr id="7" name="Text 5"/>
          <p:cNvSpPr/>
          <p:nvPr/>
        </p:nvSpPr>
        <p:spPr>
          <a:xfrm>
            <a:off x="640080" y="1444752"/>
            <a:ext cx="10881360" cy="365760"/>
          </a:xfrm>
          <a:prstGeom prst="rect">
            <a:avLst/>
          </a:prstGeom>
          <a:noFill/>
          <a:ln/>
        </p:spPr>
        <p:txBody>
          <a:bodyPr wrap="square" lIns="0" tIns="0" rIns="0" bIns="0" rtlCol="0" anchor="ctr"/>
          <a:lstStyle/>
          <a:p>
            <a:pPr marL="0" indent="0">
              <a:buNone/>
            </a:pPr>
            <a:r>
              <a:rPr lang="en-US" sz="1400" dirty="0">
                <a:solidFill>
                  <a:srgbClr val="8FA0B8"/>
                </a:solidFill>
                <a:latin typeface="Calibri" pitchFamily="34" charset="0"/>
                <a:ea typeface="Calibri" pitchFamily="34" charset="-122"/>
                <a:cs typeface="Calibri" pitchFamily="34" charset="-120"/>
              </a:rPr>
              <a:t>Kurze Vibration als Rückmeldung bei einem erfolgreichen Scan.</a:t>
            </a:r>
            <a:endParaRPr lang="en-US" sz="1400" dirty="0"/>
          </a:p>
        </p:txBody>
      </p:sp>
      <p:sp>
        <p:nvSpPr>
          <p:cNvPr id="8" name="Text 6"/>
          <p:cNvSpPr/>
          <p:nvPr/>
        </p:nvSpPr>
        <p:spPr>
          <a:xfrm>
            <a:off x="1248156" y="2374536"/>
            <a:ext cx="9692640" cy="237744"/>
          </a:xfrm>
          <a:prstGeom prst="rect">
            <a:avLst/>
          </a:prstGeom>
          <a:noFill/>
          <a:ln/>
        </p:spPr>
        <p:txBody>
          <a:bodyPr wrap="square" lIns="0" tIns="0" rIns="0" bIns="0" rtlCol="0" anchor="ctr"/>
          <a:lstStyle/>
          <a:p>
            <a:pPr marL="0" indent="0">
              <a:buNone/>
            </a:pPr>
            <a:r>
              <a:rPr lang="en-US" sz="1100" dirty="0">
                <a:solidFill>
                  <a:srgbClr val="8FA0B8"/>
                </a:solidFill>
                <a:latin typeface="Courier New" pitchFamily="34" charset="0"/>
                <a:ea typeface="Courier New" pitchFamily="34" charset="-122"/>
                <a:cs typeface="Courier New" pitchFamily="34" charset="-120"/>
              </a:rPr>
              <a:t>// Vibration und Erfolgs-Feedback</a:t>
            </a:r>
            <a:endParaRPr lang="en-US" sz="1100" dirty="0"/>
          </a:p>
        </p:txBody>
      </p:sp>
      <p:pic>
        <p:nvPicPr>
          <p:cNvPr id="9" name="Image 0" descr="code/img-012.png"/>
          <p:cNvPicPr>
            <a:picLocks noChangeAspect="1"/>
          </p:cNvPicPr>
          <p:nvPr/>
        </p:nvPicPr>
        <p:blipFill>
          <a:blip r:embed="rId3"/>
          <a:stretch>
            <a:fillRect/>
          </a:stretch>
        </p:blipFill>
        <p:spPr>
          <a:xfrm>
            <a:off x="1248156" y="2648856"/>
            <a:ext cx="9692640" cy="325192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640080" y="411480"/>
            <a:ext cx="548640" cy="274320"/>
          </a:xfrm>
          <a:prstGeom prst="rect">
            <a:avLst/>
          </a:prstGeom>
          <a:noFill/>
          <a:ln/>
        </p:spPr>
        <p:txBody>
          <a:bodyPr wrap="square" lIns="0" tIns="0" rIns="0" bIns="0" rtlCol="0" anchor="ctr"/>
          <a:lstStyle/>
          <a:p>
            <a:pPr marL="0" indent="0">
              <a:buNone/>
            </a:pPr>
            <a:r>
              <a:rPr lang="en-US" sz="1200" b="1" dirty="0">
                <a:solidFill>
                  <a:srgbClr val="00D9A3"/>
                </a:solidFill>
                <a:latin typeface="Courier New" pitchFamily="34" charset="0"/>
                <a:ea typeface="Courier New" pitchFamily="34" charset="-122"/>
                <a:cs typeface="Courier New" pitchFamily="34" charset="-120"/>
              </a:rPr>
              <a:t>03</a:t>
            </a:r>
            <a:endParaRPr lang="en-US" sz="1200" dirty="0"/>
          </a:p>
        </p:txBody>
      </p:sp>
      <p:sp>
        <p:nvSpPr>
          <p:cNvPr id="3" name="Text 1"/>
          <p:cNvSpPr/>
          <p:nvPr/>
        </p:nvSpPr>
        <p:spPr>
          <a:xfrm>
            <a:off x="1143000" y="411480"/>
            <a:ext cx="7315200" cy="274320"/>
          </a:xfrm>
          <a:prstGeom prst="rect">
            <a:avLst/>
          </a:prstGeom>
          <a:noFill/>
          <a:ln/>
        </p:spPr>
        <p:txBody>
          <a:bodyPr wrap="square" lIns="0" tIns="0" rIns="0" bIns="0" rtlCol="0" anchor="ctr"/>
          <a:lstStyle/>
          <a:p>
            <a:pPr marL="0" indent="0">
              <a:buNone/>
            </a:pPr>
            <a:r>
              <a:rPr lang="en-US" sz="1200" kern="0" spc="100" dirty="0">
                <a:solidFill>
                  <a:srgbClr val="8FA0B8"/>
                </a:solidFill>
                <a:latin typeface="Courier New" pitchFamily="34" charset="0"/>
                <a:ea typeface="Courier New" pitchFamily="34" charset="-122"/>
                <a:cs typeface="Courier New" pitchFamily="34" charset="-120"/>
              </a:rPr>
              <a:t>CODE</a:t>
            </a:r>
            <a:endParaRPr lang="en-US" sz="1200" dirty="0"/>
          </a:p>
        </p:txBody>
      </p:sp>
      <p:sp>
        <p:nvSpPr>
          <p:cNvPr id="4" name="Text 2"/>
          <p:cNvSpPr/>
          <p:nvPr/>
        </p:nvSpPr>
        <p:spPr>
          <a:xfrm>
            <a:off x="640080" y="777240"/>
            <a:ext cx="7315200" cy="548640"/>
          </a:xfrm>
          <a:prstGeom prst="rect">
            <a:avLst/>
          </a:prstGeom>
          <a:noFill/>
          <a:ln/>
        </p:spPr>
        <p:txBody>
          <a:bodyPr wrap="square" lIns="0" tIns="0" rIns="0" bIns="0" rtlCol="0" anchor="ctr"/>
          <a:lstStyle/>
          <a:p>
            <a:pPr marL="0" indent="0">
              <a:buNone/>
            </a:pPr>
            <a:r>
              <a:rPr lang="en-US" sz="3200" b="1" dirty="0">
                <a:solidFill>
                  <a:srgbClr val="E8EDF5"/>
                </a:solidFill>
                <a:latin typeface="Arial" pitchFamily="34" charset="0"/>
                <a:ea typeface="Arial" pitchFamily="34" charset="-122"/>
                <a:cs typeface="Arial" pitchFamily="34" charset="-120"/>
              </a:rPr>
              <a:t>Preferences</a:t>
            </a:r>
            <a:endParaRPr lang="en-US" sz="3200" dirty="0"/>
          </a:p>
        </p:txBody>
      </p:sp>
      <p:sp>
        <p:nvSpPr>
          <p:cNvPr id="5" name="Shape 3"/>
          <p:cNvSpPr/>
          <p:nvPr/>
        </p:nvSpPr>
        <p:spPr>
          <a:xfrm>
            <a:off x="8229600" y="841248"/>
            <a:ext cx="3319272" cy="411480"/>
          </a:xfrm>
          <a:prstGeom prst="roundRect">
            <a:avLst>
              <a:gd name="adj" fmla="val 13333"/>
            </a:avLst>
          </a:prstGeom>
          <a:solidFill>
            <a:srgbClr val="151E2E"/>
          </a:solidFill>
          <a:ln w="12700">
            <a:solidFill>
              <a:srgbClr val="24314A"/>
            </a:solidFill>
            <a:prstDash val="solid"/>
          </a:ln>
        </p:spPr>
        <p:txBody>
          <a:bodyPr/>
          <a:lstStyle/>
          <a:p>
            <a:endParaRPr lang="en-US"/>
          </a:p>
        </p:txBody>
      </p:sp>
      <p:sp>
        <p:nvSpPr>
          <p:cNvPr id="6" name="Text 4"/>
          <p:cNvSpPr/>
          <p:nvPr/>
        </p:nvSpPr>
        <p:spPr>
          <a:xfrm>
            <a:off x="8229600" y="841248"/>
            <a:ext cx="3319272" cy="411480"/>
          </a:xfrm>
          <a:prstGeom prst="rect">
            <a:avLst/>
          </a:prstGeom>
          <a:noFill/>
          <a:ln/>
        </p:spPr>
        <p:txBody>
          <a:bodyPr wrap="square" lIns="0" tIns="0" rIns="0" bIns="0" rtlCol="0" anchor="ctr"/>
          <a:lstStyle/>
          <a:p>
            <a:pPr marL="0" indent="0" algn="ctr">
              <a:buNone/>
            </a:pPr>
            <a:r>
              <a:rPr lang="en-US" sz="1200" dirty="0">
                <a:solidFill>
                  <a:srgbClr val="00D9A3"/>
                </a:solidFill>
                <a:latin typeface="Courier New" pitchFamily="34" charset="0"/>
                <a:ea typeface="Courier New" pitchFamily="34" charset="-122"/>
                <a:cs typeface="Courier New" pitchFamily="34" charset="-120"/>
              </a:rPr>
              <a:t>storage.service</a:t>
            </a:r>
            <a:endParaRPr lang="en-US" sz="1200" dirty="0"/>
          </a:p>
        </p:txBody>
      </p:sp>
      <p:sp>
        <p:nvSpPr>
          <p:cNvPr id="7" name="Text 5"/>
          <p:cNvSpPr/>
          <p:nvPr/>
        </p:nvSpPr>
        <p:spPr>
          <a:xfrm>
            <a:off x="640080" y="1444752"/>
            <a:ext cx="10881360" cy="365760"/>
          </a:xfrm>
          <a:prstGeom prst="rect">
            <a:avLst/>
          </a:prstGeom>
          <a:noFill/>
          <a:ln/>
        </p:spPr>
        <p:txBody>
          <a:bodyPr wrap="square" lIns="0" tIns="0" rIns="0" bIns="0" rtlCol="0" anchor="ctr"/>
          <a:lstStyle/>
          <a:p>
            <a:pPr marL="0" indent="0">
              <a:buNone/>
            </a:pPr>
            <a:r>
              <a:rPr lang="en-US" sz="1400" dirty="0">
                <a:solidFill>
                  <a:srgbClr val="8FA0B8"/>
                </a:solidFill>
                <a:latin typeface="Calibri" pitchFamily="34" charset="0"/>
                <a:ea typeface="Calibri" pitchFamily="34" charset="-122"/>
                <a:cs typeface="Calibri" pitchFamily="34" charset="-120"/>
              </a:rPr>
              <a:t>Die Scan-Historie wird als JSON lokal auf dem Gerät gespeichert.</a:t>
            </a:r>
            <a:endParaRPr lang="en-US" sz="1400" dirty="0"/>
          </a:p>
        </p:txBody>
      </p:sp>
      <p:sp>
        <p:nvSpPr>
          <p:cNvPr id="8" name="Text 6"/>
          <p:cNvSpPr/>
          <p:nvPr/>
        </p:nvSpPr>
        <p:spPr>
          <a:xfrm>
            <a:off x="3625645" y="2057400"/>
            <a:ext cx="4937661" cy="237744"/>
          </a:xfrm>
          <a:prstGeom prst="rect">
            <a:avLst/>
          </a:prstGeom>
          <a:noFill/>
          <a:ln/>
        </p:spPr>
        <p:txBody>
          <a:bodyPr wrap="square" lIns="0" tIns="0" rIns="0" bIns="0" rtlCol="0" anchor="ctr"/>
          <a:lstStyle/>
          <a:p>
            <a:pPr marL="0" indent="0">
              <a:buNone/>
            </a:pPr>
            <a:r>
              <a:rPr lang="en-US" sz="1100" dirty="0">
                <a:solidFill>
                  <a:srgbClr val="8FA0B8"/>
                </a:solidFill>
                <a:latin typeface="Courier New" pitchFamily="34" charset="0"/>
                <a:ea typeface="Courier New" pitchFamily="34" charset="-122"/>
                <a:cs typeface="Courier New" pitchFamily="34" charset="-120"/>
              </a:rPr>
              <a:t>// Historie laden und zurückschreiben</a:t>
            </a:r>
            <a:endParaRPr lang="en-US" sz="1100" dirty="0"/>
          </a:p>
        </p:txBody>
      </p:sp>
      <p:pic>
        <p:nvPicPr>
          <p:cNvPr id="9" name="Image 0" descr="code/img-014.png"/>
          <p:cNvPicPr>
            <a:picLocks noChangeAspect="1"/>
          </p:cNvPicPr>
          <p:nvPr/>
        </p:nvPicPr>
        <p:blipFill>
          <a:blip r:embed="rId3"/>
          <a:stretch>
            <a:fillRect/>
          </a:stretch>
        </p:blipFill>
        <p:spPr>
          <a:xfrm>
            <a:off x="3625645" y="2331720"/>
            <a:ext cx="4937661" cy="38862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640080" y="411480"/>
            <a:ext cx="548640" cy="274320"/>
          </a:xfrm>
          <a:prstGeom prst="rect">
            <a:avLst/>
          </a:prstGeom>
          <a:noFill/>
          <a:ln/>
        </p:spPr>
        <p:txBody>
          <a:bodyPr wrap="square" lIns="0" tIns="0" rIns="0" bIns="0" rtlCol="0" anchor="ctr"/>
          <a:lstStyle/>
          <a:p>
            <a:pPr marL="0" indent="0">
              <a:buNone/>
            </a:pPr>
            <a:r>
              <a:rPr lang="en-US" sz="1200" b="1" dirty="0">
                <a:solidFill>
                  <a:srgbClr val="00D9A3"/>
                </a:solidFill>
                <a:latin typeface="Courier New" pitchFamily="34" charset="0"/>
                <a:ea typeface="Courier New" pitchFamily="34" charset="-122"/>
                <a:cs typeface="Courier New" pitchFamily="34" charset="-120"/>
              </a:rPr>
              <a:t>03</a:t>
            </a:r>
            <a:endParaRPr lang="en-US" sz="1200" dirty="0"/>
          </a:p>
        </p:txBody>
      </p:sp>
      <p:sp>
        <p:nvSpPr>
          <p:cNvPr id="3" name="Text 1"/>
          <p:cNvSpPr/>
          <p:nvPr/>
        </p:nvSpPr>
        <p:spPr>
          <a:xfrm>
            <a:off x="1143000" y="411480"/>
            <a:ext cx="7315200" cy="274320"/>
          </a:xfrm>
          <a:prstGeom prst="rect">
            <a:avLst/>
          </a:prstGeom>
          <a:noFill/>
          <a:ln/>
        </p:spPr>
        <p:txBody>
          <a:bodyPr wrap="square" lIns="0" tIns="0" rIns="0" bIns="0" rtlCol="0" anchor="ctr"/>
          <a:lstStyle/>
          <a:p>
            <a:pPr marL="0" indent="0">
              <a:buNone/>
            </a:pPr>
            <a:r>
              <a:rPr lang="en-US" sz="1200" kern="0" spc="100" dirty="0">
                <a:solidFill>
                  <a:srgbClr val="8FA0B8"/>
                </a:solidFill>
                <a:latin typeface="Courier New" pitchFamily="34" charset="0"/>
                <a:ea typeface="Courier New" pitchFamily="34" charset="-122"/>
                <a:cs typeface="Courier New" pitchFamily="34" charset="-120"/>
              </a:rPr>
              <a:t>CODE</a:t>
            </a:r>
            <a:endParaRPr lang="en-US" sz="1200" dirty="0"/>
          </a:p>
        </p:txBody>
      </p:sp>
      <p:sp>
        <p:nvSpPr>
          <p:cNvPr id="4" name="Text 2"/>
          <p:cNvSpPr/>
          <p:nvPr/>
        </p:nvSpPr>
        <p:spPr>
          <a:xfrm>
            <a:off x="640080" y="777240"/>
            <a:ext cx="7315200" cy="548640"/>
          </a:xfrm>
          <a:prstGeom prst="rect">
            <a:avLst/>
          </a:prstGeom>
          <a:noFill/>
          <a:ln/>
        </p:spPr>
        <p:txBody>
          <a:bodyPr wrap="square" lIns="0" tIns="0" rIns="0" bIns="0" rtlCol="0" anchor="ctr"/>
          <a:lstStyle/>
          <a:p>
            <a:pPr marL="0" indent="0">
              <a:buNone/>
            </a:pPr>
            <a:r>
              <a:rPr lang="en-US" sz="3200" b="1" dirty="0">
                <a:solidFill>
                  <a:srgbClr val="E8EDF5"/>
                </a:solidFill>
                <a:latin typeface="Arial" pitchFamily="34" charset="0"/>
                <a:ea typeface="Arial" pitchFamily="34" charset="-122"/>
                <a:cs typeface="Arial" pitchFamily="34" charset="-120"/>
              </a:rPr>
              <a:t>Share</a:t>
            </a:r>
            <a:endParaRPr lang="en-US" sz="3200" dirty="0"/>
          </a:p>
        </p:txBody>
      </p:sp>
      <p:sp>
        <p:nvSpPr>
          <p:cNvPr id="5" name="Shape 3"/>
          <p:cNvSpPr/>
          <p:nvPr/>
        </p:nvSpPr>
        <p:spPr>
          <a:xfrm>
            <a:off x="8229600" y="841248"/>
            <a:ext cx="3319272" cy="411480"/>
          </a:xfrm>
          <a:prstGeom prst="roundRect">
            <a:avLst>
              <a:gd name="adj" fmla="val 13333"/>
            </a:avLst>
          </a:prstGeom>
          <a:solidFill>
            <a:srgbClr val="151E2E"/>
          </a:solidFill>
          <a:ln w="12700">
            <a:solidFill>
              <a:srgbClr val="24314A"/>
            </a:solidFill>
            <a:prstDash val="solid"/>
          </a:ln>
        </p:spPr>
        <p:txBody>
          <a:bodyPr/>
          <a:lstStyle/>
          <a:p>
            <a:endParaRPr lang="en-US"/>
          </a:p>
        </p:txBody>
      </p:sp>
      <p:sp>
        <p:nvSpPr>
          <p:cNvPr id="6" name="Text 4"/>
          <p:cNvSpPr/>
          <p:nvPr/>
        </p:nvSpPr>
        <p:spPr>
          <a:xfrm>
            <a:off x="8229600" y="841248"/>
            <a:ext cx="3319272" cy="411480"/>
          </a:xfrm>
          <a:prstGeom prst="rect">
            <a:avLst/>
          </a:prstGeom>
          <a:noFill/>
          <a:ln/>
        </p:spPr>
        <p:txBody>
          <a:bodyPr wrap="square" lIns="0" tIns="0" rIns="0" bIns="0" rtlCol="0" anchor="ctr"/>
          <a:lstStyle/>
          <a:p>
            <a:pPr marL="0" indent="0" algn="ctr">
              <a:buNone/>
            </a:pPr>
            <a:r>
              <a:rPr lang="en-US" sz="1200" dirty="0">
                <a:solidFill>
                  <a:srgbClr val="00D9A3"/>
                </a:solidFill>
                <a:latin typeface="Courier New" pitchFamily="34" charset="0"/>
                <a:ea typeface="Courier New" pitchFamily="34" charset="-122"/>
                <a:cs typeface="Courier New" pitchFamily="34" charset="-120"/>
              </a:rPr>
              <a:t>sharing.service</a:t>
            </a:r>
            <a:endParaRPr lang="en-US" sz="1200" dirty="0"/>
          </a:p>
        </p:txBody>
      </p:sp>
      <p:sp>
        <p:nvSpPr>
          <p:cNvPr id="7" name="Text 5"/>
          <p:cNvSpPr/>
          <p:nvPr/>
        </p:nvSpPr>
        <p:spPr>
          <a:xfrm>
            <a:off x="640080" y="1444752"/>
            <a:ext cx="10881360" cy="365760"/>
          </a:xfrm>
          <a:prstGeom prst="rect">
            <a:avLst/>
          </a:prstGeom>
          <a:noFill/>
          <a:ln/>
        </p:spPr>
        <p:txBody>
          <a:bodyPr wrap="square" lIns="0" tIns="0" rIns="0" bIns="0" rtlCol="0" anchor="ctr"/>
          <a:lstStyle/>
          <a:p>
            <a:pPr marL="0" indent="0">
              <a:buNone/>
            </a:pPr>
            <a:r>
              <a:rPr lang="en-US" sz="1400" dirty="0">
                <a:solidFill>
                  <a:srgbClr val="8FA0B8"/>
                </a:solidFill>
                <a:latin typeface="Calibri" pitchFamily="34" charset="0"/>
                <a:ea typeface="Calibri" pitchFamily="34" charset="-122"/>
                <a:cs typeface="Calibri" pitchFamily="34" charset="-120"/>
              </a:rPr>
              <a:t>Barcodes als Text oder als Datei über den System-Dialog teilen.</a:t>
            </a:r>
            <a:endParaRPr lang="en-US" sz="1400" dirty="0"/>
          </a:p>
        </p:txBody>
      </p:sp>
      <p:sp>
        <p:nvSpPr>
          <p:cNvPr id="8" name="Text 6"/>
          <p:cNvSpPr/>
          <p:nvPr/>
        </p:nvSpPr>
        <p:spPr>
          <a:xfrm>
            <a:off x="1431036" y="2063926"/>
            <a:ext cx="9326880" cy="237744"/>
          </a:xfrm>
          <a:prstGeom prst="rect">
            <a:avLst/>
          </a:prstGeom>
          <a:noFill/>
          <a:ln/>
        </p:spPr>
        <p:txBody>
          <a:bodyPr wrap="square" lIns="0" tIns="0" rIns="0" bIns="0" rtlCol="0" anchor="ctr"/>
          <a:lstStyle/>
          <a:p>
            <a:pPr marL="0" indent="0">
              <a:buNone/>
            </a:pPr>
            <a:r>
              <a:rPr lang="en-US" sz="1100" dirty="0">
                <a:solidFill>
                  <a:srgbClr val="8FA0B8"/>
                </a:solidFill>
                <a:latin typeface="Courier New" pitchFamily="34" charset="0"/>
                <a:ea typeface="Courier New" pitchFamily="34" charset="-122"/>
                <a:cs typeface="Courier New" pitchFamily="34" charset="-120"/>
              </a:rPr>
              <a:t>// Text oder Datei über den System-Dialog teilen</a:t>
            </a:r>
            <a:endParaRPr lang="en-US" sz="1100" dirty="0"/>
          </a:p>
        </p:txBody>
      </p:sp>
      <p:pic>
        <p:nvPicPr>
          <p:cNvPr id="9" name="Image 0" descr="code/img-015.png"/>
          <p:cNvPicPr>
            <a:picLocks noChangeAspect="1"/>
          </p:cNvPicPr>
          <p:nvPr/>
        </p:nvPicPr>
        <p:blipFill>
          <a:blip r:embed="rId3"/>
          <a:stretch>
            <a:fillRect/>
          </a:stretch>
        </p:blipFill>
        <p:spPr>
          <a:xfrm>
            <a:off x="1431036" y="2338246"/>
            <a:ext cx="9326880" cy="387314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640080" y="411480"/>
            <a:ext cx="548640" cy="274320"/>
          </a:xfrm>
          <a:prstGeom prst="rect">
            <a:avLst/>
          </a:prstGeom>
          <a:noFill/>
          <a:ln/>
        </p:spPr>
        <p:txBody>
          <a:bodyPr wrap="square" lIns="0" tIns="0" rIns="0" bIns="0" rtlCol="0" anchor="ctr"/>
          <a:lstStyle/>
          <a:p>
            <a:pPr marL="0" indent="0">
              <a:buNone/>
            </a:pPr>
            <a:r>
              <a:rPr lang="en-US" sz="1200" b="1" dirty="0">
                <a:solidFill>
                  <a:srgbClr val="00D9A3"/>
                </a:solidFill>
                <a:latin typeface="Courier New" pitchFamily="34" charset="0"/>
                <a:ea typeface="Courier New" pitchFamily="34" charset="-122"/>
                <a:cs typeface="Courier New" pitchFamily="34" charset="-120"/>
              </a:rPr>
              <a:t>03</a:t>
            </a:r>
            <a:endParaRPr lang="en-US" sz="1200" dirty="0"/>
          </a:p>
        </p:txBody>
      </p:sp>
      <p:sp>
        <p:nvSpPr>
          <p:cNvPr id="3" name="Text 1"/>
          <p:cNvSpPr/>
          <p:nvPr/>
        </p:nvSpPr>
        <p:spPr>
          <a:xfrm>
            <a:off x="1143000" y="411480"/>
            <a:ext cx="7315200" cy="274320"/>
          </a:xfrm>
          <a:prstGeom prst="rect">
            <a:avLst/>
          </a:prstGeom>
          <a:noFill/>
          <a:ln/>
        </p:spPr>
        <p:txBody>
          <a:bodyPr wrap="square" lIns="0" tIns="0" rIns="0" bIns="0" rtlCol="0" anchor="ctr"/>
          <a:lstStyle/>
          <a:p>
            <a:pPr marL="0" indent="0">
              <a:buNone/>
            </a:pPr>
            <a:r>
              <a:rPr lang="en-US" sz="1200" kern="0" spc="100" dirty="0">
                <a:solidFill>
                  <a:srgbClr val="8FA0B8"/>
                </a:solidFill>
                <a:latin typeface="Courier New" pitchFamily="34" charset="0"/>
                <a:ea typeface="Courier New" pitchFamily="34" charset="-122"/>
                <a:cs typeface="Courier New" pitchFamily="34" charset="-120"/>
              </a:rPr>
              <a:t>CODE</a:t>
            </a:r>
            <a:endParaRPr lang="en-US" sz="1200" dirty="0"/>
          </a:p>
        </p:txBody>
      </p:sp>
      <p:sp>
        <p:nvSpPr>
          <p:cNvPr id="4" name="Text 2"/>
          <p:cNvSpPr/>
          <p:nvPr/>
        </p:nvSpPr>
        <p:spPr>
          <a:xfrm>
            <a:off x="640080" y="777240"/>
            <a:ext cx="7315200" cy="548640"/>
          </a:xfrm>
          <a:prstGeom prst="rect">
            <a:avLst/>
          </a:prstGeom>
          <a:noFill/>
          <a:ln/>
        </p:spPr>
        <p:txBody>
          <a:bodyPr wrap="square" lIns="0" tIns="0" rIns="0" bIns="0" rtlCol="0" anchor="ctr"/>
          <a:lstStyle/>
          <a:p>
            <a:pPr marL="0" indent="0">
              <a:buNone/>
            </a:pPr>
            <a:r>
              <a:rPr lang="en-US" sz="3200" b="1" dirty="0">
                <a:solidFill>
                  <a:srgbClr val="E8EDF5"/>
                </a:solidFill>
                <a:latin typeface="Arial" pitchFamily="34" charset="0"/>
                <a:ea typeface="Arial" pitchFamily="34" charset="-122"/>
                <a:cs typeface="Arial" pitchFamily="34" charset="-120"/>
              </a:rPr>
              <a:t>Filesystem</a:t>
            </a:r>
            <a:endParaRPr lang="en-US" sz="3200" dirty="0"/>
          </a:p>
        </p:txBody>
      </p:sp>
      <p:sp>
        <p:nvSpPr>
          <p:cNvPr id="5" name="Shape 3"/>
          <p:cNvSpPr/>
          <p:nvPr/>
        </p:nvSpPr>
        <p:spPr>
          <a:xfrm>
            <a:off x="8229600" y="841248"/>
            <a:ext cx="3319272" cy="411480"/>
          </a:xfrm>
          <a:prstGeom prst="roundRect">
            <a:avLst>
              <a:gd name="adj" fmla="val 13333"/>
            </a:avLst>
          </a:prstGeom>
          <a:solidFill>
            <a:srgbClr val="151E2E"/>
          </a:solidFill>
          <a:ln w="12700">
            <a:solidFill>
              <a:srgbClr val="24314A"/>
            </a:solidFill>
            <a:prstDash val="solid"/>
          </a:ln>
        </p:spPr>
        <p:txBody>
          <a:bodyPr/>
          <a:lstStyle/>
          <a:p>
            <a:endParaRPr lang="en-US"/>
          </a:p>
        </p:txBody>
      </p:sp>
      <p:sp>
        <p:nvSpPr>
          <p:cNvPr id="6" name="Text 4"/>
          <p:cNvSpPr/>
          <p:nvPr/>
        </p:nvSpPr>
        <p:spPr>
          <a:xfrm>
            <a:off x="8229600" y="841248"/>
            <a:ext cx="3319272" cy="411480"/>
          </a:xfrm>
          <a:prstGeom prst="rect">
            <a:avLst/>
          </a:prstGeom>
          <a:noFill/>
          <a:ln/>
        </p:spPr>
        <p:txBody>
          <a:bodyPr wrap="square" lIns="0" tIns="0" rIns="0" bIns="0" rtlCol="0" anchor="ctr"/>
          <a:lstStyle/>
          <a:p>
            <a:pPr marL="0" indent="0" algn="ctr">
              <a:buNone/>
            </a:pPr>
            <a:r>
              <a:rPr lang="en-US" sz="1200" dirty="0">
                <a:solidFill>
                  <a:srgbClr val="00D9A3"/>
                </a:solidFill>
                <a:latin typeface="Courier New" pitchFamily="34" charset="0"/>
                <a:ea typeface="Courier New" pitchFamily="34" charset="-122"/>
                <a:cs typeface="Courier New" pitchFamily="34" charset="-120"/>
              </a:rPr>
              <a:t>file.service</a:t>
            </a:r>
            <a:endParaRPr lang="en-US" sz="1200" dirty="0"/>
          </a:p>
        </p:txBody>
      </p:sp>
      <p:sp>
        <p:nvSpPr>
          <p:cNvPr id="7" name="Text 5"/>
          <p:cNvSpPr/>
          <p:nvPr/>
        </p:nvSpPr>
        <p:spPr>
          <a:xfrm>
            <a:off x="640080" y="1444752"/>
            <a:ext cx="10881360" cy="365760"/>
          </a:xfrm>
          <a:prstGeom prst="rect">
            <a:avLst/>
          </a:prstGeom>
          <a:noFill/>
          <a:ln/>
        </p:spPr>
        <p:txBody>
          <a:bodyPr wrap="square" lIns="0" tIns="0" rIns="0" bIns="0" rtlCol="0" anchor="ctr"/>
          <a:lstStyle/>
          <a:p>
            <a:pPr marL="0" indent="0">
              <a:buNone/>
            </a:pPr>
            <a:r>
              <a:rPr lang="en-US" sz="1400" dirty="0">
                <a:solidFill>
                  <a:srgbClr val="8FA0B8"/>
                </a:solidFill>
                <a:latin typeface="Calibri" pitchFamily="34" charset="0"/>
                <a:ea typeface="Calibri" pitchFamily="34" charset="-122"/>
                <a:cs typeface="Calibri" pitchFamily="34" charset="-120"/>
              </a:rPr>
              <a:t>Für den Datei-Versand wird zuerst eine Datei im Cache-Verzeichnis abgelegt.</a:t>
            </a:r>
            <a:endParaRPr lang="en-US" sz="1400" dirty="0"/>
          </a:p>
        </p:txBody>
      </p:sp>
      <p:sp>
        <p:nvSpPr>
          <p:cNvPr id="8" name="Text 6"/>
          <p:cNvSpPr/>
          <p:nvPr/>
        </p:nvSpPr>
        <p:spPr>
          <a:xfrm>
            <a:off x="640080" y="3080902"/>
            <a:ext cx="5221224" cy="237744"/>
          </a:xfrm>
          <a:prstGeom prst="rect">
            <a:avLst/>
          </a:prstGeom>
          <a:noFill/>
          <a:ln/>
        </p:spPr>
        <p:txBody>
          <a:bodyPr wrap="square" lIns="0" tIns="0" rIns="0" bIns="0" rtlCol="0" anchor="ctr"/>
          <a:lstStyle/>
          <a:p>
            <a:pPr marL="0" indent="0">
              <a:buNone/>
            </a:pPr>
            <a:r>
              <a:rPr lang="en-US" sz="1100" dirty="0">
                <a:solidFill>
                  <a:srgbClr val="8FA0B8"/>
                </a:solidFill>
                <a:latin typeface="Courier New" pitchFamily="34" charset="0"/>
                <a:ea typeface="Courier New" pitchFamily="34" charset="-122"/>
                <a:cs typeface="Courier New" pitchFamily="34" charset="-120"/>
              </a:rPr>
              <a:t>// Text in den Cache schreiben</a:t>
            </a:r>
            <a:endParaRPr lang="en-US" sz="1100" dirty="0"/>
          </a:p>
        </p:txBody>
      </p:sp>
      <p:pic>
        <p:nvPicPr>
          <p:cNvPr id="9" name="Image 0" descr="code/img-008.png"/>
          <p:cNvPicPr>
            <a:picLocks noChangeAspect="1"/>
          </p:cNvPicPr>
          <p:nvPr/>
        </p:nvPicPr>
        <p:blipFill>
          <a:blip r:embed="rId3"/>
          <a:stretch>
            <a:fillRect/>
          </a:stretch>
        </p:blipFill>
        <p:spPr>
          <a:xfrm>
            <a:off x="640080" y="3355222"/>
            <a:ext cx="5221224" cy="1582774"/>
          </a:xfrm>
          <a:prstGeom prst="rect">
            <a:avLst/>
          </a:prstGeom>
        </p:spPr>
      </p:pic>
      <p:sp>
        <p:nvSpPr>
          <p:cNvPr id="10" name="Text 7"/>
          <p:cNvSpPr/>
          <p:nvPr/>
        </p:nvSpPr>
        <p:spPr>
          <a:xfrm>
            <a:off x="6327648" y="3080902"/>
            <a:ext cx="5221224" cy="237744"/>
          </a:xfrm>
          <a:prstGeom prst="rect">
            <a:avLst/>
          </a:prstGeom>
          <a:noFill/>
          <a:ln/>
        </p:spPr>
        <p:txBody>
          <a:bodyPr wrap="square" lIns="0" tIns="0" rIns="0" bIns="0" rtlCol="0" anchor="ctr"/>
          <a:lstStyle/>
          <a:p>
            <a:pPr marL="0" indent="0">
              <a:buNone/>
            </a:pPr>
            <a:r>
              <a:rPr lang="en-US" sz="1100" dirty="0">
                <a:solidFill>
                  <a:srgbClr val="8FA0B8"/>
                </a:solidFill>
                <a:latin typeface="Courier New" pitchFamily="34" charset="0"/>
                <a:ea typeface="Courier New" pitchFamily="34" charset="-122"/>
                <a:cs typeface="Courier New" pitchFamily="34" charset="-120"/>
              </a:rPr>
              <a:t>// Base64-Daten in den Cache schreiben</a:t>
            </a:r>
            <a:endParaRPr lang="en-US" sz="1100" dirty="0"/>
          </a:p>
        </p:txBody>
      </p:sp>
      <p:pic>
        <p:nvPicPr>
          <p:cNvPr id="11" name="Image 1" descr="code/img-010.png"/>
          <p:cNvPicPr>
            <a:picLocks noChangeAspect="1"/>
          </p:cNvPicPr>
          <p:nvPr/>
        </p:nvPicPr>
        <p:blipFill>
          <a:blip r:embed="rId4"/>
          <a:stretch>
            <a:fillRect/>
          </a:stretch>
        </p:blipFill>
        <p:spPr>
          <a:xfrm>
            <a:off x="6327648" y="3355222"/>
            <a:ext cx="5221224" cy="183919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51E2E"/>
        </a:solidFill>
        <a:effectLst/>
      </p:bgPr>
    </p:bg>
    <p:spTree>
      <p:nvGrpSpPr>
        <p:cNvPr id="1" name=""/>
        <p:cNvGrpSpPr/>
        <p:nvPr/>
      </p:nvGrpSpPr>
      <p:grpSpPr>
        <a:xfrm>
          <a:off x="0" y="0"/>
          <a:ext cx="0" cy="0"/>
          <a:chOff x="0" y="0"/>
          <a:chExt cx="0" cy="0"/>
        </a:xfrm>
      </p:grpSpPr>
      <p:sp>
        <p:nvSpPr>
          <p:cNvPr id="2" name="Text 0"/>
          <p:cNvSpPr/>
          <p:nvPr/>
        </p:nvSpPr>
        <p:spPr>
          <a:xfrm>
            <a:off x="548640" y="1371600"/>
            <a:ext cx="3200400" cy="2377440"/>
          </a:xfrm>
          <a:prstGeom prst="rect">
            <a:avLst/>
          </a:prstGeom>
          <a:noFill/>
          <a:ln/>
        </p:spPr>
        <p:txBody>
          <a:bodyPr wrap="square" lIns="0" tIns="0" rIns="0" bIns="0" rtlCol="0" anchor="ctr"/>
          <a:lstStyle/>
          <a:p>
            <a:pPr marL="0" indent="0">
              <a:buNone/>
            </a:pPr>
            <a:r>
              <a:rPr lang="en-US" sz="13000" b="1" dirty="0">
                <a:solidFill>
                  <a:srgbClr val="1B2638"/>
                </a:solidFill>
                <a:latin typeface="Arial" pitchFamily="34" charset="0"/>
                <a:ea typeface="Arial" pitchFamily="34" charset="-122"/>
                <a:cs typeface="Arial" pitchFamily="34" charset="-120"/>
              </a:rPr>
              <a:t>04</a:t>
            </a:r>
            <a:endParaRPr lang="en-US" sz="13000" dirty="0"/>
          </a:p>
        </p:txBody>
      </p:sp>
      <p:sp>
        <p:nvSpPr>
          <p:cNvPr id="3" name="Text 1"/>
          <p:cNvSpPr/>
          <p:nvPr/>
        </p:nvSpPr>
        <p:spPr>
          <a:xfrm>
            <a:off x="3108960" y="2148840"/>
            <a:ext cx="7863840" cy="822960"/>
          </a:xfrm>
          <a:prstGeom prst="rect">
            <a:avLst/>
          </a:prstGeom>
          <a:noFill/>
          <a:ln/>
        </p:spPr>
        <p:txBody>
          <a:bodyPr wrap="square" lIns="0" tIns="0" rIns="0" bIns="0" rtlCol="0" anchor="ctr"/>
          <a:lstStyle/>
          <a:p>
            <a:pPr marL="0" indent="0">
              <a:buNone/>
            </a:pPr>
            <a:r>
              <a:rPr lang="en-US" sz="4000" b="1" dirty="0">
                <a:solidFill>
                  <a:srgbClr val="E8EDF5"/>
                </a:solidFill>
                <a:latin typeface="Arial" pitchFamily="34" charset="0"/>
                <a:ea typeface="Arial" pitchFamily="34" charset="-122"/>
                <a:cs typeface="Arial" pitchFamily="34" charset="-120"/>
              </a:rPr>
              <a:t>Erfahrungen / Probleme</a:t>
            </a:r>
            <a:endParaRPr lang="en-US" sz="4000" dirty="0"/>
          </a:p>
        </p:txBody>
      </p:sp>
      <p:sp>
        <p:nvSpPr>
          <p:cNvPr id="4" name="Text 2"/>
          <p:cNvSpPr/>
          <p:nvPr/>
        </p:nvSpPr>
        <p:spPr>
          <a:xfrm>
            <a:off x="3154680" y="3017520"/>
            <a:ext cx="7680960" cy="365760"/>
          </a:xfrm>
          <a:prstGeom prst="rect">
            <a:avLst/>
          </a:prstGeom>
          <a:noFill/>
          <a:ln/>
        </p:spPr>
        <p:txBody>
          <a:bodyPr wrap="square" lIns="0" tIns="0" rIns="0" bIns="0" rtlCol="0" anchor="ctr"/>
          <a:lstStyle/>
          <a:p>
            <a:pPr marL="0" indent="0">
              <a:buNone/>
            </a:pPr>
            <a:r>
              <a:rPr lang="en-US" sz="1600" dirty="0">
                <a:solidFill>
                  <a:srgbClr val="8FA0B8"/>
                </a:solidFill>
                <a:latin typeface="Calibri" pitchFamily="34" charset="0"/>
                <a:ea typeface="Calibri" pitchFamily="34" charset="-122"/>
                <a:cs typeface="Calibri" pitchFamily="34" charset="-120"/>
              </a:rPr>
              <a:t>Jede Herausforderung mit der gewählten Lösung</a:t>
            </a:r>
            <a:endParaRPr lang="en-US" sz="1600" dirty="0"/>
          </a:p>
        </p:txBody>
      </p:sp>
      <p:sp>
        <p:nvSpPr>
          <p:cNvPr id="5" name="Shape 3"/>
          <p:cNvSpPr/>
          <p:nvPr/>
        </p:nvSpPr>
        <p:spPr>
          <a:xfrm>
            <a:off x="3154680" y="3749040"/>
            <a:ext cx="109728" cy="320040"/>
          </a:xfrm>
          <a:prstGeom prst="rect">
            <a:avLst/>
          </a:prstGeom>
          <a:solidFill>
            <a:srgbClr val="FFB020"/>
          </a:solidFill>
          <a:ln w="12700">
            <a:solidFill>
              <a:srgbClr val="FFB020"/>
            </a:solidFill>
            <a:prstDash val="solid"/>
          </a:ln>
        </p:spPr>
        <p:txBody>
          <a:bodyPr/>
          <a:lstStyle/>
          <a:p>
            <a:endParaRPr lang="en-US"/>
          </a:p>
        </p:txBody>
      </p:sp>
      <p:sp>
        <p:nvSpPr>
          <p:cNvPr id="6" name="Shape 4"/>
          <p:cNvSpPr/>
          <p:nvPr/>
        </p:nvSpPr>
        <p:spPr>
          <a:xfrm>
            <a:off x="3374136" y="3749040"/>
            <a:ext cx="36576" cy="320040"/>
          </a:xfrm>
          <a:prstGeom prst="rect">
            <a:avLst/>
          </a:prstGeom>
          <a:solidFill>
            <a:srgbClr val="FFB020"/>
          </a:solidFill>
          <a:ln w="12700">
            <a:solidFill>
              <a:srgbClr val="FFB020"/>
            </a:solidFill>
            <a:prstDash val="solid"/>
          </a:ln>
        </p:spPr>
        <p:txBody>
          <a:bodyPr/>
          <a:lstStyle/>
          <a:p>
            <a:endParaRPr lang="en-US"/>
          </a:p>
        </p:txBody>
      </p:sp>
      <p:sp>
        <p:nvSpPr>
          <p:cNvPr id="7" name="Shape 5"/>
          <p:cNvSpPr/>
          <p:nvPr/>
        </p:nvSpPr>
        <p:spPr>
          <a:xfrm>
            <a:off x="3557016" y="3749040"/>
            <a:ext cx="36576" cy="320040"/>
          </a:xfrm>
          <a:prstGeom prst="rect">
            <a:avLst/>
          </a:prstGeom>
          <a:solidFill>
            <a:srgbClr val="FFB020"/>
          </a:solidFill>
          <a:ln w="12700">
            <a:solidFill>
              <a:srgbClr val="FFB020"/>
            </a:solidFill>
            <a:prstDash val="solid"/>
          </a:ln>
        </p:spPr>
        <p:txBody>
          <a:bodyPr/>
          <a:lstStyle/>
          <a:p>
            <a:endParaRPr lang="en-US"/>
          </a:p>
        </p:txBody>
      </p:sp>
      <p:sp>
        <p:nvSpPr>
          <p:cNvPr id="8" name="Shape 6"/>
          <p:cNvSpPr/>
          <p:nvPr/>
        </p:nvSpPr>
        <p:spPr>
          <a:xfrm>
            <a:off x="3813048" y="3749040"/>
            <a:ext cx="36576" cy="320040"/>
          </a:xfrm>
          <a:prstGeom prst="rect">
            <a:avLst/>
          </a:prstGeom>
          <a:solidFill>
            <a:srgbClr val="FFB020"/>
          </a:solidFill>
          <a:ln w="12700">
            <a:solidFill>
              <a:srgbClr val="FFB020"/>
            </a:solidFill>
            <a:prstDash val="solid"/>
          </a:ln>
        </p:spPr>
        <p:txBody>
          <a:bodyPr/>
          <a:lstStyle/>
          <a:p>
            <a:endParaRPr lang="en-US"/>
          </a:p>
        </p:txBody>
      </p:sp>
      <p:sp>
        <p:nvSpPr>
          <p:cNvPr id="9" name="Shape 7"/>
          <p:cNvSpPr/>
          <p:nvPr/>
        </p:nvSpPr>
        <p:spPr>
          <a:xfrm>
            <a:off x="3959352" y="3749040"/>
            <a:ext cx="73152" cy="320040"/>
          </a:xfrm>
          <a:prstGeom prst="rect">
            <a:avLst/>
          </a:prstGeom>
          <a:solidFill>
            <a:srgbClr val="FFB020"/>
          </a:solidFill>
          <a:ln w="12700">
            <a:solidFill>
              <a:srgbClr val="FFB020"/>
            </a:solidFill>
            <a:prstDash val="solid"/>
          </a:ln>
        </p:spPr>
        <p:txBody>
          <a:bodyPr/>
          <a:lstStyle/>
          <a:p>
            <a:endParaRPr lang="en-US"/>
          </a:p>
        </p:txBody>
      </p:sp>
      <p:sp>
        <p:nvSpPr>
          <p:cNvPr id="10" name="Shape 8"/>
          <p:cNvSpPr/>
          <p:nvPr/>
        </p:nvSpPr>
        <p:spPr>
          <a:xfrm>
            <a:off x="4215384" y="3749040"/>
            <a:ext cx="36576" cy="320040"/>
          </a:xfrm>
          <a:prstGeom prst="rect">
            <a:avLst/>
          </a:prstGeom>
          <a:solidFill>
            <a:srgbClr val="FFB020"/>
          </a:solidFill>
          <a:ln w="12700">
            <a:solidFill>
              <a:srgbClr val="FFB020"/>
            </a:solidFill>
            <a:prstDash val="solid"/>
          </a:ln>
        </p:spPr>
        <p:txBody>
          <a:bodyPr/>
          <a:lstStyle/>
          <a:p>
            <a:endParaRPr lang="en-US"/>
          </a:p>
        </p:txBody>
      </p:sp>
      <p:sp>
        <p:nvSpPr>
          <p:cNvPr id="11" name="Shape 9"/>
          <p:cNvSpPr/>
          <p:nvPr/>
        </p:nvSpPr>
        <p:spPr>
          <a:xfrm>
            <a:off x="4361688" y="3749040"/>
            <a:ext cx="36576" cy="320040"/>
          </a:xfrm>
          <a:prstGeom prst="rect">
            <a:avLst/>
          </a:prstGeom>
          <a:solidFill>
            <a:srgbClr val="FFB020"/>
          </a:solidFill>
          <a:ln w="12700">
            <a:solidFill>
              <a:srgbClr val="FFB020"/>
            </a:solidFill>
            <a:prstDash val="solid"/>
          </a:ln>
        </p:spPr>
        <p:txBody>
          <a:bodyPr/>
          <a:lstStyle/>
          <a:p>
            <a:endParaRPr lang="en-US"/>
          </a:p>
        </p:txBody>
      </p:sp>
      <p:sp>
        <p:nvSpPr>
          <p:cNvPr id="12" name="Shape 10"/>
          <p:cNvSpPr/>
          <p:nvPr/>
        </p:nvSpPr>
        <p:spPr>
          <a:xfrm>
            <a:off x="4544568" y="3749040"/>
            <a:ext cx="146304" cy="320040"/>
          </a:xfrm>
          <a:prstGeom prst="rect">
            <a:avLst/>
          </a:prstGeom>
          <a:solidFill>
            <a:srgbClr val="FFB020"/>
          </a:solidFill>
          <a:ln w="12700">
            <a:solidFill>
              <a:srgbClr val="FFB020"/>
            </a:solidFill>
            <a:prstDash val="solid"/>
          </a:ln>
        </p:spPr>
        <p:txBody>
          <a:bodyPr/>
          <a:lstStyle/>
          <a:p>
            <a:endParaRPr lang="en-US"/>
          </a:p>
        </p:txBody>
      </p:sp>
      <p:sp>
        <p:nvSpPr>
          <p:cNvPr id="13" name="Shape 11"/>
          <p:cNvSpPr/>
          <p:nvPr/>
        </p:nvSpPr>
        <p:spPr>
          <a:xfrm>
            <a:off x="4800600" y="3749040"/>
            <a:ext cx="73152" cy="320040"/>
          </a:xfrm>
          <a:prstGeom prst="rect">
            <a:avLst/>
          </a:prstGeom>
          <a:solidFill>
            <a:srgbClr val="FFB020"/>
          </a:solidFill>
          <a:ln w="12700">
            <a:solidFill>
              <a:srgbClr val="FFB020"/>
            </a:solidFill>
            <a:prstDash val="solid"/>
          </a:ln>
        </p:spPr>
        <p:txBody>
          <a:bodyPr/>
          <a:lstStyle/>
          <a:p>
            <a:endParaRPr lang="en-US"/>
          </a:p>
        </p:txBody>
      </p:sp>
      <p:sp>
        <p:nvSpPr>
          <p:cNvPr id="14" name="Shape 12"/>
          <p:cNvSpPr/>
          <p:nvPr/>
        </p:nvSpPr>
        <p:spPr>
          <a:xfrm>
            <a:off x="4983480" y="3749040"/>
            <a:ext cx="36576" cy="320040"/>
          </a:xfrm>
          <a:prstGeom prst="rect">
            <a:avLst/>
          </a:prstGeom>
          <a:solidFill>
            <a:srgbClr val="FFB020"/>
          </a:solidFill>
          <a:ln w="12700">
            <a:solidFill>
              <a:srgbClr val="FFB020"/>
            </a:solidFill>
            <a:prstDash val="solid"/>
          </a:ln>
        </p:spPr>
        <p:txBody>
          <a:bodyPr/>
          <a:lstStyle/>
          <a:p>
            <a:endParaRPr lang="en-US"/>
          </a:p>
        </p:txBody>
      </p:sp>
      <p:sp>
        <p:nvSpPr>
          <p:cNvPr id="15" name="Shape 13"/>
          <p:cNvSpPr/>
          <p:nvPr/>
        </p:nvSpPr>
        <p:spPr>
          <a:xfrm>
            <a:off x="5202936" y="3749040"/>
            <a:ext cx="36576" cy="320040"/>
          </a:xfrm>
          <a:prstGeom prst="rect">
            <a:avLst/>
          </a:prstGeom>
          <a:solidFill>
            <a:srgbClr val="FFB020"/>
          </a:solidFill>
          <a:ln w="12700">
            <a:solidFill>
              <a:srgbClr val="FFB020"/>
            </a:solidFill>
            <a:prstDash val="solid"/>
          </a:ln>
        </p:spPr>
        <p:txBody>
          <a:bodyPr/>
          <a:lstStyle/>
          <a:p>
            <a:endParaRPr lang="en-US"/>
          </a:p>
        </p:txBody>
      </p:sp>
      <p:sp>
        <p:nvSpPr>
          <p:cNvPr id="16" name="Shape 14"/>
          <p:cNvSpPr/>
          <p:nvPr/>
        </p:nvSpPr>
        <p:spPr>
          <a:xfrm>
            <a:off x="5385816" y="3749040"/>
            <a:ext cx="36576" cy="320040"/>
          </a:xfrm>
          <a:prstGeom prst="rect">
            <a:avLst/>
          </a:prstGeom>
          <a:solidFill>
            <a:srgbClr val="FFB020"/>
          </a:solidFill>
          <a:ln w="12700">
            <a:solidFill>
              <a:srgbClr val="FFB020"/>
            </a:solidFill>
            <a:prstDash val="solid"/>
          </a:ln>
        </p:spPr>
        <p:txBody>
          <a:bodyPr/>
          <a:lstStyle/>
          <a:p>
            <a:endParaRPr lang="en-US"/>
          </a:p>
        </p:txBody>
      </p:sp>
      <p:sp>
        <p:nvSpPr>
          <p:cNvPr id="17" name="Shape 15"/>
          <p:cNvSpPr/>
          <p:nvPr/>
        </p:nvSpPr>
        <p:spPr>
          <a:xfrm>
            <a:off x="5532120" y="3749040"/>
            <a:ext cx="146304" cy="320040"/>
          </a:xfrm>
          <a:prstGeom prst="rect">
            <a:avLst/>
          </a:prstGeom>
          <a:solidFill>
            <a:srgbClr val="FFB020"/>
          </a:solidFill>
          <a:ln w="12700">
            <a:solidFill>
              <a:srgbClr val="FFB020"/>
            </a:solidFill>
            <a:prstDash val="solid"/>
          </a:ln>
        </p:spPr>
        <p:txBody>
          <a:bodyPr/>
          <a:lstStyle/>
          <a:p>
            <a:endParaRPr lang="en-US"/>
          </a:p>
        </p:txBody>
      </p:sp>
      <p:sp>
        <p:nvSpPr>
          <p:cNvPr id="18" name="Shape 16"/>
          <p:cNvSpPr/>
          <p:nvPr/>
        </p:nvSpPr>
        <p:spPr>
          <a:xfrm>
            <a:off x="5788152" y="3749040"/>
            <a:ext cx="36576" cy="320040"/>
          </a:xfrm>
          <a:prstGeom prst="rect">
            <a:avLst/>
          </a:prstGeom>
          <a:solidFill>
            <a:srgbClr val="FFB020"/>
          </a:solidFill>
          <a:ln w="12700">
            <a:solidFill>
              <a:srgbClr val="FFB020"/>
            </a:solidFill>
            <a:prstDash val="solid"/>
          </a:ln>
        </p:spPr>
        <p:txBody>
          <a:bodyPr/>
          <a:lstStyle/>
          <a:p>
            <a:endParaRPr lang="en-US"/>
          </a:p>
        </p:txBody>
      </p:sp>
      <p:sp>
        <p:nvSpPr>
          <p:cNvPr id="19" name="Shape 17"/>
          <p:cNvSpPr/>
          <p:nvPr/>
        </p:nvSpPr>
        <p:spPr>
          <a:xfrm>
            <a:off x="5971032" y="3749040"/>
            <a:ext cx="36576" cy="320040"/>
          </a:xfrm>
          <a:prstGeom prst="rect">
            <a:avLst/>
          </a:prstGeom>
          <a:solidFill>
            <a:srgbClr val="FFB020"/>
          </a:solidFill>
          <a:ln w="12700">
            <a:solidFill>
              <a:srgbClr val="FFB020"/>
            </a:solidFill>
            <a:prstDash val="solid"/>
          </a:ln>
        </p:spPr>
        <p:txBody>
          <a:body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640080" y="411480"/>
            <a:ext cx="548640" cy="274320"/>
          </a:xfrm>
          <a:prstGeom prst="rect">
            <a:avLst/>
          </a:prstGeom>
          <a:noFill/>
          <a:ln/>
        </p:spPr>
        <p:txBody>
          <a:bodyPr wrap="square" lIns="0" tIns="0" rIns="0" bIns="0" rtlCol="0" anchor="ctr"/>
          <a:lstStyle/>
          <a:p>
            <a:pPr marL="0" indent="0">
              <a:buNone/>
            </a:pPr>
            <a:r>
              <a:rPr lang="en-US" sz="1200" b="1" dirty="0">
                <a:solidFill>
                  <a:srgbClr val="00D9A3"/>
                </a:solidFill>
                <a:latin typeface="Courier New" pitchFamily="34" charset="0"/>
                <a:ea typeface="Courier New" pitchFamily="34" charset="-122"/>
                <a:cs typeface="Courier New" pitchFamily="34" charset="-120"/>
              </a:rPr>
              <a:t>04</a:t>
            </a:r>
            <a:endParaRPr lang="en-US" sz="1200" dirty="0"/>
          </a:p>
        </p:txBody>
      </p:sp>
      <p:sp>
        <p:nvSpPr>
          <p:cNvPr id="3" name="Text 1"/>
          <p:cNvSpPr/>
          <p:nvPr/>
        </p:nvSpPr>
        <p:spPr>
          <a:xfrm>
            <a:off x="1143000" y="411480"/>
            <a:ext cx="7315200" cy="274320"/>
          </a:xfrm>
          <a:prstGeom prst="rect">
            <a:avLst/>
          </a:prstGeom>
          <a:noFill/>
          <a:ln/>
        </p:spPr>
        <p:txBody>
          <a:bodyPr wrap="square" lIns="0" tIns="0" rIns="0" bIns="0" rtlCol="0" anchor="ctr"/>
          <a:lstStyle/>
          <a:p>
            <a:pPr marL="0" indent="0">
              <a:buNone/>
            </a:pPr>
            <a:r>
              <a:rPr lang="en-US" sz="1200" kern="0" spc="100" dirty="0">
                <a:solidFill>
                  <a:srgbClr val="8FA0B8"/>
                </a:solidFill>
                <a:latin typeface="Courier New" pitchFamily="34" charset="0"/>
                <a:ea typeface="Courier New" pitchFamily="34" charset="-122"/>
                <a:cs typeface="Courier New" pitchFamily="34" charset="-120"/>
              </a:rPr>
              <a:t>ERFAHRUNGEN / PROBLEME</a:t>
            </a:r>
            <a:endParaRPr lang="en-US" sz="1200" dirty="0"/>
          </a:p>
        </p:txBody>
      </p:sp>
      <p:sp>
        <p:nvSpPr>
          <p:cNvPr id="4" name="Shape 2"/>
          <p:cNvSpPr/>
          <p:nvPr/>
        </p:nvSpPr>
        <p:spPr>
          <a:xfrm>
            <a:off x="640080" y="749808"/>
            <a:ext cx="566928" cy="566928"/>
          </a:xfrm>
          <a:prstGeom prst="roundRect">
            <a:avLst>
              <a:gd name="adj" fmla="val 19355"/>
            </a:avLst>
          </a:prstGeom>
          <a:solidFill>
            <a:srgbClr val="151E2E"/>
          </a:solidFill>
          <a:ln w="12700">
            <a:solidFill>
              <a:srgbClr val="FFB020"/>
            </a:solidFill>
            <a:prstDash val="solid"/>
          </a:ln>
        </p:spPr>
        <p:txBody>
          <a:bodyPr/>
          <a:lstStyle/>
          <a:p>
            <a:endParaRPr lang="en-US"/>
          </a:p>
        </p:txBody>
      </p:sp>
      <p:sp>
        <p:nvSpPr>
          <p:cNvPr id="5" name="Text 3"/>
          <p:cNvSpPr/>
          <p:nvPr/>
        </p:nvSpPr>
        <p:spPr>
          <a:xfrm>
            <a:off x="640080" y="749808"/>
            <a:ext cx="566928" cy="566928"/>
          </a:xfrm>
          <a:prstGeom prst="rect">
            <a:avLst/>
          </a:prstGeom>
          <a:noFill/>
          <a:ln/>
        </p:spPr>
        <p:txBody>
          <a:bodyPr wrap="square" lIns="0" tIns="0" rIns="0" bIns="0" rtlCol="0" anchor="ctr"/>
          <a:lstStyle/>
          <a:p>
            <a:pPr marL="0" indent="0" algn="ctr">
              <a:buNone/>
            </a:pPr>
            <a:r>
              <a:rPr lang="en-US" sz="1800" b="1" dirty="0">
                <a:solidFill>
                  <a:srgbClr val="FFB020"/>
                </a:solidFill>
                <a:latin typeface="Courier New" pitchFamily="34" charset="0"/>
                <a:ea typeface="Courier New" pitchFamily="34" charset="-122"/>
                <a:cs typeface="Courier New" pitchFamily="34" charset="-120"/>
              </a:rPr>
              <a:t>1</a:t>
            </a:r>
            <a:endParaRPr lang="en-US" sz="1800" dirty="0"/>
          </a:p>
        </p:txBody>
      </p:sp>
      <p:sp>
        <p:nvSpPr>
          <p:cNvPr id="6" name="Text 4"/>
          <p:cNvSpPr/>
          <p:nvPr/>
        </p:nvSpPr>
        <p:spPr>
          <a:xfrm>
            <a:off x="1417320" y="749808"/>
            <a:ext cx="8412480" cy="566928"/>
          </a:xfrm>
          <a:prstGeom prst="rect">
            <a:avLst/>
          </a:prstGeom>
          <a:noFill/>
          <a:ln/>
        </p:spPr>
        <p:txBody>
          <a:bodyPr wrap="square" lIns="0" tIns="0" rIns="0" bIns="0" rtlCol="0" anchor="ctr"/>
          <a:lstStyle/>
          <a:p>
            <a:pPr marL="0" indent="0">
              <a:buNone/>
            </a:pPr>
            <a:r>
              <a:rPr lang="en-US" sz="3000" b="1" dirty="0">
                <a:solidFill>
                  <a:srgbClr val="E8EDF5"/>
                </a:solidFill>
                <a:latin typeface="Arial" pitchFamily="34" charset="0"/>
                <a:ea typeface="Arial" pitchFamily="34" charset="-122"/>
                <a:cs typeface="Arial" pitchFamily="34" charset="-120"/>
              </a:rPr>
              <a:t>Berechtigungen erfragen</a:t>
            </a:r>
            <a:endParaRPr lang="en-US" sz="3000" dirty="0"/>
          </a:p>
        </p:txBody>
      </p:sp>
      <p:sp>
        <p:nvSpPr>
          <p:cNvPr id="7" name="Text 5"/>
          <p:cNvSpPr/>
          <p:nvPr/>
        </p:nvSpPr>
        <p:spPr>
          <a:xfrm>
            <a:off x="9966960" y="749808"/>
            <a:ext cx="1581912" cy="566928"/>
          </a:xfrm>
          <a:prstGeom prst="rect">
            <a:avLst/>
          </a:prstGeom>
          <a:noFill/>
          <a:ln/>
        </p:spPr>
        <p:txBody>
          <a:bodyPr wrap="square" lIns="0" tIns="0" rIns="0" bIns="0" rtlCol="0" anchor="ctr"/>
          <a:lstStyle/>
          <a:p>
            <a:pPr marL="0" indent="0" algn="r">
              <a:buNone/>
            </a:pPr>
            <a:r>
              <a:rPr lang="en-US" sz="1200" dirty="0">
                <a:solidFill>
                  <a:srgbClr val="8FA0B8"/>
                </a:solidFill>
                <a:latin typeface="Courier New" pitchFamily="34" charset="0"/>
                <a:ea typeface="Courier New" pitchFamily="34" charset="-122"/>
                <a:cs typeface="Courier New" pitchFamily="34" charset="-120"/>
              </a:rPr>
              <a:t>1 / 5</a:t>
            </a:r>
            <a:endParaRPr lang="en-US" sz="1200" dirty="0"/>
          </a:p>
        </p:txBody>
      </p:sp>
      <p:sp>
        <p:nvSpPr>
          <p:cNvPr id="8" name="Shape 6"/>
          <p:cNvSpPr/>
          <p:nvPr/>
        </p:nvSpPr>
        <p:spPr>
          <a:xfrm>
            <a:off x="640080" y="1691640"/>
            <a:ext cx="5285232" cy="2788920"/>
          </a:xfrm>
          <a:prstGeom prst="roundRect">
            <a:avLst>
              <a:gd name="adj" fmla="val 1967"/>
            </a:avLst>
          </a:prstGeom>
          <a:solidFill>
            <a:srgbClr val="151E2E"/>
          </a:solidFill>
          <a:ln w="12700">
            <a:solidFill>
              <a:srgbClr val="FFB020"/>
            </a:solidFill>
            <a:prstDash val="solid"/>
          </a:ln>
        </p:spPr>
        <p:txBody>
          <a:bodyPr/>
          <a:lstStyle/>
          <a:p>
            <a:endParaRPr lang="en-US"/>
          </a:p>
        </p:txBody>
      </p:sp>
      <p:sp>
        <p:nvSpPr>
          <p:cNvPr id="9" name="Text 7"/>
          <p:cNvSpPr/>
          <p:nvPr/>
        </p:nvSpPr>
        <p:spPr>
          <a:xfrm>
            <a:off x="960120" y="1965960"/>
            <a:ext cx="2743200" cy="274320"/>
          </a:xfrm>
          <a:prstGeom prst="rect">
            <a:avLst/>
          </a:prstGeom>
          <a:noFill/>
          <a:ln/>
        </p:spPr>
        <p:txBody>
          <a:bodyPr wrap="square" lIns="0" tIns="0" rIns="0" bIns="0" rtlCol="0" anchor="ctr"/>
          <a:lstStyle/>
          <a:p>
            <a:pPr marL="0" indent="0">
              <a:buNone/>
            </a:pPr>
            <a:r>
              <a:rPr lang="en-US" sz="1200" b="1" kern="0" spc="100" dirty="0">
                <a:solidFill>
                  <a:srgbClr val="FFB020"/>
                </a:solidFill>
                <a:latin typeface="Courier New" pitchFamily="34" charset="0"/>
                <a:ea typeface="Courier New" pitchFamily="34" charset="-122"/>
                <a:cs typeface="Courier New" pitchFamily="34" charset="-120"/>
              </a:rPr>
              <a:t>Problem</a:t>
            </a:r>
            <a:endParaRPr lang="en-US" sz="1200" dirty="0"/>
          </a:p>
        </p:txBody>
      </p:sp>
      <p:sp>
        <p:nvSpPr>
          <p:cNvPr id="10" name="Text 8"/>
          <p:cNvSpPr/>
          <p:nvPr/>
        </p:nvSpPr>
        <p:spPr>
          <a:xfrm>
            <a:off x="960120" y="2377440"/>
            <a:ext cx="4663440" cy="2286000"/>
          </a:xfrm>
          <a:prstGeom prst="rect">
            <a:avLst/>
          </a:prstGeom>
          <a:noFill/>
          <a:ln/>
        </p:spPr>
        <p:txBody>
          <a:bodyPr wrap="square" lIns="0" tIns="0" rIns="0" bIns="0" rtlCol="0" anchor="t"/>
          <a:lstStyle/>
          <a:p>
            <a:pPr marL="0" indent="0">
              <a:lnSpc>
                <a:spcPts val="2300"/>
              </a:lnSpc>
              <a:buNone/>
            </a:pPr>
            <a:r>
              <a:rPr lang="en-US" sz="1500" dirty="0">
                <a:solidFill>
                  <a:srgbClr val="E8EDF5"/>
                </a:solidFill>
                <a:latin typeface="Calibri" pitchFamily="34" charset="0"/>
                <a:ea typeface="Calibri" pitchFamily="34" charset="-122"/>
                <a:cs typeface="Calibri" pitchFamily="34" charset="-120"/>
              </a:rPr>
              <a:t>Beim Öffnen der Kamera erschien keine Abfrage nach der Berechtigung. Auch manuell ließ sich die Berechtigung nicht erteilen. Die App blieb an dieser Stelle stehen und die Ursache war zunächst nicht erkennbar.</a:t>
            </a:r>
            <a:endParaRPr lang="en-US" sz="1500" dirty="0"/>
          </a:p>
        </p:txBody>
      </p:sp>
      <p:sp>
        <p:nvSpPr>
          <p:cNvPr id="11" name="Shape 9"/>
          <p:cNvSpPr/>
          <p:nvPr/>
        </p:nvSpPr>
        <p:spPr>
          <a:xfrm>
            <a:off x="6263640" y="1691640"/>
            <a:ext cx="5285232" cy="2788920"/>
          </a:xfrm>
          <a:prstGeom prst="roundRect">
            <a:avLst>
              <a:gd name="adj" fmla="val 1967"/>
            </a:avLst>
          </a:prstGeom>
          <a:solidFill>
            <a:srgbClr val="151E2E"/>
          </a:solidFill>
          <a:ln w="12700">
            <a:solidFill>
              <a:srgbClr val="00D9A3"/>
            </a:solidFill>
            <a:prstDash val="solid"/>
          </a:ln>
        </p:spPr>
        <p:txBody>
          <a:bodyPr/>
          <a:lstStyle/>
          <a:p>
            <a:endParaRPr lang="en-US"/>
          </a:p>
        </p:txBody>
      </p:sp>
      <p:sp>
        <p:nvSpPr>
          <p:cNvPr id="12" name="Text 10"/>
          <p:cNvSpPr/>
          <p:nvPr/>
        </p:nvSpPr>
        <p:spPr>
          <a:xfrm>
            <a:off x="6583680" y="1965960"/>
            <a:ext cx="2743200" cy="274320"/>
          </a:xfrm>
          <a:prstGeom prst="rect">
            <a:avLst/>
          </a:prstGeom>
          <a:noFill/>
          <a:ln/>
        </p:spPr>
        <p:txBody>
          <a:bodyPr wrap="square" lIns="0" tIns="0" rIns="0" bIns="0" rtlCol="0" anchor="ctr"/>
          <a:lstStyle/>
          <a:p>
            <a:pPr marL="0" indent="0">
              <a:buNone/>
            </a:pPr>
            <a:r>
              <a:rPr lang="en-US" sz="1200" b="1" kern="0" spc="100" dirty="0">
                <a:solidFill>
                  <a:srgbClr val="00D9A3"/>
                </a:solidFill>
                <a:latin typeface="Courier New" pitchFamily="34" charset="0"/>
                <a:ea typeface="Courier New" pitchFamily="34" charset="-122"/>
                <a:cs typeface="Courier New" pitchFamily="34" charset="-120"/>
              </a:rPr>
              <a:t>Lösung</a:t>
            </a:r>
            <a:endParaRPr lang="en-US" sz="1200" dirty="0"/>
          </a:p>
        </p:txBody>
      </p:sp>
      <p:sp>
        <p:nvSpPr>
          <p:cNvPr id="13" name="Text 11"/>
          <p:cNvSpPr/>
          <p:nvPr/>
        </p:nvSpPr>
        <p:spPr>
          <a:xfrm>
            <a:off x="6583680" y="2377440"/>
            <a:ext cx="4663440" cy="2286000"/>
          </a:xfrm>
          <a:prstGeom prst="rect">
            <a:avLst/>
          </a:prstGeom>
          <a:noFill/>
          <a:ln/>
        </p:spPr>
        <p:txBody>
          <a:bodyPr wrap="square" lIns="0" tIns="0" rIns="0" bIns="0" rtlCol="0" anchor="t"/>
          <a:lstStyle/>
          <a:p>
            <a:pPr marL="0" indent="0">
              <a:lnSpc>
                <a:spcPts val="2300"/>
              </a:lnSpc>
              <a:buNone/>
            </a:pPr>
            <a:r>
              <a:rPr lang="en-US" sz="1500" dirty="0">
                <a:solidFill>
                  <a:srgbClr val="E8EDF5"/>
                </a:solidFill>
                <a:latin typeface="Calibri" pitchFamily="34" charset="0"/>
                <a:ea typeface="Calibri" pitchFamily="34" charset="-122"/>
                <a:cs typeface="Calibri" pitchFamily="34" charset="-120"/>
              </a:rPr>
              <a:t>Die Berechtigung wird jetzt explizit im Code geprüft und angefragt: erst checkPermissions, dann requestPermissions – noch bevor der Scanner startet.</a:t>
            </a:r>
            <a:endParaRPr lang="en-US" sz="1500" dirty="0"/>
          </a:p>
        </p:txBody>
      </p:sp>
      <p:sp>
        <p:nvSpPr>
          <p:cNvPr id="14" name="Shape 12"/>
          <p:cNvSpPr/>
          <p:nvPr/>
        </p:nvSpPr>
        <p:spPr>
          <a:xfrm>
            <a:off x="640080" y="4983480"/>
            <a:ext cx="109728" cy="365760"/>
          </a:xfrm>
          <a:prstGeom prst="rect">
            <a:avLst/>
          </a:prstGeom>
          <a:solidFill>
            <a:srgbClr val="1B2638"/>
          </a:solidFill>
          <a:ln w="12700">
            <a:solidFill>
              <a:srgbClr val="1B2638"/>
            </a:solidFill>
            <a:prstDash val="solid"/>
          </a:ln>
        </p:spPr>
        <p:txBody>
          <a:bodyPr/>
          <a:lstStyle/>
          <a:p>
            <a:endParaRPr lang="en-US"/>
          </a:p>
        </p:txBody>
      </p:sp>
      <p:sp>
        <p:nvSpPr>
          <p:cNvPr id="15" name="Shape 13"/>
          <p:cNvSpPr/>
          <p:nvPr/>
        </p:nvSpPr>
        <p:spPr>
          <a:xfrm>
            <a:off x="859536" y="4983480"/>
            <a:ext cx="36576" cy="365760"/>
          </a:xfrm>
          <a:prstGeom prst="rect">
            <a:avLst/>
          </a:prstGeom>
          <a:solidFill>
            <a:srgbClr val="1B2638"/>
          </a:solidFill>
          <a:ln w="12700">
            <a:solidFill>
              <a:srgbClr val="1B2638"/>
            </a:solidFill>
            <a:prstDash val="solid"/>
          </a:ln>
        </p:spPr>
        <p:txBody>
          <a:bodyPr/>
          <a:lstStyle/>
          <a:p>
            <a:endParaRPr lang="en-US"/>
          </a:p>
        </p:txBody>
      </p:sp>
      <p:sp>
        <p:nvSpPr>
          <p:cNvPr id="16" name="Shape 14"/>
          <p:cNvSpPr/>
          <p:nvPr/>
        </p:nvSpPr>
        <p:spPr>
          <a:xfrm>
            <a:off x="1042416" y="4983480"/>
            <a:ext cx="36576" cy="365760"/>
          </a:xfrm>
          <a:prstGeom prst="rect">
            <a:avLst/>
          </a:prstGeom>
          <a:solidFill>
            <a:srgbClr val="1B2638"/>
          </a:solidFill>
          <a:ln w="12700">
            <a:solidFill>
              <a:srgbClr val="1B2638"/>
            </a:solidFill>
            <a:prstDash val="solid"/>
          </a:ln>
        </p:spPr>
        <p:txBody>
          <a:bodyPr/>
          <a:lstStyle/>
          <a:p>
            <a:endParaRPr lang="en-US"/>
          </a:p>
        </p:txBody>
      </p:sp>
      <p:sp>
        <p:nvSpPr>
          <p:cNvPr id="17" name="Shape 15"/>
          <p:cNvSpPr/>
          <p:nvPr/>
        </p:nvSpPr>
        <p:spPr>
          <a:xfrm>
            <a:off x="1298448" y="4983480"/>
            <a:ext cx="36576" cy="365760"/>
          </a:xfrm>
          <a:prstGeom prst="rect">
            <a:avLst/>
          </a:prstGeom>
          <a:solidFill>
            <a:srgbClr val="1B2638"/>
          </a:solidFill>
          <a:ln w="12700">
            <a:solidFill>
              <a:srgbClr val="1B2638"/>
            </a:solidFill>
            <a:prstDash val="solid"/>
          </a:ln>
        </p:spPr>
        <p:txBody>
          <a:bodyPr/>
          <a:lstStyle/>
          <a:p>
            <a:endParaRPr lang="en-US"/>
          </a:p>
        </p:txBody>
      </p:sp>
      <p:sp>
        <p:nvSpPr>
          <p:cNvPr id="18" name="Shape 16"/>
          <p:cNvSpPr/>
          <p:nvPr/>
        </p:nvSpPr>
        <p:spPr>
          <a:xfrm>
            <a:off x="1444752" y="4983480"/>
            <a:ext cx="73152" cy="365760"/>
          </a:xfrm>
          <a:prstGeom prst="rect">
            <a:avLst/>
          </a:prstGeom>
          <a:solidFill>
            <a:srgbClr val="1B2638"/>
          </a:solidFill>
          <a:ln w="12700">
            <a:solidFill>
              <a:srgbClr val="1B2638"/>
            </a:solidFill>
            <a:prstDash val="solid"/>
          </a:ln>
        </p:spPr>
        <p:txBody>
          <a:bodyPr/>
          <a:lstStyle/>
          <a:p>
            <a:endParaRPr lang="en-US"/>
          </a:p>
        </p:txBody>
      </p:sp>
      <p:sp>
        <p:nvSpPr>
          <p:cNvPr id="19" name="Shape 17"/>
          <p:cNvSpPr/>
          <p:nvPr/>
        </p:nvSpPr>
        <p:spPr>
          <a:xfrm>
            <a:off x="1700784" y="4983480"/>
            <a:ext cx="36576" cy="365760"/>
          </a:xfrm>
          <a:prstGeom prst="rect">
            <a:avLst/>
          </a:prstGeom>
          <a:solidFill>
            <a:srgbClr val="1B2638"/>
          </a:solidFill>
          <a:ln w="12700">
            <a:solidFill>
              <a:srgbClr val="1B2638"/>
            </a:solidFill>
            <a:prstDash val="solid"/>
          </a:ln>
        </p:spPr>
        <p:txBody>
          <a:bodyPr/>
          <a:lstStyle/>
          <a:p>
            <a:endParaRPr lang="en-US"/>
          </a:p>
        </p:txBody>
      </p:sp>
      <p:sp>
        <p:nvSpPr>
          <p:cNvPr id="20" name="Shape 18"/>
          <p:cNvSpPr/>
          <p:nvPr/>
        </p:nvSpPr>
        <p:spPr>
          <a:xfrm>
            <a:off x="1847088" y="4983480"/>
            <a:ext cx="36576" cy="365760"/>
          </a:xfrm>
          <a:prstGeom prst="rect">
            <a:avLst/>
          </a:prstGeom>
          <a:solidFill>
            <a:srgbClr val="1B2638"/>
          </a:solidFill>
          <a:ln w="12700">
            <a:solidFill>
              <a:srgbClr val="1B2638"/>
            </a:solidFill>
            <a:prstDash val="solid"/>
          </a:ln>
        </p:spPr>
        <p:txBody>
          <a:bodyPr/>
          <a:lstStyle/>
          <a:p>
            <a:endParaRPr lang="en-US"/>
          </a:p>
        </p:txBody>
      </p:sp>
      <p:sp>
        <p:nvSpPr>
          <p:cNvPr id="21" name="Shape 19"/>
          <p:cNvSpPr/>
          <p:nvPr/>
        </p:nvSpPr>
        <p:spPr>
          <a:xfrm>
            <a:off x="2029968" y="4983480"/>
            <a:ext cx="146304" cy="365760"/>
          </a:xfrm>
          <a:prstGeom prst="rect">
            <a:avLst/>
          </a:prstGeom>
          <a:solidFill>
            <a:srgbClr val="1B2638"/>
          </a:solidFill>
          <a:ln w="12700">
            <a:solidFill>
              <a:srgbClr val="1B2638"/>
            </a:solidFill>
            <a:prstDash val="solid"/>
          </a:ln>
        </p:spPr>
        <p:txBody>
          <a:bodyPr/>
          <a:lstStyle/>
          <a:p>
            <a:endParaRPr lang="en-US"/>
          </a:p>
        </p:txBody>
      </p:sp>
      <p:sp>
        <p:nvSpPr>
          <p:cNvPr id="22" name="Shape 20"/>
          <p:cNvSpPr/>
          <p:nvPr/>
        </p:nvSpPr>
        <p:spPr>
          <a:xfrm>
            <a:off x="2286000" y="4983480"/>
            <a:ext cx="73152" cy="365760"/>
          </a:xfrm>
          <a:prstGeom prst="rect">
            <a:avLst/>
          </a:prstGeom>
          <a:solidFill>
            <a:srgbClr val="1B2638"/>
          </a:solidFill>
          <a:ln w="12700">
            <a:solidFill>
              <a:srgbClr val="1B2638"/>
            </a:solidFill>
            <a:prstDash val="solid"/>
          </a:ln>
        </p:spPr>
        <p:txBody>
          <a:bodyPr/>
          <a:lstStyle/>
          <a:p>
            <a:endParaRPr lang="en-US"/>
          </a:p>
        </p:txBody>
      </p:sp>
      <p:sp>
        <p:nvSpPr>
          <p:cNvPr id="23" name="Shape 21"/>
          <p:cNvSpPr/>
          <p:nvPr/>
        </p:nvSpPr>
        <p:spPr>
          <a:xfrm>
            <a:off x="2468880" y="4983480"/>
            <a:ext cx="36576" cy="365760"/>
          </a:xfrm>
          <a:prstGeom prst="rect">
            <a:avLst/>
          </a:prstGeom>
          <a:solidFill>
            <a:srgbClr val="1B2638"/>
          </a:solidFill>
          <a:ln w="12700">
            <a:solidFill>
              <a:srgbClr val="1B2638"/>
            </a:solidFill>
            <a:prstDash val="solid"/>
          </a:ln>
        </p:spPr>
        <p:txBody>
          <a:bodyPr/>
          <a:lstStyle/>
          <a:p>
            <a:endParaRPr lang="en-US"/>
          </a:p>
        </p:txBody>
      </p:sp>
      <p:sp>
        <p:nvSpPr>
          <p:cNvPr id="24" name="Shape 22"/>
          <p:cNvSpPr/>
          <p:nvPr/>
        </p:nvSpPr>
        <p:spPr>
          <a:xfrm>
            <a:off x="2688336" y="4983480"/>
            <a:ext cx="36576" cy="365760"/>
          </a:xfrm>
          <a:prstGeom prst="rect">
            <a:avLst/>
          </a:prstGeom>
          <a:solidFill>
            <a:srgbClr val="1B2638"/>
          </a:solidFill>
          <a:ln w="12700">
            <a:solidFill>
              <a:srgbClr val="1B2638"/>
            </a:solidFill>
            <a:prstDash val="solid"/>
          </a:ln>
        </p:spPr>
        <p:txBody>
          <a:bodyPr/>
          <a:lstStyle/>
          <a:p>
            <a:endParaRPr lang="en-US"/>
          </a:p>
        </p:txBody>
      </p:sp>
      <p:sp>
        <p:nvSpPr>
          <p:cNvPr id="25" name="Shape 23"/>
          <p:cNvSpPr/>
          <p:nvPr/>
        </p:nvSpPr>
        <p:spPr>
          <a:xfrm>
            <a:off x="2871216" y="4983480"/>
            <a:ext cx="36576" cy="365760"/>
          </a:xfrm>
          <a:prstGeom prst="rect">
            <a:avLst/>
          </a:prstGeom>
          <a:solidFill>
            <a:srgbClr val="1B2638"/>
          </a:solidFill>
          <a:ln w="12700">
            <a:solidFill>
              <a:srgbClr val="1B2638"/>
            </a:solidFill>
            <a:prstDash val="solid"/>
          </a:ln>
        </p:spPr>
        <p:txBody>
          <a:bodyPr/>
          <a:lstStyle/>
          <a:p>
            <a:endParaRPr lang="en-US"/>
          </a:p>
        </p:txBody>
      </p:sp>
      <p:sp>
        <p:nvSpPr>
          <p:cNvPr id="26" name="Shape 24"/>
          <p:cNvSpPr/>
          <p:nvPr/>
        </p:nvSpPr>
        <p:spPr>
          <a:xfrm>
            <a:off x="3017520" y="4983480"/>
            <a:ext cx="146304" cy="365760"/>
          </a:xfrm>
          <a:prstGeom prst="rect">
            <a:avLst/>
          </a:prstGeom>
          <a:solidFill>
            <a:srgbClr val="1B2638"/>
          </a:solidFill>
          <a:ln w="12700">
            <a:solidFill>
              <a:srgbClr val="1B2638"/>
            </a:solidFill>
            <a:prstDash val="solid"/>
          </a:ln>
        </p:spPr>
        <p:txBody>
          <a:bodyPr/>
          <a:lstStyle/>
          <a:p>
            <a:endParaRPr lang="en-US"/>
          </a:p>
        </p:txBody>
      </p:sp>
      <p:sp>
        <p:nvSpPr>
          <p:cNvPr id="27" name="Shape 25"/>
          <p:cNvSpPr/>
          <p:nvPr/>
        </p:nvSpPr>
        <p:spPr>
          <a:xfrm>
            <a:off x="3273552" y="4983480"/>
            <a:ext cx="36576" cy="365760"/>
          </a:xfrm>
          <a:prstGeom prst="rect">
            <a:avLst/>
          </a:prstGeom>
          <a:solidFill>
            <a:srgbClr val="1B2638"/>
          </a:solidFill>
          <a:ln w="12700">
            <a:solidFill>
              <a:srgbClr val="1B2638"/>
            </a:solidFill>
            <a:prstDash val="solid"/>
          </a:ln>
        </p:spPr>
        <p:txBody>
          <a:bodyPr/>
          <a:lstStyle/>
          <a:p>
            <a:endParaRPr lang="en-US"/>
          </a:p>
        </p:txBody>
      </p:sp>
      <p:sp>
        <p:nvSpPr>
          <p:cNvPr id="28" name="Shape 26"/>
          <p:cNvSpPr/>
          <p:nvPr/>
        </p:nvSpPr>
        <p:spPr>
          <a:xfrm>
            <a:off x="3456432" y="4983480"/>
            <a:ext cx="36576" cy="365760"/>
          </a:xfrm>
          <a:prstGeom prst="rect">
            <a:avLst/>
          </a:prstGeom>
          <a:solidFill>
            <a:srgbClr val="1B2638"/>
          </a:solidFill>
          <a:ln w="12700">
            <a:solidFill>
              <a:srgbClr val="1B2638"/>
            </a:solidFill>
            <a:prstDash val="solid"/>
          </a:ln>
        </p:spPr>
        <p:txBody>
          <a:bodyPr/>
          <a:lstStyle/>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640080" y="411480"/>
            <a:ext cx="548640" cy="274320"/>
          </a:xfrm>
          <a:prstGeom prst="rect">
            <a:avLst/>
          </a:prstGeom>
          <a:noFill/>
          <a:ln/>
        </p:spPr>
        <p:txBody>
          <a:bodyPr wrap="square" lIns="0" tIns="0" rIns="0" bIns="0" rtlCol="0" anchor="ctr"/>
          <a:lstStyle/>
          <a:p>
            <a:pPr marL="0" indent="0">
              <a:buNone/>
            </a:pPr>
            <a:r>
              <a:rPr lang="en-US" sz="1200" b="1" dirty="0">
                <a:solidFill>
                  <a:srgbClr val="00D9A3"/>
                </a:solidFill>
                <a:latin typeface="Courier New" pitchFamily="34" charset="0"/>
                <a:ea typeface="Courier New" pitchFamily="34" charset="-122"/>
                <a:cs typeface="Courier New" pitchFamily="34" charset="-120"/>
              </a:rPr>
              <a:t>04</a:t>
            </a:r>
            <a:endParaRPr lang="en-US" sz="1200" dirty="0"/>
          </a:p>
        </p:txBody>
      </p:sp>
      <p:sp>
        <p:nvSpPr>
          <p:cNvPr id="3" name="Text 1"/>
          <p:cNvSpPr/>
          <p:nvPr/>
        </p:nvSpPr>
        <p:spPr>
          <a:xfrm>
            <a:off x="1143000" y="411480"/>
            <a:ext cx="7315200" cy="274320"/>
          </a:xfrm>
          <a:prstGeom prst="rect">
            <a:avLst/>
          </a:prstGeom>
          <a:noFill/>
          <a:ln/>
        </p:spPr>
        <p:txBody>
          <a:bodyPr wrap="square" lIns="0" tIns="0" rIns="0" bIns="0" rtlCol="0" anchor="ctr"/>
          <a:lstStyle/>
          <a:p>
            <a:pPr marL="0" indent="0">
              <a:buNone/>
            </a:pPr>
            <a:r>
              <a:rPr lang="en-US" sz="1200" kern="0" spc="100" dirty="0">
                <a:solidFill>
                  <a:srgbClr val="8FA0B8"/>
                </a:solidFill>
                <a:latin typeface="Courier New" pitchFamily="34" charset="0"/>
                <a:ea typeface="Courier New" pitchFamily="34" charset="-122"/>
                <a:cs typeface="Courier New" pitchFamily="34" charset="-120"/>
              </a:rPr>
              <a:t>ERFAHRUNGEN / PROBLEME</a:t>
            </a:r>
            <a:endParaRPr lang="en-US" sz="1200" dirty="0"/>
          </a:p>
        </p:txBody>
      </p:sp>
      <p:sp>
        <p:nvSpPr>
          <p:cNvPr id="4" name="Shape 2"/>
          <p:cNvSpPr/>
          <p:nvPr/>
        </p:nvSpPr>
        <p:spPr>
          <a:xfrm>
            <a:off x="640080" y="749808"/>
            <a:ext cx="566928" cy="566928"/>
          </a:xfrm>
          <a:prstGeom prst="roundRect">
            <a:avLst>
              <a:gd name="adj" fmla="val 19355"/>
            </a:avLst>
          </a:prstGeom>
          <a:solidFill>
            <a:srgbClr val="151E2E"/>
          </a:solidFill>
          <a:ln w="12700">
            <a:solidFill>
              <a:srgbClr val="FFB020"/>
            </a:solidFill>
            <a:prstDash val="solid"/>
          </a:ln>
        </p:spPr>
        <p:txBody>
          <a:bodyPr/>
          <a:lstStyle/>
          <a:p>
            <a:endParaRPr lang="en-US"/>
          </a:p>
        </p:txBody>
      </p:sp>
      <p:sp>
        <p:nvSpPr>
          <p:cNvPr id="5" name="Text 3"/>
          <p:cNvSpPr/>
          <p:nvPr/>
        </p:nvSpPr>
        <p:spPr>
          <a:xfrm>
            <a:off x="640080" y="749808"/>
            <a:ext cx="566928" cy="566928"/>
          </a:xfrm>
          <a:prstGeom prst="rect">
            <a:avLst/>
          </a:prstGeom>
          <a:noFill/>
          <a:ln/>
        </p:spPr>
        <p:txBody>
          <a:bodyPr wrap="square" lIns="0" tIns="0" rIns="0" bIns="0" rtlCol="0" anchor="ctr"/>
          <a:lstStyle/>
          <a:p>
            <a:pPr marL="0" indent="0" algn="ctr">
              <a:buNone/>
            </a:pPr>
            <a:r>
              <a:rPr lang="en-US" sz="1800" b="1" dirty="0">
                <a:solidFill>
                  <a:srgbClr val="FFB020"/>
                </a:solidFill>
                <a:latin typeface="Courier New" pitchFamily="34" charset="0"/>
                <a:ea typeface="Courier New" pitchFamily="34" charset="-122"/>
                <a:cs typeface="Courier New" pitchFamily="34" charset="-120"/>
              </a:rPr>
              <a:t>2</a:t>
            </a:r>
            <a:endParaRPr lang="en-US" sz="1800" dirty="0"/>
          </a:p>
        </p:txBody>
      </p:sp>
      <p:sp>
        <p:nvSpPr>
          <p:cNvPr id="6" name="Text 4"/>
          <p:cNvSpPr/>
          <p:nvPr/>
        </p:nvSpPr>
        <p:spPr>
          <a:xfrm>
            <a:off x="1417320" y="749808"/>
            <a:ext cx="8412480" cy="566928"/>
          </a:xfrm>
          <a:prstGeom prst="rect">
            <a:avLst/>
          </a:prstGeom>
          <a:noFill/>
          <a:ln/>
        </p:spPr>
        <p:txBody>
          <a:bodyPr wrap="square" lIns="0" tIns="0" rIns="0" bIns="0" rtlCol="0" anchor="ctr"/>
          <a:lstStyle/>
          <a:p>
            <a:pPr marL="0" indent="0">
              <a:buNone/>
            </a:pPr>
            <a:r>
              <a:rPr lang="en-US" sz="3000" b="1" dirty="0" err="1">
                <a:solidFill>
                  <a:srgbClr val="E8EDF5"/>
                </a:solidFill>
                <a:latin typeface="Arial" pitchFamily="34" charset="0"/>
                <a:ea typeface="Arial" pitchFamily="34" charset="-122"/>
                <a:cs typeface="Arial" pitchFamily="34" charset="-120"/>
              </a:rPr>
              <a:t>Kaputte</a:t>
            </a:r>
            <a:r>
              <a:rPr lang="en-US" sz="3000" b="1" dirty="0">
                <a:solidFill>
                  <a:srgbClr val="E8EDF5"/>
                </a:solidFill>
                <a:latin typeface="Arial" pitchFamily="34" charset="0"/>
                <a:ea typeface="Arial" pitchFamily="34" charset="-122"/>
                <a:cs typeface="Arial" pitchFamily="34" charset="-120"/>
              </a:rPr>
              <a:t> Gradle Daten</a:t>
            </a:r>
            <a:endParaRPr lang="en-US" sz="3000" dirty="0"/>
          </a:p>
        </p:txBody>
      </p:sp>
      <p:sp>
        <p:nvSpPr>
          <p:cNvPr id="7" name="Text 5"/>
          <p:cNvSpPr/>
          <p:nvPr/>
        </p:nvSpPr>
        <p:spPr>
          <a:xfrm>
            <a:off x="9966960" y="749808"/>
            <a:ext cx="1581912" cy="566928"/>
          </a:xfrm>
          <a:prstGeom prst="rect">
            <a:avLst/>
          </a:prstGeom>
          <a:noFill/>
          <a:ln/>
        </p:spPr>
        <p:txBody>
          <a:bodyPr wrap="square" lIns="0" tIns="0" rIns="0" bIns="0" rtlCol="0" anchor="ctr"/>
          <a:lstStyle/>
          <a:p>
            <a:pPr marL="0" indent="0" algn="r">
              <a:buNone/>
            </a:pPr>
            <a:r>
              <a:rPr lang="en-US" sz="1200" dirty="0">
                <a:solidFill>
                  <a:srgbClr val="8FA0B8"/>
                </a:solidFill>
                <a:latin typeface="Courier New" pitchFamily="34" charset="0"/>
                <a:ea typeface="Courier New" pitchFamily="34" charset="-122"/>
                <a:cs typeface="Courier New" pitchFamily="34" charset="-120"/>
              </a:rPr>
              <a:t>2 / 5</a:t>
            </a:r>
            <a:endParaRPr lang="en-US" sz="1200" dirty="0"/>
          </a:p>
        </p:txBody>
      </p:sp>
      <p:sp>
        <p:nvSpPr>
          <p:cNvPr id="8" name="Shape 6"/>
          <p:cNvSpPr/>
          <p:nvPr/>
        </p:nvSpPr>
        <p:spPr>
          <a:xfrm>
            <a:off x="640080" y="1691640"/>
            <a:ext cx="5285232" cy="2788920"/>
          </a:xfrm>
          <a:prstGeom prst="roundRect">
            <a:avLst>
              <a:gd name="adj" fmla="val 1967"/>
            </a:avLst>
          </a:prstGeom>
          <a:solidFill>
            <a:srgbClr val="151E2E"/>
          </a:solidFill>
          <a:ln w="12700">
            <a:solidFill>
              <a:srgbClr val="FFB020"/>
            </a:solidFill>
            <a:prstDash val="solid"/>
          </a:ln>
        </p:spPr>
        <p:txBody>
          <a:bodyPr/>
          <a:lstStyle/>
          <a:p>
            <a:endParaRPr lang="en-US"/>
          </a:p>
        </p:txBody>
      </p:sp>
      <p:sp>
        <p:nvSpPr>
          <p:cNvPr id="9" name="Text 7"/>
          <p:cNvSpPr/>
          <p:nvPr/>
        </p:nvSpPr>
        <p:spPr>
          <a:xfrm>
            <a:off x="960120" y="1965960"/>
            <a:ext cx="2743200" cy="274320"/>
          </a:xfrm>
          <a:prstGeom prst="rect">
            <a:avLst/>
          </a:prstGeom>
          <a:noFill/>
          <a:ln/>
        </p:spPr>
        <p:txBody>
          <a:bodyPr wrap="square" lIns="0" tIns="0" rIns="0" bIns="0" rtlCol="0" anchor="ctr"/>
          <a:lstStyle/>
          <a:p>
            <a:pPr marL="0" indent="0">
              <a:buNone/>
            </a:pPr>
            <a:r>
              <a:rPr lang="en-US" sz="1200" b="1" kern="0" spc="100" dirty="0">
                <a:solidFill>
                  <a:srgbClr val="FFB020"/>
                </a:solidFill>
                <a:latin typeface="Courier New" pitchFamily="34" charset="0"/>
                <a:ea typeface="Courier New" pitchFamily="34" charset="-122"/>
                <a:cs typeface="Courier New" pitchFamily="34" charset="-120"/>
              </a:rPr>
              <a:t>Problem</a:t>
            </a:r>
            <a:endParaRPr lang="en-US" sz="1200" dirty="0"/>
          </a:p>
        </p:txBody>
      </p:sp>
      <p:sp>
        <p:nvSpPr>
          <p:cNvPr id="10" name="Text 8"/>
          <p:cNvSpPr/>
          <p:nvPr/>
        </p:nvSpPr>
        <p:spPr>
          <a:xfrm>
            <a:off x="960120" y="2377440"/>
            <a:ext cx="4663440" cy="2286000"/>
          </a:xfrm>
          <a:prstGeom prst="rect">
            <a:avLst/>
          </a:prstGeom>
          <a:noFill/>
          <a:ln/>
        </p:spPr>
        <p:txBody>
          <a:bodyPr wrap="square" lIns="0" tIns="0" rIns="0" bIns="0" rtlCol="0" anchor="t"/>
          <a:lstStyle/>
          <a:p>
            <a:pPr marL="0" indent="0">
              <a:lnSpc>
                <a:spcPts val="2300"/>
              </a:lnSpc>
              <a:buNone/>
            </a:pPr>
            <a:r>
              <a:rPr lang="en-US" sz="1500" dirty="0">
                <a:solidFill>
                  <a:srgbClr val="E8EDF5"/>
                </a:solidFill>
                <a:latin typeface="Calibri" pitchFamily="34" charset="0"/>
                <a:ea typeface="Calibri" pitchFamily="34" charset="-122"/>
                <a:cs typeface="Calibri" pitchFamily="34" charset="-120"/>
              </a:rPr>
              <a:t>Die Dateien wurden nur zur Hälfte heruntergeladen bzw. waren beschädigt. Beim Bauen kamen dadurch Fehler, aus deren Meldungen die eigentliche Ursache nicht hervorging.</a:t>
            </a:r>
            <a:endParaRPr lang="en-US" sz="1500" dirty="0"/>
          </a:p>
        </p:txBody>
      </p:sp>
      <p:sp>
        <p:nvSpPr>
          <p:cNvPr id="11" name="Shape 9"/>
          <p:cNvSpPr/>
          <p:nvPr/>
        </p:nvSpPr>
        <p:spPr>
          <a:xfrm>
            <a:off x="6263640" y="1691640"/>
            <a:ext cx="5285232" cy="2788920"/>
          </a:xfrm>
          <a:prstGeom prst="roundRect">
            <a:avLst>
              <a:gd name="adj" fmla="val 1967"/>
            </a:avLst>
          </a:prstGeom>
          <a:solidFill>
            <a:srgbClr val="151E2E"/>
          </a:solidFill>
          <a:ln w="12700">
            <a:solidFill>
              <a:srgbClr val="00D9A3"/>
            </a:solidFill>
            <a:prstDash val="solid"/>
          </a:ln>
        </p:spPr>
        <p:txBody>
          <a:bodyPr/>
          <a:lstStyle/>
          <a:p>
            <a:endParaRPr lang="en-US"/>
          </a:p>
        </p:txBody>
      </p:sp>
      <p:sp>
        <p:nvSpPr>
          <p:cNvPr id="12" name="Text 10"/>
          <p:cNvSpPr/>
          <p:nvPr/>
        </p:nvSpPr>
        <p:spPr>
          <a:xfrm>
            <a:off x="6583680" y="1965960"/>
            <a:ext cx="2743200" cy="274320"/>
          </a:xfrm>
          <a:prstGeom prst="rect">
            <a:avLst/>
          </a:prstGeom>
          <a:noFill/>
          <a:ln/>
        </p:spPr>
        <p:txBody>
          <a:bodyPr wrap="square" lIns="0" tIns="0" rIns="0" bIns="0" rtlCol="0" anchor="ctr"/>
          <a:lstStyle/>
          <a:p>
            <a:pPr marL="0" indent="0">
              <a:buNone/>
            </a:pPr>
            <a:r>
              <a:rPr lang="en-US" sz="1200" b="1" kern="0" spc="100" dirty="0">
                <a:solidFill>
                  <a:srgbClr val="00D9A3"/>
                </a:solidFill>
                <a:latin typeface="Courier New" pitchFamily="34" charset="0"/>
                <a:ea typeface="Courier New" pitchFamily="34" charset="-122"/>
                <a:cs typeface="Courier New" pitchFamily="34" charset="-120"/>
              </a:rPr>
              <a:t>Lösung</a:t>
            </a:r>
            <a:endParaRPr lang="en-US" sz="1200" dirty="0"/>
          </a:p>
        </p:txBody>
      </p:sp>
      <p:sp>
        <p:nvSpPr>
          <p:cNvPr id="13" name="Text 11"/>
          <p:cNvSpPr/>
          <p:nvPr/>
        </p:nvSpPr>
        <p:spPr>
          <a:xfrm>
            <a:off x="6583680" y="2377440"/>
            <a:ext cx="4663440" cy="2286000"/>
          </a:xfrm>
          <a:prstGeom prst="rect">
            <a:avLst/>
          </a:prstGeom>
          <a:noFill/>
          <a:ln/>
        </p:spPr>
        <p:txBody>
          <a:bodyPr wrap="square" lIns="0" tIns="0" rIns="0" bIns="0" rtlCol="0" anchor="t"/>
          <a:lstStyle/>
          <a:p>
            <a:pPr marL="0" indent="0">
              <a:lnSpc>
                <a:spcPts val="2300"/>
              </a:lnSpc>
              <a:buNone/>
            </a:pPr>
            <a:r>
              <a:rPr lang="en-US" sz="1500" dirty="0">
                <a:solidFill>
                  <a:srgbClr val="E8EDF5"/>
                </a:solidFill>
                <a:latin typeface="Calibri" pitchFamily="34" charset="0"/>
                <a:ea typeface="Calibri" pitchFamily="34" charset="-122"/>
                <a:cs typeface="Calibri" pitchFamily="34" charset="-120"/>
              </a:rPr>
              <a:t>Alle Dependencies wurden komplett entfernt und neu heruntergeladen. Anschließend lief der Build wieder durch.</a:t>
            </a:r>
            <a:endParaRPr lang="en-US" sz="1500" dirty="0"/>
          </a:p>
        </p:txBody>
      </p:sp>
      <p:sp>
        <p:nvSpPr>
          <p:cNvPr id="14" name="Shape 12"/>
          <p:cNvSpPr/>
          <p:nvPr/>
        </p:nvSpPr>
        <p:spPr>
          <a:xfrm>
            <a:off x="640080" y="4983480"/>
            <a:ext cx="109728" cy="365760"/>
          </a:xfrm>
          <a:prstGeom prst="rect">
            <a:avLst/>
          </a:prstGeom>
          <a:solidFill>
            <a:srgbClr val="1B2638"/>
          </a:solidFill>
          <a:ln w="12700">
            <a:solidFill>
              <a:srgbClr val="1B2638"/>
            </a:solidFill>
            <a:prstDash val="solid"/>
          </a:ln>
        </p:spPr>
        <p:txBody>
          <a:bodyPr/>
          <a:lstStyle/>
          <a:p>
            <a:endParaRPr lang="en-US"/>
          </a:p>
        </p:txBody>
      </p:sp>
      <p:sp>
        <p:nvSpPr>
          <p:cNvPr id="15" name="Shape 13"/>
          <p:cNvSpPr/>
          <p:nvPr/>
        </p:nvSpPr>
        <p:spPr>
          <a:xfrm>
            <a:off x="859536" y="4983480"/>
            <a:ext cx="36576" cy="365760"/>
          </a:xfrm>
          <a:prstGeom prst="rect">
            <a:avLst/>
          </a:prstGeom>
          <a:solidFill>
            <a:srgbClr val="1B2638"/>
          </a:solidFill>
          <a:ln w="12700">
            <a:solidFill>
              <a:srgbClr val="1B2638"/>
            </a:solidFill>
            <a:prstDash val="solid"/>
          </a:ln>
        </p:spPr>
        <p:txBody>
          <a:bodyPr/>
          <a:lstStyle/>
          <a:p>
            <a:endParaRPr lang="en-US"/>
          </a:p>
        </p:txBody>
      </p:sp>
      <p:sp>
        <p:nvSpPr>
          <p:cNvPr id="16" name="Shape 14"/>
          <p:cNvSpPr/>
          <p:nvPr/>
        </p:nvSpPr>
        <p:spPr>
          <a:xfrm>
            <a:off x="1042416" y="4983480"/>
            <a:ext cx="36576" cy="365760"/>
          </a:xfrm>
          <a:prstGeom prst="rect">
            <a:avLst/>
          </a:prstGeom>
          <a:solidFill>
            <a:srgbClr val="1B2638"/>
          </a:solidFill>
          <a:ln w="12700">
            <a:solidFill>
              <a:srgbClr val="1B2638"/>
            </a:solidFill>
            <a:prstDash val="solid"/>
          </a:ln>
        </p:spPr>
        <p:txBody>
          <a:bodyPr/>
          <a:lstStyle/>
          <a:p>
            <a:endParaRPr lang="en-US"/>
          </a:p>
        </p:txBody>
      </p:sp>
      <p:sp>
        <p:nvSpPr>
          <p:cNvPr id="17" name="Shape 15"/>
          <p:cNvSpPr/>
          <p:nvPr/>
        </p:nvSpPr>
        <p:spPr>
          <a:xfrm>
            <a:off x="1298448" y="4983480"/>
            <a:ext cx="36576" cy="365760"/>
          </a:xfrm>
          <a:prstGeom prst="rect">
            <a:avLst/>
          </a:prstGeom>
          <a:solidFill>
            <a:srgbClr val="1B2638"/>
          </a:solidFill>
          <a:ln w="12700">
            <a:solidFill>
              <a:srgbClr val="1B2638"/>
            </a:solidFill>
            <a:prstDash val="solid"/>
          </a:ln>
        </p:spPr>
        <p:txBody>
          <a:bodyPr/>
          <a:lstStyle/>
          <a:p>
            <a:endParaRPr lang="en-US"/>
          </a:p>
        </p:txBody>
      </p:sp>
      <p:sp>
        <p:nvSpPr>
          <p:cNvPr id="18" name="Shape 16"/>
          <p:cNvSpPr/>
          <p:nvPr/>
        </p:nvSpPr>
        <p:spPr>
          <a:xfrm>
            <a:off x="1444752" y="4983480"/>
            <a:ext cx="73152" cy="365760"/>
          </a:xfrm>
          <a:prstGeom prst="rect">
            <a:avLst/>
          </a:prstGeom>
          <a:solidFill>
            <a:srgbClr val="1B2638"/>
          </a:solidFill>
          <a:ln w="12700">
            <a:solidFill>
              <a:srgbClr val="1B2638"/>
            </a:solidFill>
            <a:prstDash val="solid"/>
          </a:ln>
        </p:spPr>
        <p:txBody>
          <a:bodyPr/>
          <a:lstStyle/>
          <a:p>
            <a:endParaRPr lang="en-US"/>
          </a:p>
        </p:txBody>
      </p:sp>
      <p:sp>
        <p:nvSpPr>
          <p:cNvPr id="19" name="Shape 17"/>
          <p:cNvSpPr/>
          <p:nvPr/>
        </p:nvSpPr>
        <p:spPr>
          <a:xfrm>
            <a:off x="1700784" y="4983480"/>
            <a:ext cx="36576" cy="365760"/>
          </a:xfrm>
          <a:prstGeom prst="rect">
            <a:avLst/>
          </a:prstGeom>
          <a:solidFill>
            <a:srgbClr val="1B2638"/>
          </a:solidFill>
          <a:ln w="12700">
            <a:solidFill>
              <a:srgbClr val="1B2638"/>
            </a:solidFill>
            <a:prstDash val="solid"/>
          </a:ln>
        </p:spPr>
        <p:txBody>
          <a:bodyPr/>
          <a:lstStyle/>
          <a:p>
            <a:endParaRPr lang="en-US"/>
          </a:p>
        </p:txBody>
      </p:sp>
      <p:sp>
        <p:nvSpPr>
          <p:cNvPr id="20" name="Shape 18"/>
          <p:cNvSpPr/>
          <p:nvPr/>
        </p:nvSpPr>
        <p:spPr>
          <a:xfrm>
            <a:off x="1847088" y="4983480"/>
            <a:ext cx="36576" cy="365760"/>
          </a:xfrm>
          <a:prstGeom prst="rect">
            <a:avLst/>
          </a:prstGeom>
          <a:solidFill>
            <a:srgbClr val="1B2638"/>
          </a:solidFill>
          <a:ln w="12700">
            <a:solidFill>
              <a:srgbClr val="1B2638"/>
            </a:solidFill>
            <a:prstDash val="solid"/>
          </a:ln>
        </p:spPr>
        <p:txBody>
          <a:bodyPr/>
          <a:lstStyle/>
          <a:p>
            <a:endParaRPr lang="en-US"/>
          </a:p>
        </p:txBody>
      </p:sp>
      <p:sp>
        <p:nvSpPr>
          <p:cNvPr id="21" name="Shape 19"/>
          <p:cNvSpPr/>
          <p:nvPr/>
        </p:nvSpPr>
        <p:spPr>
          <a:xfrm>
            <a:off x="2029968" y="4983480"/>
            <a:ext cx="146304" cy="365760"/>
          </a:xfrm>
          <a:prstGeom prst="rect">
            <a:avLst/>
          </a:prstGeom>
          <a:solidFill>
            <a:srgbClr val="1B2638"/>
          </a:solidFill>
          <a:ln w="12700">
            <a:solidFill>
              <a:srgbClr val="1B2638"/>
            </a:solidFill>
            <a:prstDash val="solid"/>
          </a:ln>
        </p:spPr>
        <p:txBody>
          <a:bodyPr/>
          <a:lstStyle/>
          <a:p>
            <a:endParaRPr lang="en-US"/>
          </a:p>
        </p:txBody>
      </p:sp>
      <p:sp>
        <p:nvSpPr>
          <p:cNvPr id="22" name="Shape 20"/>
          <p:cNvSpPr/>
          <p:nvPr/>
        </p:nvSpPr>
        <p:spPr>
          <a:xfrm>
            <a:off x="2286000" y="4983480"/>
            <a:ext cx="73152" cy="365760"/>
          </a:xfrm>
          <a:prstGeom prst="rect">
            <a:avLst/>
          </a:prstGeom>
          <a:solidFill>
            <a:srgbClr val="1B2638"/>
          </a:solidFill>
          <a:ln w="12700">
            <a:solidFill>
              <a:srgbClr val="1B2638"/>
            </a:solidFill>
            <a:prstDash val="solid"/>
          </a:ln>
        </p:spPr>
        <p:txBody>
          <a:bodyPr/>
          <a:lstStyle/>
          <a:p>
            <a:endParaRPr lang="en-US"/>
          </a:p>
        </p:txBody>
      </p:sp>
      <p:sp>
        <p:nvSpPr>
          <p:cNvPr id="23" name="Shape 21"/>
          <p:cNvSpPr/>
          <p:nvPr/>
        </p:nvSpPr>
        <p:spPr>
          <a:xfrm>
            <a:off x="2468880" y="4983480"/>
            <a:ext cx="36576" cy="365760"/>
          </a:xfrm>
          <a:prstGeom prst="rect">
            <a:avLst/>
          </a:prstGeom>
          <a:solidFill>
            <a:srgbClr val="1B2638"/>
          </a:solidFill>
          <a:ln w="12700">
            <a:solidFill>
              <a:srgbClr val="1B2638"/>
            </a:solidFill>
            <a:prstDash val="solid"/>
          </a:ln>
        </p:spPr>
        <p:txBody>
          <a:bodyPr/>
          <a:lstStyle/>
          <a:p>
            <a:endParaRPr lang="en-US"/>
          </a:p>
        </p:txBody>
      </p:sp>
      <p:sp>
        <p:nvSpPr>
          <p:cNvPr id="24" name="Shape 22"/>
          <p:cNvSpPr/>
          <p:nvPr/>
        </p:nvSpPr>
        <p:spPr>
          <a:xfrm>
            <a:off x="2688336" y="4983480"/>
            <a:ext cx="36576" cy="365760"/>
          </a:xfrm>
          <a:prstGeom prst="rect">
            <a:avLst/>
          </a:prstGeom>
          <a:solidFill>
            <a:srgbClr val="1B2638"/>
          </a:solidFill>
          <a:ln w="12700">
            <a:solidFill>
              <a:srgbClr val="1B2638"/>
            </a:solidFill>
            <a:prstDash val="solid"/>
          </a:ln>
        </p:spPr>
        <p:txBody>
          <a:bodyPr/>
          <a:lstStyle/>
          <a:p>
            <a:endParaRPr lang="en-US"/>
          </a:p>
        </p:txBody>
      </p:sp>
      <p:sp>
        <p:nvSpPr>
          <p:cNvPr id="25" name="Shape 23"/>
          <p:cNvSpPr/>
          <p:nvPr/>
        </p:nvSpPr>
        <p:spPr>
          <a:xfrm>
            <a:off x="2871216" y="4983480"/>
            <a:ext cx="36576" cy="365760"/>
          </a:xfrm>
          <a:prstGeom prst="rect">
            <a:avLst/>
          </a:prstGeom>
          <a:solidFill>
            <a:srgbClr val="1B2638"/>
          </a:solidFill>
          <a:ln w="12700">
            <a:solidFill>
              <a:srgbClr val="1B2638"/>
            </a:solidFill>
            <a:prstDash val="solid"/>
          </a:ln>
        </p:spPr>
        <p:txBody>
          <a:bodyPr/>
          <a:lstStyle/>
          <a:p>
            <a:endParaRPr lang="en-US"/>
          </a:p>
        </p:txBody>
      </p:sp>
      <p:sp>
        <p:nvSpPr>
          <p:cNvPr id="26" name="Shape 24"/>
          <p:cNvSpPr/>
          <p:nvPr/>
        </p:nvSpPr>
        <p:spPr>
          <a:xfrm>
            <a:off x="3017520" y="4983480"/>
            <a:ext cx="146304" cy="365760"/>
          </a:xfrm>
          <a:prstGeom prst="rect">
            <a:avLst/>
          </a:prstGeom>
          <a:solidFill>
            <a:srgbClr val="1B2638"/>
          </a:solidFill>
          <a:ln w="12700">
            <a:solidFill>
              <a:srgbClr val="1B2638"/>
            </a:solidFill>
            <a:prstDash val="solid"/>
          </a:ln>
        </p:spPr>
        <p:txBody>
          <a:bodyPr/>
          <a:lstStyle/>
          <a:p>
            <a:endParaRPr lang="en-US"/>
          </a:p>
        </p:txBody>
      </p:sp>
      <p:sp>
        <p:nvSpPr>
          <p:cNvPr id="27" name="Shape 25"/>
          <p:cNvSpPr/>
          <p:nvPr/>
        </p:nvSpPr>
        <p:spPr>
          <a:xfrm>
            <a:off x="3273552" y="4983480"/>
            <a:ext cx="36576" cy="365760"/>
          </a:xfrm>
          <a:prstGeom prst="rect">
            <a:avLst/>
          </a:prstGeom>
          <a:solidFill>
            <a:srgbClr val="1B2638"/>
          </a:solidFill>
          <a:ln w="12700">
            <a:solidFill>
              <a:srgbClr val="1B2638"/>
            </a:solidFill>
            <a:prstDash val="solid"/>
          </a:ln>
        </p:spPr>
        <p:txBody>
          <a:bodyPr/>
          <a:lstStyle/>
          <a:p>
            <a:endParaRPr lang="en-US"/>
          </a:p>
        </p:txBody>
      </p:sp>
      <p:sp>
        <p:nvSpPr>
          <p:cNvPr id="28" name="Shape 26"/>
          <p:cNvSpPr/>
          <p:nvPr/>
        </p:nvSpPr>
        <p:spPr>
          <a:xfrm>
            <a:off x="3456432" y="4983480"/>
            <a:ext cx="36576" cy="365760"/>
          </a:xfrm>
          <a:prstGeom prst="rect">
            <a:avLst/>
          </a:prstGeom>
          <a:solidFill>
            <a:srgbClr val="1B2638"/>
          </a:solidFill>
          <a:ln w="12700">
            <a:solidFill>
              <a:srgbClr val="1B2638"/>
            </a:solidFill>
            <a:prstDash val="solid"/>
          </a:ln>
        </p:spPr>
        <p:txBody>
          <a:bodyPr/>
          <a:lstStyle/>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640080" y="411480"/>
            <a:ext cx="548640" cy="274320"/>
          </a:xfrm>
          <a:prstGeom prst="rect">
            <a:avLst/>
          </a:prstGeom>
          <a:noFill/>
          <a:ln/>
        </p:spPr>
        <p:txBody>
          <a:bodyPr wrap="square" lIns="0" tIns="0" rIns="0" bIns="0" rtlCol="0" anchor="ctr"/>
          <a:lstStyle/>
          <a:p>
            <a:pPr marL="0" indent="0">
              <a:buNone/>
            </a:pPr>
            <a:r>
              <a:rPr lang="en-US" sz="1200" b="1" dirty="0">
                <a:solidFill>
                  <a:srgbClr val="00D9A3"/>
                </a:solidFill>
                <a:latin typeface="Courier New" pitchFamily="34" charset="0"/>
                <a:ea typeface="Courier New" pitchFamily="34" charset="-122"/>
                <a:cs typeface="Courier New" pitchFamily="34" charset="-120"/>
              </a:rPr>
              <a:t>04</a:t>
            </a:r>
            <a:endParaRPr lang="en-US" sz="1200" dirty="0"/>
          </a:p>
        </p:txBody>
      </p:sp>
      <p:sp>
        <p:nvSpPr>
          <p:cNvPr id="3" name="Text 1"/>
          <p:cNvSpPr/>
          <p:nvPr/>
        </p:nvSpPr>
        <p:spPr>
          <a:xfrm>
            <a:off x="1143000" y="411480"/>
            <a:ext cx="7315200" cy="274320"/>
          </a:xfrm>
          <a:prstGeom prst="rect">
            <a:avLst/>
          </a:prstGeom>
          <a:noFill/>
          <a:ln/>
        </p:spPr>
        <p:txBody>
          <a:bodyPr wrap="square" lIns="0" tIns="0" rIns="0" bIns="0" rtlCol="0" anchor="ctr"/>
          <a:lstStyle/>
          <a:p>
            <a:pPr marL="0" indent="0">
              <a:buNone/>
            </a:pPr>
            <a:r>
              <a:rPr lang="en-US" sz="1200" kern="0" spc="100" dirty="0">
                <a:solidFill>
                  <a:srgbClr val="8FA0B8"/>
                </a:solidFill>
                <a:latin typeface="Courier New" pitchFamily="34" charset="0"/>
                <a:ea typeface="Courier New" pitchFamily="34" charset="-122"/>
                <a:cs typeface="Courier New" pitchFamily="34" charset="-120"/>
              </a:rPr>
              <a:t>ERFAHRUNGEN / PROBLEME</a:t>
            </a:r>
            <a:endParaRPr lang="en-US" sz="1200" dirty="0"/>
          </a:p>
        </p:txBody>
      </p:sp>
      <p:sp>
        <p:nvSpPr>
          <p:cNvPr id="4" name="Shape 2"/>
          <p:cNvSpPr/>
          <p:nvPr/>
        </p:nvSpPr>
        <p:spPr>
          <a:xfrm>
            <a:off x="640080" y="749808"/>
            <a:ext cx="566928" cy="566928"/>
          </a:xfrm>
          <a:prstGeom prst="roundRect">
            <a:avLst>
              <a:gd name="adj" fmla="val 19355"/>
            </a:avLst>
          </a:prstGeom>
          <a:solidFill>
            <a:srgbClr val="151E2E"/>
          </a:solidFill>
          <a:ln w="12700">
            <a:solidFill>
              <a:srgbClr val="FFB020"/>
            </a:solidFill>
            <a:prstDash val="solid"/>
          </a:ln>
        </p:spPr>
        <p:txBody>
          <a:bodyPr/>
          <a:lstStyle/>
          <a:p>
            <a:endParaRPr lang="en-US"/>
          </a:p>
        </p:txBody>
      </p:sp>
      <p:sp>
        <p:nvSpPr>
          <p:cNvPr id="5" name="Text 3"/>
          <p:cNvSpPr/>
          <p:nvPr/>
        </p:nvSpPr>
        <p:spPr>
          <a:xfrm>
            <a:off x="640080" y="749808"/>
            <a:ext cx="566928" cy="566928"/>
          </a:xfrm>
          <a:prstGeom prst="rect">
            <a:avLst/>
          </a:prstGeom>
          <a:noFill/>
          <a:ln/>
        </p:spPr>
        <p:txBody>
          <a:bodyPr wrap="square" lIns="0" tIns="0" rIns="0" bIns="0" rtlCol="0" anchor="ctr"/>
          <a:lstStyle/>
          <a:p>
            <a:pPr marL="0" indent="0" algn="ctr">
              <a:buNone/>
            </a:pPr>
            <a:r>
              <a:rPr lang="en-US" sz="1800" b="1" dirty="0">
                <a:solidFill>
                  <a:srgbClr val="FFB020"/>
                </a:solidFill>
                <a:latin typeface="Courier New" pitchFamily="34" charset="0"/>
                <a:ea typeface="Courier New" pitchFamily="34" charset="-122"/>
                <a:cs typeface="Courier New" pitchFamily="34" charset="-120"/>
              </a:rPr>
              <a:t>3</a:t>
            </a:r>
            <a:endParaRPr lang="en-US" sz="1800" dirty="0"/>
          </a:p>
        </p:txBody>
      </p:sp>
      <p:sp>
        <p:nvSpPr>
          <p:cNvPr id="6" name="Text 4"/>
          <p:cNvSpPr/>
          <p:nvPr/>
        </p:nvSpPr>
        <p:spPr>
          <a:xfrm>
            <a:off x="1417320" y="749808"/>
            <a:ext cx="8412480" cy="566928"/>
          </a:xfrm>
          <a:prstGeom prst="rect">
            <a:avLst/>
          </a:prstGeom>
          <a:noFill/>
          <a:ln/>
        </p:spPr>
        <p:txBody>
          <a:bodyPr wrap="square" lIns="0" tIns="0" rIns="0" bIns="0" rtlCol="0" anchor="ctr"/>
          <a:lstStyle/>
          <a:p>
            <a:pPr marL="0" indent="0">
              <a:buNone/>
            </a:pPr>
            <a:r>
              <a:rPr lang="en-US" sz="3000" b="1" dirty="0">
                <a:solidFill>
                  <a:srgbClr val="E8EDF5"/>
                </a:solidFill>
                <a:latin typeface="Arial" pitchFamily="34" charset="0"/>
                <a:ea typeface="Arial" pitchFamily="34" charset="-122"/>
                <a:cs typeface="Arial" pitchFamily="34" charset="-120"/>
              </a:rPr>
              <a:t>Phone (Text / Zahl)</a:t>
            </a:r>
            <a:endParaRPr lang="en-US" sz="3000" dirty="0"/>
          </a:p>
        </p:txBody>
      </p:sp>
      <p:sp>
        <p:nvSpPr>
          <p:cNvPr id="7" name="Text 5"/>
          <p:cNvSpPr/>
          <p:nvPr/>
        </p:nvSpPr>
        <p:spPr>
          <a:xfrm>
            <a:off x="9966960" y="749808"/>
            <a:ext cx="1581912" cy="566928"/>
          </a:xfrm>
          <a:prstGeom prst="rect">
            <a:avLst/>
          </a:prstGeom>
          <a:noFill/>
          <a:ln/>
        </p:spPr>
        <p:txBody>
          <a:bodyPr wrap="square" lIns="0" tIns="0" rIns="0" bIns="0" rtlCol="0" anchor="ctr"/>
          <a:lstStyle/>
          <a:p>
            <a:pPr marL="0" indent="0" algn="r">
              <a:buNone/>
            </a:pPr>
            <a:r>
              <a:rPr lang="en-US" sz="1200" dirty="0">
                <a:solidFill>
                  <a:srgbClr val="8FA0B8"/>
                </a:solidFill>
                <a:latin typeface="Courier New" pitchFamily="34" charset="0"/>
                <a:ea typeface="Courier New" pitchFamily="34" charset="-122"/>
                <a:cs typeface="Courier New" pitchFamily="34" charset="-120"/>
              </a:rPr>
              <a:t>3 / 5</a:t>
            </a:r>
            <a:endParaRPr lang="en-US" sz="1200" dirty="0"/>
          </a:p>
        </p:txBody>
      </p:sp>
      <p:sp>
        <p:nvSpPr>
          <p:cNvPr id="8" name="Shape 6"/>
          <p:cNvSpPr/>
          <p:nvPr/>
        </p:nvSpPr>
        <p:spPr>
          <a:xfrm>
            <a:off x="640080" y="1691640"/>
            <a:ext cx="5285232" cy="2788920"/>
          </a:xfrm>
          <a:prstGeom prst="roundRect">
            <a:avLst>
              <a:gd name="adj" fmla="val 1967"/>
            </a:avLst>
          </a:prstGeom>
          <a:solidFill>
            <a:srgbClr val="151E2E"/>
          </a:solidFill>
          <a:ln w="12700">
            <a:solidFill>
              <a:srgbClr val="FFB020"/>
            </a:solidFill>
            <a:prstDash val="solid"/>
          </a:ln>
        </p:spPr>
        <p:txBody>
          <a:bodyPr/>
          <a:lstStyle/>
          <a:p>
            <a:endParaRPr lang="en-US"/>
          </a:p>
        </p:txBody>
      </p:sp>
      <p:sp>
        <p:nvSpPr>
          <p:cNvPr id="9" name="Text 7"/>
          <p:cNvSpPr/>
          <p:nvPr/>
        </p:nvSpPr>
        <p:spPr>
          <a:xfrm>
            <a:off x="960120" y="1965960"/>
            <a:ext cx="2743200" cy="274320"/>
          </a:xfrm>
          <a:prstGeom prst="rect">
            <a:avLst/>
          </a:prstGeom>
          <a:noFill/>
          <a:ln/>
        </p:spPr>
        <p:txBody>
          <a:bodyPr wrap="square" lIns="0" tIns="0" rIns="0" bIns="0" rtlCol="0" anchor="ctr"/>
          <a:lstStyle/>
          <a:p>
            <a:pPr marL="0" indent="0">
              <a:buNone/>
            </a:pPr>
            <a:r>
              <a:rPr lang="en-US" sz="1200" b="1" kern="0" spc="100" dirty="0">
                <a:solidFill>
                  <a:srgbClr val="FFB020"/>
                </a:solidFill>
                <a:latin typeface="Courier New" pitchFamily="34" charset="0"/>
                <a:ea typeface="Courier New" pitchFamily="34" charset="-122"/>
                <a:cs typeface="Courier New" pitchFamily="34" charset="-120"/>
              </a:rPr>
              <a:t>Problem</a:t>
            </a:r>
            <a:endParaRPr lang="en-US" sz="1200" dirty="0"/>
          </a:p>
        </p:txBody>
      </p:sp>
      <p:sp>
        <p:nvSpPr>
          <p:cNvPr id="10" name="Text 8"/>
          <p:cNvSpPr/>
          <p:nvPr/>
        </p:nvSpPr>
        <p:spPr>
          <a:xfrm>
            <a:off x="960120" y="2377440"/>
            <a:ext cx="4663440" cy="2286000"/>
          </a:xfrm>
          <a:prstGeom prst="rect">
            <a:avLst/>
          </a:prstGeom>
          <a:noFill/>
          <a:ln/>
        </p:spPr>
        <p:txBody>
          <a:bodyPr wrap="square" lIns="0" tIns="0" rIns="0" bIns="0" rtlCol="0" anchor="t"/>
          <a:lstStyle/>
          <a:p>
            <a:pPr marL="0" indent="0">
              <a:lnSpc>
                <a:spcPts val="2300"/>
              </a:lnSpc>
              <a:buNone/>
            </a:pPr>
            <a:r>
              <a:rPr lang="en-US" sz="1500" dirty="0">
                <a:solidFill>
                  <a:srgbClr val="E8EDF5"/>
                </a:solidFill>
                <a:latin typeface="Calibri" pitchFamily="34" charset="0"/>
                <a:ea typeface="Calibri" pitchFamily="34" charset="-122"/>
                <a:cs typeface="Calibri" pitchFamily="34" charset="-120"/>
              </a:rPr>
              <a:t>Beim Erstellen war nicht klar, nach welchem Muster ein Code als Telefonnummer erkannt werden soll. Das Muster ließ sich nicht eindeutig festlegen.</a:t>
            </a:r>
            <a:endParaRPr lang="en-US" sz="1500" dirty="0"/>
          </a:p>
        </p:txBody>
      </p:sp>
      <p:sp>
        <p:nvSpPr>
          <p:cNvPr id="11" name="Shape 9"/>
          <p:cNvSpPr/>
          <p:nvPr/>
        </p:nvSpPr>
        <p:spPr>
          <a:xfrm>
            <a:off x="6263640" y="1691640"/>
            <a:ext cx="5285232" cy="2788920"/>
          </a:xfrm>
          <a:prstGeom prst="roundRect">
            <a:avLst>
              <a:gd name="adj" fmla="val 1967"/>
            </a:avLst>
          </a:prstGeom>
          <a:solidFill>
            <a:srgbClr val="151E2E"/>
          </a:solidFill>
          <a:ln w="12700">
            <a:solidFill>
              <a:srgbClr val="00D9A3"/>
            </a:solidFill>
            <a:prstDash val="solid"/>
          </a:ln>
        </p:spPr>
        <p:txBody>
          <a:bodyPr/>
          <a:lstStyle/>
          <a:p>
            <a:endParaRPr lang="en-US"/>
          </a:p>
        </p:txBody>
      </p:sp>
      <p:sp>
        <p:nvSpPr>
          <p:cNvPr id="12" name="Text 10"/>
          <p:cNvSpPr/>
          <p:nvPr/>
        </p:nvSpPr>
        <p:spPr>
          <a:xfrm>
            <a:off x="6583680" y="1965960"/>
            <a:ext cx="2743200" cy="274320"/>
          </a:xfrm>
          <a:prstGeom prst="rect">
            <a:avLst/>
          </a:prstGeom>
          <a:noFill/>
          <a:ln/>
        </p:spPr>
        <p:txBody>
          <a:bodyPr wrap="square" lIns="0" tIns="0" rIns="0" bIns="0" rtlCol="0" anchor="ctr"/>
          <a:lstStyle/>
          <a:p>
            <a:pPr marL="0" indent="0">
              <a:buNone/>
            </a:pPr>
            <a:r>
              <a:rPr lang="en-US" sz="1200" b="1" kern="0" spc="100" dirty="0">
                <a:solidFill>
                  <a:srgbClr val="00D9A3"/>
                </a:solidFill>
                <a:latin typeface="Courier New" pitchFamily="34" charset="0"/>
                <a:ea typeface="Courier New" pitchFamily="34" charset="-122"/>
                <a:cs typeface="Courier New" pitchFamily="34" charset="-120"/>
              </a:rPr>
              <a:t>Lösung</a:t>
            </a:r>
            <a:endParaRPr lang="en-US" sz="1200" dirty="0"/>
          </a:p>
        </p:txBody>
      </p:sp>
      <p:sp>
        <p:nvSpPr>
          <p:cNvPr id="13" name="Text 11"/>
          <p:cNvSpPr/>
          <p:nvPr/>
        </p:nvSpPr>
        <p:spPr>
          <a:xfrm>
            <a:off x="6583680" y="2377440"/>
            <a:ext cx="4663440" cy="2286000"/>
          </a:xfrm>
          <a:prstGeom prst="rect">
            <a:avLst/>
          </a:prstGeom>
          <a:noFill/>
          <a:ln/>
        </p:spPr>
        <p:txBody>
          <a:bodyPr wrap="square" lIns="0" tIns="0" rIns="0" bIns="0" rtlCol="0" anchor="t"/>
          <a:lstStyle/>
          <a:p>
            <a:pPr marL="0" indent="0">
              <a:lnSpc>
                <a:spcPts val="2300"/>
              </a:lnSpc>
              <a:buNone/>
            </a:pPr>
            <a:r>
              <a:rPr lang="en-US" sz="1500" dirty="0">
                <a:solidFill>
                  <a:srgbClr val="E8EDF5"/>
                </a:solidFill>
                <a:latin typeface="Calibri" pitchFamily="34" charset="0"/>
                <a:ea typeface="Calibri" pitchFamily="34" charset="-122"/>
                <a:cs typeface="Calibri" pitchFamily="34" charset="-120"/>
              </a:rPr>
              <a:t>Das passende Muster wurde mit Hilfe von ChatGPT erarbeitet und danach in die Typ-Erkennung der App übernommen.</a:t>
            </a:r>
            <a:endParaRPr lang="en-US" sz="1500" dirty="0"/>
          </a:p>
        </p:txBody>
      </p:sp>
      <p:sp>
        <p:nvSpPr>
          <p:cNvPr id="14" name="Shape 12"/>
          <p:cNvSpPr/>
          <p:nvPr/>
        </p:nvSpPr>
        <p:spPr>
          <a:xfrm>
            <a:off x="640080" y="4983480"/>
            <a:ext cx="109728" cy="365760"/>
          </a:xfrm>
          <a:prstGeom prst="rect">
            <a:avLst/>
          </a:prstGeom>
          <a:solidFill>
            <a:srgbClr val="1B2638"/>
          </a:solidFill>
          <a:ln w="12700">
            <a:solidFill>
              <a:srgbClr val="1B2638"/>
            </a:solidFill>
            <a:prstDash val="solid"/>
          </a:ln>
        </p:spPr>
        <p:txBody>
          <a:bodyPr/>
          <a:lstStyle/>
          <a:p>
            <a:endParaRPr lang="en-US"/>
          </a:p>
        </p:txBody>
      </p:sp>
      <p:sp>
        <p:nvSpPr>
          <p:cNvPr id="15" name="Shape 13"/>
          <p:cNvSpPr/>
          <p:nvPr/>
        </p:nvSpPr>
        <p:spPr>
          <a:xfrm>
            <a:off x="859536" y="4983480"/>
            <a:ext cx="36576" cy="365760"/>
          </a:xfrm>
          <a:prstGeom prst="rect">
            <a:avLst/>
          </a:prstGeom>
          <a:solidFill>
            <a:srgbClr val="1B2638"/>
          </a:solidFill>
          <a:ln w="12700">
            <a:solidFill>
              <a:srgbClr val="1B2638"/>
            </a:solidFill>
            <a:prstDash val="solid"/>
          </a:ln>
        </p:spPr>
        <p:txBody>
          <a:bodyPr/>
          <a:lstStyle/>
          <a:p>
            <a:endParaRPr lang="en-US"/>
          </a:p>
        </p:txBody>
      </p:sp>
      <p:sp>
        <p:nvSpPr>
          <p:cNvPr id="16" name="Shape 14"/>
          <p:cNvSpPr/>
          <p:nvPr/>
        </p:nvSpPr>
        <p:spPr>
          <a:xfrm>
            <a:off x="1042416" y="4983480"/>
            <a:ext cx="36576" cy="365760"/>
          </a:xfrm>
          <a:prstGeom prst="rect">
            <a:avLst/>
          </a:prstGeom>
          <a:solidFill>
            <a:srgbClr val="1B2638"/>
          </a:solidFill>
          <a:ln w="12700">
            <a:solidFill>
              <a:srgbClr val="1B2638"/>
            </a:solidFill>
            <a:prstDash val="solid"/>
          </a:ln>
        </p:spPr>
        <p:txBody>
          <a:bodyPr/>
          <a:lstStyle/>
          <a:p>
            <a:endParaRPr lang="en-US"/>
          </a:p>
        </p:txBody>
      </p:sp>
      <p:sp>
        <p:nvSpPr>
          <p:cNvPr id="17" name="Shape 15"/>
          <p:cNvSpPr/>
          <p:nvPr/>
        </p:nvSpPr>
        <p:spPr>
          <a:xfrm>
            <a:off x="1298448" y="4983480"/>
            <a:ext cx="36576" cy="365760"/>
          </a:xfrm>
          <a:prstGeom prst="rect">
            <a:avLst/>
          </a:prstGeom>
          <a:solidFill>
            <a:srgbClr val="1B2638"/>
          </a:solidFill>
          <a:ln w="12700">
            <a:solidFill>
              <a:srgbClr val="1B2638"/>
            </a:solidFill>
            <a:prstDash val="solid"/>
          </a:ln>
        </p:spPr>
        <p:txBody>
          <a:bodyPr/>
          <a:lstStyle/>
          <a:p>
            <a:endParaRPr lang="en-US"/>
          </a:p>
        </p:txBody>
      </p:sp>
      <p:sp>
        <p:nvSpPr>
          <p:cNvPr id="18" name="Shape 16"/>
          <p:cNvSpPr/>
          <p:nvPr/>
        </p:nvSpPr>
        <p:spPr>
          <a:xfrm>
            <a:off x="1444752" y="4983480"/>
            <a:ext cx="73152" cy="365760"/>
          </a:xfrm>
          <a:prstGeom prst="rect">
            <a:avLst/>
          </a:prstGeom>
          <a:solidFill>
            <a:srgbClr val="1B2638"/>
          </a:solidFill>
          <a:ln w="12700">
            <a:solidFill>
              <a:srgbClr val="1B2638"/>
            </a:solidFill>
            <a:prstDash val="solid"/>
          </a:ln>
        </p:spPr>
        <p:txBody>
          <a:bodyPr/>
          <a:lstStyle/>
          <a:p>
            <a:endParaRPr lang="en-US"/>
          </a:p>
        </p:txBody>
      </p:sp>
      <p:sp>
        <p:nvSpPr>
          <p:cNvPr id="19" name="Shape 17"/>
          <p:cNvSpPr/>
          <p:nvPr/>
        </p:nvSpPr>
        <p:spPr>
          <a:xfrm>
            <a:off x="1700784" y="4983480"/>
            <a:ext cx="36576" cy="365760"/>
          </a:xfrm>
          <a:prstGeom prst="rect">
            <a:avLst/>
          </a:prstGeom>
          <a:solidFill>
            <a:srgbClr val="1B2638"/>
          </a:solidFill>
          <a:ln w="12700">
            <a:solidFill>
              <a:srgbClr val="1B2638"/>
            </a:solidFill>
            <a:prstDash val="solid"/>
          </a:ln>
        </p:spPr>
        <p:txBody>
          <a:bodyPr/>
          <a:lstStyle/>
          <a:p>
            <a:endParaRPr lang="en-US"/>
          </a:p>
        </p:txBody>
      </p:sp>
      <p:sp>
        <p:nvSpPr>
          <p:cNvPr id="20" name="Shape 18"/>
          <p:cNvSpPr/>
          <p:nvPr/>
        </p:nvSpPr>
        <p:spPr>
          <a:xfrm>
            <a:off x="1847088" y="4983480"/>
            <a:ext cx="36576" cy="365760"/>
          </a:xfrm>
          <a:prstGeom prst="rect">
            <a:avLst/>
          </a:prstGeom>
          <a:solidFill>
            <a:srgbClr val="1B2638"/>
          </a:solidFill>
          <a:ln w="12700">
            <a:solidFill>
              <a:srgbClr val="1B2638"/>
            </a:solidFill>
            <a:prstDash val="solid"/>
          </a:ln>
        </p:spPr>
        <p:txBody>
          <a:bodyPr/>
          <a:lstStyle/>
          <a:p>
            <a:endParaRPr lang="en-US"/>
          </a:p>
        </p:txBody>
      </p:sp>
      <p:sp>
        <p:nvSpPr>
          <p:cNvPr id="21" name="Shape 19"/>
          <p:cNvSpPr/>
          <p:nvPr/>
        </p:nvSpPr>
        <p:spPr>
          <a:xfrm>
            <a:off x="2029968" y="4983480"/>
            <a:ext cx="146304" cy="365760"/>
          </a:xfrm>
          <a:prstGeom prst="rect">
            <a:avLst/>
          </a:prstGeom>
          <a:solidFill>
            <a:srgbClr val="1B2638"/>
          </a:solidFill>
          <a:ln w="12700">
            <a:solidFill>
              <a:srgbClr val="1B2638"/>
            </a:solidFill>
            <a:prstDash val="solid"/>
          </a:ln>
        </p:spPr>
        <p:txBody>
          <a:bodyPr/>
          <a:lstStyle/>
          <a:p>
            <a:endParaRPr lang="en-US"/>
          </a:p>
        </p:txBody>
      </p:sp>
      <p:sp>
        <p:nvSpPr>
          <p:cNvPr id="22" name="Shape 20"/>
          <p:cNvSpPr/>
          <p:nvPr/>
        </p:nvSpPr>
        <p:spPr>
          <a:xfrm>
            <a:off x="2286000" y="4983480"/>
            <a:ext cx="73152" cy="365760"/>
          </a:xfrm>
          <a:prstGeom prst="rect">
            <a:avLst/>
          </a:prstGeom>
          <a:solidFill>
            <a:srgbClr val="1B2638"/>
          </a:solidFill>
          <a:ln w="12700">
            <a:solidFill>
              <a:srgbClr val="1B2638"/>
            </a:solidFill>
            <a:prstDash val="solid"/>
          </a:ln>
        </p:spPr>
        <p:txBody>
          <a:bodyPr/>
          <a:lstStyle/>
          <a:p>
            <a:endParaRPr lang="en-US"/>
          </a:p>
        </p:txBody>
      </p:sp>
      <p:sp>
        <p:nvSpPr>
          <p:cNvPr id="23" name="Shape 21"/>
          <p:cNvSpPr/>
          <p:nvPr/>
        </p:nvSpPr>
        <p:spPr>
          <a:xfrm>
            <a:off x="2468880" y="4983480"/>
            <a:ext cx="36576" cy="365760"/>
          </a:xfrm>
          <a:prstGeom prst="rect">
            <a:avLst/>
          </a:prstGeom>
          <a:solidFill>
            <a:srgbClr val="1B2638"/>
          </a:solidFill>
          <a:ln w="12700">
            <a:solidFill>
              <a:srgbClr val="1B2638"/>
            </a:solidFill>
            <a:prstDash val="solid"/>
          </a:ln>
        </p:spPr>
        <p:txBody>
          <a:bodyPr/>
          <a:lstStyle/>
          <a:p>
            <a:endParaRPr lang="en-US"/>
          </a:p>
        </p:txBody>
      </p:sp>
      <p:sp>
        <p:nvSpPr>
          <p:cNvPr id="24" name="Shape 22"/>
          <p:cNvSpPr/>
          <p:nvPr/>
        </p:nvSpPr>
        <p:spPr>
          <a:xfrm>
            <a:off x="2688336" y="4983480"/>
            <a:ext cx="36576" cy="365760"/>
          </a:xfrm>
          <a:prstGeom prst="rect">
            <a:avLst/>
          </a:prstGeom>
          <a:solidFill>
            <a:srgbClr val="1B2638"/>
          </a:solidFill>
          <a:ln w="12700">
            <a:solidFill>
              <a:srgbClr val="1B2638"/>
            </a:solidFill>
            <a:prstDash val="solid"/>
          </a:ln>
        </p:spPr>
        <p:txBody>
          <a:bodyPr/>
          <a:lstStyle/>
          <a:p>
            <a:endParaRPr lang="en-US"/>
          </a:p>
        </p:txBody>
      </p:sp>
      <p:sp>
        <p:nvSpPr>
          <p:cNvPr id="25" name="Shape 23"/>
          <p:cNvSpPr/>
          <p:nvPr/>
        </p:nvSpPr>
        <p:spPr>
          <a:xfrm>
            <a:off x="2871216" y="4983480"/>
            <a:ext cx="36576" cy="365760"/>
          </a:xfrm>
          <a:prstGeom prst="rect">
            <a:avLst/>
          </a:prstGeom>
          <a:solidFill>
            <a:srgbClr val="1B2638"/>
          </a:solidFill>
          <a:ln w="12700">
            <a:solidFill>
              <a:srgbClr val="1B2638"/>
            </a:solidFill>
            <a:prstDash val="solid"/>
          </a:ln>
        </p:spPr>
        <p:txBody>
          <a:bodyPr/>
          <a:lstStyle/>
          <a:p>
            <a:endParaRPr lang="en-US"/>
          </a:p>
        </p:txBody>
      </p:sp>
      <p:sp>
        <p:nvSpPr>
          <p:cNvPr id="26" name="Shape 24"/>
          <p:cNvSpPr/>
          <p:nvPr/>
        </p:nvSpPr>
        <p:spPr>
          <a:xfrm>
            <a:off x="3017520" y="4983480"/>
            <a:ext cx="146304" cy="365760"/>
          </a:xfrm>
          <a:prstGeom prst="rect">
            <a:avLst/>
          </a:prstGeom>
          <a:solidFill>
            <a:srgbClr val="1B2638"/>
          </a:solidFill>
          <a:ln w="12700">
            <a:solidFill>
              <a:srgbClr val="1B2638"/>
            </a:solidFill>
            <a:prstDash val="solid"/>
          </a:ln>
        </p:spPr>
        <p:txBody>
          <a:bodyPr/>
          <a:lstStyle/>
          <a:p>
            <a:endParaRPr lang="en-US"/>
          </a:p>
        </p:txBody>
      </p:sp>
      <p:sp>
        <p:nvSpPr>
          <p:cNvPr id="27" name="Shape 25"/>
          <p:cNvSpPr/>
          <p:nvPr/>
        </p:nvSpPr>
        <p:spPr>
          <a:xfrm>
            <a:off x="3273552" y="4983480"/>
            <a:ext cx="36576" cy="365760"/>
          </a:xfrm>
          <a:prstGeom prst="rect">
            <a:avLst/>
          </a:prstGeom>
          <a:solidFill>
            <a:srgbClr val="1B2638"/>
          </a:solidFill>
          <a:ln w="12700">
            <a:solidFill>
              <a:srgbClr val="1B2638"/>
            </a:solidFill>
            <a:prstDash val="solid"/>
          </a:ln>
        </p:spPr>
        <p:txBody>
          <a:bodyPr/>
          <a:lstStyle/>
          <a:p>
            <a:endParaRPr lang="en-US"/>
          </a:p>
        </p:txBody>
      </p:sp>
      <p:sp>
        <p:nvSpPr>
          <p:cNvPr id="28" name="Shape 26"/>
          <p:cNvSpPr/>
          <p:nvPr/>
        </p:nvSpPr>
        <p:spPr>
          <a:xfrm>
            <a:off x="3456432" y="4983480"/>
            <a:ext cx="36576" cy="365760"/>
          </a:xfrm>
          <a:prstGeom prst="rect">
            <a:avLst/>
          </a:prstGeom>
          <a:solidFill>
            <a:srgbClr val="1B2638"/>
          </a:solidFill>
          <a:ln w="12700">
            <a:solidFill>
              <a:srgbClr val="1B2638"/>
            </a:solidFill>
            <a:prstDash val="solid"/>
          </a:ln>
        </p:spPr>
        <p:txBody>
          <a:bodyPr/>
          <a:lstStyle/>
          <a:p>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640080" y="411480"/>
            <a:ext cx="548640" cy="274320"/>
          </a:xfrm>
          <a:prstGeom prst="rect">
            <a:avLst/>
          </a:prstGeom>
          <a:noFill/>
          <a:ln/>
        </p:spPr>
        <p:txBody>
          <a:bodyPr wrap="square" lIns="0" tIns="0" rIns="0" bIns="0" rtlCol="0" anchor="ctr"/>
          <a:lstStyle/>
          <a:p>
            <a:pPr marL="0" indent="0">
              <a:buNone/>
            </a:pPr>
            <a:r>
              <a:rPr lang="en-US" sz="1200" b="1" dirty="0">
                <a:solidFill>
                  <a:srgbClr val="00D9A3"/>
                </a:solidFill>
                <a:latin typeface="Courier New" pitchFamily="34" charset="0"/>
                <a:ea typeface="Courier New" pitchFamily="34" charset="-122"/>
                <a:cs typeface="Courier New" pitchFamily="34" charset="-120"/>
              </a:rPr>
              <a:t>04</a:t>
            </a:r>
            <a:endParaRPr lang="en-US" sz="1200" dirty="0"/>
          </a:p>
        </p:txBody>
      </p:sp>
      <p:sp>
        <p:nvSpPr>
          <p:cNvPr id="3" name="Text 1"/>
          <p:cNvSpPr/>
          <p:nvPr/>
        </p:nvSpPr>
        <p:spPr>
          <a:xfrm>
            <a:off x="1143000" y="411480"/>
            <a:ext cx="7315200" cy="274320"/>
          </a:xfrm>
          <a:prstGeom prst="rect">
            <a:avLst/>
          </a:prstGeom>
          <a:noFill/>
          <a:ln/>
        </p:spPr>
        <p:txBody>
          <a:bodyPr wrap="square" lIns="0" tIns="0" rIns="0" bIns="0" rtlCol="0" anchor="ctr"/>
          <a:lstStyle/>
          <a:p>
            <a:pPr marL="0" indent="0">
              <a:buNone/>
            </a:pPr>
            <a:r>
              <a:rPr lang="en-US" sz="1200" kern="0" spc="100" dirty="0">
                <a:solidFill>
                  <a:srgbClr val="8FA0B8"/>
                </a:solidFill>
                <a:latin typeface="Courier New" pitchFamily="34" charset="0"/>
                <a:ea typeface="Courier New" pitchFamily="34" charset="-122"/>
                <a:cs typeface="Courier New" pitchFamily="34" charset="-120"/>
              </a:rPr>
              <a:t>ERFAHRUNGEN / PROBLEME</a:t>
            </a:r>
            <a:endParaRPr lang="en-US" sz="1200" dirty="0"/>
          </a:p>
        </p:txBody>
      </p:sp>
      <p:sp>
        <p:nvSpPr>
          <p:cNvPr id="4" name="Shape 2"/>
          <p:cNvSpPr/>
          <p:nvPr/>
        </p:nvSpPr>
        <p:spPr>
          <a:xfrm>
            <a:off x="640080" y="749808"/>
            <a:ext cx="566928" cy="566928"/>
          </a:xfrm>
          <a:prstGeom prst="roundRect">
            <a:avLst>
              <a:gd name="adj" fmla="val 19355"/>
            </a:avLst>
          </a:prstGeom>
          <a:solidFill>
            <a:srgbClr val="151E2E"/>
          </a:solidFill>
          <a:ln w="12700">
            <a:solidFill>
              <a:srgbClr val="FFB020"/>
            </a:solidFill>
            <a:prstDash val="solid"/>
          </a:ln>
        </p:spPr>
        <p:txBody>
          <a:bodyPr/>
          <a:lstStyle/>
          <a:p>
            <a:endParaRPr lang="en-US"/>
          </a:p>
        </p:txBody>
      </p:sp>
      <p:sp>
        <p:nvSpPr>
          <p:cNvPr id="5" name="Text 3"/>
          <p:cNvSpPr/>
          <p:nvPr/>
        </p:nvSpPr>
        <p:spPr>
          <a:xfrm>
            <a:off x="640080" y="749808"/>
            <a:ext cx="566928" cy="566928"/>
          </a:xfrm>
          <a:prstGeom prst="rect">
            <a:avLst/>
          </a:prstGeom>
          <a:noFill/>
          <a:ln/>
        </p:spPr>
        <p:txBody>
          <a:bodyPr wrap="square" lIns="0" tIns="0" rIns="0" bIns="0" rtlCol="0" anchor="ctr"/>
          <a:lstStyle/>
          <a:p>
            <a:pPr marL="0" indent="0" algn="ctr">
              <a:buNone/>
            </a:pPr>
            <a:r>
              <a:rPr lang="en-US" sz="1800" b="1" dirty="0">
                <a:solidFill>
                  <a:srgbClr val="FFB020"/>
                </a:solidFill>
                <a:latin typeface="Courier New" pitchFamily="34" charset="0"/>
                <a:ea typeface="Courier New" pitchFamily="34" charset="-122"/>
                <a:cs typeface="Courier New" pitchFamily="34" charset="-120"/>
              </a:rPr>
              <a:t>4</a:t>
            </a:r>
            <a:endParaRPr lang="en-US" sz="1800" dirty="0"/>
          </a:p>
        </p:txBody>
      </p:sp>
      <p:sp>
        <p:nvSpPr>
          <p:cNvPr id="6" name="Text 4"/>
          <p:cNvSpPr/>
          <p:nvPr/>
        </p:nvSpPr>
        <p:spPr>
          <a:xfrm>
            <a:off x="1417320" y="749808"/>
            <a:ext cx="8412480" cy="566928"/>
          </a:xfrm>
          <a:prstGeom prst="rect">
            <a:avLst/>
          </a:prstGeom>
          <a:noFill/>
          <a:ln/>
        </p:spPr>
        <p:txBody>
          <a:bodyPr wrap="square" lIns="0" tIns="0" rIns="0" bIns="0" rtlCol="0" anchor="ctr"/>
          <a:lstStyle/>
          <a:p>
            <a:pPr marL="0" indent="0">
              <a:buNone/>
            </a:pPr>
            <a:r>
              <a:rPr lang="en-US" sz="3000" b="1" dirty="0">
                <a:solidFill>
                  <a:srgbClr val="E8EDF5"/>
                </a:solidFill>
                <a:latin typeface="Arial" pitchFamily="34" charset="0"/>
                <a:ea typeface="Arial" pitchFamily="34" charset="-122"/>
                <a:cs typeface="Arial" pitchFamily="34" charset="-120"/>
              </a:rPr>
              <a:t>GPS-Koordinaten</a:t>
            </a:r>
            <a:endParaRPr lang="en-US" sz="3000" dirty="0"/>
          </a:p>
        </p:txBody>
      </p:sp>
      <p:sp>
        <p:nvSpPr>
          <p:cNvPr id="7" name="Text 5"/>
          <p:cNvSpPr/>
          <p:nvPr/>
        </p:nvSpPr>
        <p:spPr>
          <a:xfrm>
            <a:off x="9966960" y="749808"/>
            <a:ext cx="1581912" cy="566928"/>
          </a:xfrm>
          <a:prstGeom prst="rect">
            <a:avLst/>
          </a:prstGeom>
          <a:noFill/>
          <a:ln/>
        </p:spPr>
        <p:txBody>
          <a:bodyPr wrap="square" lIns="0" tIns="0" rIns="0" bIns="0" rtlCol="0" anchor="ctr"/>
          <a:lstStyle/>
          <a:p>
            <a:pPr marL="0" indent="0" algn="r">
              <a:buNone/>
            </a:pPr>
            <a:r>
              <a:rPr lang="en-US" sz="1200" dirty="0">
                <a:solidFill>
                  <a:srgbClr val="8FA0B8"/>
                </a:solidFill>
                <a:latin typeface="Courier New" pitchFamily="34" charset="0"/>
                <a:ea typeface="Courier New" pitchFamily="34" charset="-122"/>
                <a:cs typeface="Courier New" pitchFamily="34" charset="-120"/>
              </a:rPr>
              <a:t>4 / 5</a:t>
            </a:r>
            <a:endParaRPr lang="en-US" sz="1200" dirty="0"/>
          </a:p>
        </p:txBody>
      </p:sp>
      <p:sp>
        <p:nvSpPr>
          <p:cNvPr id="8" name="Shape 6"/>
          <p:cNvSpPr/>
          <p:nvPr/>
        </p:nvSpPr>
        <p:spPr>
          <a:xfrm>
            <a:off x="640080" y="1691640"/>
            <a:ext cx="5285232" cy="2788920"/>
          </a:xfrm>
          <a:prstGeom prst="roundRect">
            <a:avLst>
              <a:gd name="adj" fmla="val 1967"/>
            </a:avLst>
          </a:prstGeom>
          <a:solidFill>
            <a:srgbClr val="151E2E"/>
          </a:solidFill>
          <a:ln w="12700">
            <a:solidFill>
              <a:srgbClr val="FFB020"/>
            </a:solidFill>
            <a:prstDash val="solid"/>
          </a:ln>
        </p:spPr>
        <p:txBody>
          <a:bodyPr/>
          <a:lstStyle/>
          <a:p>
            <a:endParaRPr lang="en-US"/>
          </a:p>
        </p:txBody>
      </p:sp>
      <p:sp>
        <p:nvSpPr>
          <p:cNvPr id="9" name="Text 7"/>
          <p:cNvSpPr/>
          <p:nvPr/>
        </p:nvSpPr>
        <p:spPr>
          <a:xfrm>
            <a:off x="960120" y="1965960"/>
            <a:ext cx="2743200" cy="274320"/>
          </a:xfrm>
          <a:prstGeom prst="rect">
            <a:avLst/>
          </a:prstGeom>
          <a:noFill/>
          <a:ln/>
        </p:spPr>
        <p:txBody>
          <a:bodyPr wrap="square" lIns="0" tIns="0" rIns="0" bIns="0" rtlCol="0" anchor="ctr"/>
          <a:lstStyle/>
          <a:p>
            <a:pPr marL="0" indent="0">
              <a:buNone/>
            </a:pPr>
            <a:r>
              <a:rPr lang="en-US" sz="1200" b="1" kern="0" spc="100" dirty="0">
                <a:solidFill>
                  <a:srgbClr val="FFB020"/>
                </a:solidFill>
                <a:latin typeface="Courier New" pitchFamily="34" charset="0"/>
                <a:ea typeface="Courier New" pitchFamily="34" charset="-122"/>
                <a:cs typeface="Courier New" pitchFamily="34" charset="-120"/>
              </a:rPr>
              <a:t>Problem</a:t>
            </a:r>
            <a:endParaRPr lang="en-US" sz="1200" dirty="0"/>
          </a:p>
        </p:txBody>
      </p:sp>
      <p:sp>
        <p:nvSpPr>
          <p:cNvPr id="10" name="Text 8"/>
          <p:cNvSpPr/>
          <p:nvPr/>
        </p:nvSpPr>
        <p:spPr>
          <a:xfrm>
            <a:off x="960120" y="2377440"/>
            <a:ext cx="4663440" cy="2286000"/>
          </a:xfrm>
          <a:prstGeom prst="rect">
            <a:avLst/>
          </a:prstGeom>
          <a:noFill/>
          <a:ln/>
        </p:spPr>
        <p:txBody>
          <a:bodyPr wrap="square" lIns="0" tIns="0" rIns="0" bIns="0" rtlCol="0" anchor="t"/>
          <a:lstStyle/>
          <a:p>
            <a:pPr marL="0" indent="0">
              <a:lnSpc>
                <a:spcPts val="2300"/>
              </a:lnSpc>
              <a:buNone/>
            </a:pPr>
            <a:r>
              <a:rPr lang="en-US" sz="1500" dirty="0">
                <a:solidFill>
                  <a:srgbClr val="E8EDF5"/>
                </a:solidFill>
                <a:latin typeface="Calibri" pitchFamily="34" charset="0"/>
                <a:ea typeface="Calibri" pitchFamily="34" charset="-122"/>
                <a:cs typeface="Calibri" pitchFamily="34" charset="-120"/>
              </a:rPr>
              <a:t>Koordinaten wurden als normaler Text erkannt. Der Grund war zunächst unklar, weil das allgemeine Konzept von Koordinaten und ihre genaue Schreibweise nicht bekannt waren.</a:t>
            </a:r>
            <a:endParaRPr lang="en-US" sz="1500" dirty="0"/>
          </a:p>
        </p:txBody>
      </p:sp>
      <p:sp>
        <p:nvSpPr>
          <p:cNvPr id="11" name="Shape 9"/>
          <p:cNvSpPr/>
          <p:nvPr/>
        </p:nvSpPr>
        <p:spPr>
          <a:xfrm>
            <a:off x="6263640" y="1691640"/>
            <a:ext cx="5285232" cy="2788920"/>
          </a:xfrm>
          <a:prstGeom prst="roundRect">
            <a:avLst>
              <a:gd name="adj" fmla="val 1967"/>
            </a:avLst>
          </a:prstGeom>
          <a:solidFill>
            <a:srgbClr val="151E2E"/>
          </a:solidFill>
          <a:ln w="12700">
            <a:solidFill>
              <a:srgbClr val="00D9A3"/>
            </a:solidFill>
            <a:prstDash val="solid"/>
          </a:ln>
        </p:spPr>
        <p:txBody>
          <a:bodyPr/>
          <a:lstStyle/>
          <a:p>
            <a:endParaRPr lang="en-US"/>
          </a:p>
        </p:txBody>
      </p:sp>
      <p:sp>
        <p:nvSpPr>
          <p:cNvPr id="12" name="Text 10"/>
          <p:cNvSpPr/>
          <p:nvPr/>
        </p:nvSpPr>
        <p:spPr>
          <a:xfrm>
            <a:off x="6583680" y="1965960"/>
            <a:ext cx="2743200" cy="274320"/>
          </a:xfrm>
          <a:prstGeom prst="rect">
            <a:avLst/>
          </a:prstGeom>
          <a:noFill/>
          <a:ln/>
        </p:spPr>
        <p:txBody>
          <a:bodyPr wrap="square" lIns="0" tIns="0" rIns="0" bIns="0" rtlCol="0" anchor="ctr"/>
          <a:lstStyle/>
          <a:p>
            <a:pPr marL="0" indent="0">
              <a:buNone/>
            </a:pPr>
            <a:r>
              <a:rPr lang="en-US" sz="1200" b="1" kern="0" spc="100" dirty="0">
                <a:solidFill>
                  <a:srgbClr val="00D9A3"/>
                </a:solidFill>
                <a:latin typeface="Courier New" pitchFamily="34" charset="0"/>
                <a:ea typeface="Courier New" pitchFamily="34" charset="-122"/>
                <a:cs typeface="Courier New" pitchFamily="34" charset="-120"/>
              </a:rPr>
              <a:t>Lösung</a:t>
            </a:r>
            <a:endParaRPr lang="en-US" sz="1200" dirty="0"/>
          </a:p>
        </p:txBody>
      </p:sp>
      <p:sp>
        <p:nvSpPr>
          <p:cNvPr id="13" name="Text 11"/>
          <p:cNvSpPr/>
          <p:nvPr/>
        </p:nvSpPr>
        <p:spPr>
          <a:xfrm>
            <a:off x="6583680" y="2377440"/>
            <a:ext cx="4663440" cy="2286000"/>
          </a:xfrm>
          <a:prstGeom prst="rect">
            <a:avLst/>
          </a:prstGeom>
          <a:noFill/>
          <a:ln/>
        </p:spPr>
        <p:txBody>
          <a:bodyPr wrap="square" lIns="0" tIns="0" rIns="0" bIns="0" rtlCol="0" anchor="t"/>
          <a:lstStyle/>
          <a:p>
            <a:pPr marL="0" indent="0">
              <a:lnSpc>
                <a:spcPts val="2300"/>
              </a:lnSpc>
              <a:buNone/>
            </a:pPr>
            <a:r>
              <a:rPr lang="en-US" sz="1500" dirty="0">
                <a:solidFill>
                  <a:srgbClr val="E8EDF5"/>
                </a:solidFill>
                <a:latin typeface="Calibri" pitchFamily="34" charset="0"/>
                <a:ea typeface="Calibri" pitchFamily="34" charset="-122"/>
                <a:cs typeface="Calibri" pitchFamily="34" charset="-120"/>
              </a:rPr>
              <a:t>Aufbau und Schreibweise von Koordinaten wurden recherchiert und eine eigene Erkennung dafür ergänzt. Erst danach wird ein Code als GEO behandelt und in Google Maps geöffnet.</a:t>
            </a:r>
            <a:endParaRPr lang="en-US" sz="1500" dirty="0"/>
          </a:p>
        </p:txBody>
      </p:sp>
      <p:sp>
        <p:nvSpPr>
          <p:cNvPr id="14" name="Shape 12"/>
          <p:cNvSpPr/>
          <p:nvPr/>
        </p:nvSpPr>
        <p:spPr>
          <a:xfrm>
            <a:off x="640080" y="4983480"/>
            <a:ext cx="109728" cy="365760"/>
          </a:xfrm>
          <a:prstGeom prst="rect">
            <a:avLst/>
          </a:prstGeom>
          <a:solidFill>
            <a:srgbClr val="1B2638"/>
          </a:solidFill>
          <a:ln w="12700">
            <a:solidFill>
              <a:srgbClr val="1B2638"/>
            </a:solidFill>
            <a:prstDash val="solid"/>
          </a:ln>
        </p:spPr>
        <p:txBody>
          <a:bodyPr/>
          <a:lstStyle/>
          <a:p>
            <a:endParaRPr lang="en-US"/>
          </a:p>
        </p:txBody>
      </p:sp>
      <p:sp>
        <p:nvSpPr>
          <p:cNvPr id="15" name="Shape 13"/>
          <p:cNvSpPr/>
          <p:nvPr/>
        </p:nvSpPr>
        <p:spPr>
          <a:xfrm>
            <a:off x="859536" y="4983480"/>
            <a:ext cx="36576" cy="365760"/>
          </a:xfrm>
          <a:prstGeom prst="rect">
            <a:avLst/>
          </a:prstGeom>
          <a:solidFill>
            <a:srgbClr val="1B2638"/>
          </a:solidFill>
          <a:ln w="12700">
            <a:solidFill>
              <a:srgbClr val="1B2638"/>
            </a:solidFill>
            <a:prstDash val="solid"/>
          </a:ln>
        </p:spPr>
        <p:txBody>
          <a:bodyPr/>
          <a:lstStyle/>
          <a:p>
            <a:endParaRPr lang="en-US"/>
          </a:p>
        </p:txBody>
      </p:sp>
      <p:sp>
        <p:nvSpPr>
          <p:cNvPr id="16" name="Shape 14"/>
          <p:cNvSpPr/>
          <p:nvPr/>
        </p:nvSpPr>
        <p:spPr>
          <a:xfrm>
            <a:off x="1042416" y="4983480"/>
            <a:ext cx="36576" cy="365760"/>
          </a:xfrm>
          <a:prstGeom prst="rect">
            <a:avLst/>
          </a:prstGeom>
          <a:solidFill>
            <a:srgbClr val="1B2638"/>
          </a:solidFill>
          <a:ln w="12700">
            <a:solidFill>
              <a:srgbClr val="1B2638"/>
            </a:solidFill>
            <a:prstDash val="solid"/>
          </a:ln>
        </p:spPr>
        <p:txBody>
          <a:bodyPr/>
          <a:lstStyle/>
          <a:p>
            <a:endParaRPr lang="en-US"/>
          </a:p>
        </p:txBody>
      </p:sp>
      <p:sp>
        <p:nvSpPr>
          <p:cNvPr id="17" name="Shape 15"/>
          <p:cNvSpPr/>
          <p:nvPr/>
        </p:nvSpPr>
        <p:spPr>
          <a:xfrm>
            <a:off x="1298448" y="4983480"/>
            <a:ext cx="36576" cy="365760"/>
          </a:xfrm>
          <a:prstGeom prst="rect">
            <a:avLst/>
          </a:prstGeom>
          <a:solidFill>
            <a:srgbClr val="1B2638"/>
          </a:solidFill>
          <a:ln w="12700">
            <a:solidFill>
              <a:srgbClr val="1B2638"/>
            </a:solidFill>
            <a:prstDash val="solid"/>
          </a:ln>
        </p:spPr>
        <p:txBody>
          <a:bodyPr/>
          <a:lstStyle/>
          <a:p>
            <a:endParaRPr lang="en-US"/>
          </a:p>
        </p:txBody>
      </p:sp>
      <p:sp>
        <p:nvSpPr>
          <p:cNvPr id="18" name="Shape 16"/>
          <p:cNvSpPr/>
          <p:nvPr/>
        </p:nvSpPr>
        <p:spPr>
          <a:xfrm>
            <a:off x="1444752" y="4983480"/>
            <a:ext cx="73152" cy="365760"/>
          </a:xfrm>
          <a:prstGeom prst="rect">
            <a:avLst/>
          </a:prstGeom>
          <a:solidFill>
            <a:srgbClr val="1B2638"/>
          </a:solidFill>
          <a:ln w="12700">
            <a:solidFill>
              <a:srgbClr val="1B2638"/>
            </a:solidFill>
            <a:prstDash val="solid"/>
          </a:ln>
        </p:spPr>
        <p:txBody>
          <a:bodyPr/>
          <a:lstStyle/>
          <a:p>
            <a:endParaRPr lang="en-US"/>
          </a:p>
        </p:txBody>
      </p:sp>
      <p:sp>
        <p:nvSpPr>
          <p:cNvPr id="19" name="Shape 17"/>
          <p:cNvSpPr/>
          <p:nvPr/>
        </p:nvSpPr>
        <p:spPr>
          <a:xfrm>
            <a:off x="1700784" y="4983480"/>
            <a:ext cx="36576" cy="365760"/>
          </a:xfrm>
          <a:prstGeom prst="rect">
            <a:avLst/>
          </a:prstGeom>
          <a:solidFill>
            <a:srgbClr val="1B2638"/>
          </a:solidFill>
          <a:ln w="12700">
            <a:solidFill>
              <a:srgbClr val="1B2638"/>
            </a:solidFill>
            <a:prstDash val="solid"/>
          </a:ln>
        </p:spPr>
        <p:txBody>
          <a:bodyPr/>
          <a:lstStyle/>
          <a:p>
            <a:endParaRPr lang="en-US"/>
          </a:p>
        </p:txBody>
      </p:sp>
      <p:sp>
        <p:nvSpPr>
          <p:cNvPr id="20" name="Shape 18"/>
          <p:cNvSpPr/>
          <p:nvPr/>
        </p:nvSpPr>
        <p:spPr>
          <a:xfrm>
            <a:off x="1847088" y="4983480"/>
            <a:ext cx="36576" cy="365760"/>
          </a:xfrm>
          <a:prstGeom prst="rect">
            <a:avLst/>
          </a:prstGeom>
          <a:solidFill>
            <a:srgbClr val="1B2638"/>
          </a:solidFill>
          <a:ln w="12700">
            <a:solidFill>
              <a:srgbClr val="1B2638"/>
            </a:solidFill>
            <a:prstDash val="solid"/>
          </a:ln>
        </p:spPr>
        <p:txBody>
          <a:bodyPr/>
          <a:lstStyle/>
          <a:p>
            <a:endParaRPr lang="en-US"/>
          </a:p>
        </p:txBody>
      </p:sp>
      <p:sp>
        <p:nvSpPr>
          <p:cNvPr id="21" name="Shape 19"/>
          <p:cNvSpPr/>
          <p:nvPr/>
        </p:nvSpPr>
        <p:spPr>
          <a:xfrm>
            <a:off x="2029968" y="4983480"/>
            <a:ext cx="146304" cy="365760"/>
          </a:xfrm>
          <a:prstGeom prst="rect">
            <a:avLst/>
          </a:prstGeom>
          <a:solidFill>
            <a:srgbClr val="1B2638"/>
          </a:solidFill>
          <a:ln w="12700">
            <a:solidFill>
              <a:srgbClr val="1B2638"/>
            </a:solidFill>
            <a:prstDash val="solid"/>
          </a:ln>
        </p:spPr>
        <p:txBody>
          <a:bodyPr/>
          <a:lstStyle/>
          <a:p>
            <a:endParaRPr lang="en-US"/>
          </a:p>
        </p:txBody>
      </p:sp>
      <p:sp>
        <p:nvSpPr>
          <p:cNvPr id="22" name="Shape 20"/>
          <p:cNvSpPr/>
          <p:nvPr/>
        </p:nvSpPr>
        <p:spPr>
          <a:xfrm>
            <a:off x="2286000" y="4983480"/>
            <a:ext cx="73152" cy="365760"/>
          </a:xfrm>
          <a:prstGeom prst="rect">
            <a:avLst/>
          </a:prstGeom>
          <a:solidFill>
            <a:srgbClr val="1B2638"/>
          </a:solidFill>
          <a:ln w="12700">
            <a:solidFill>
              <a:srgbClr val="1B2638"/>
            </a:solidFill>
            <a:prstDash val="solid"/>
          </a:ln>
        </p:spPr>
        <p:txBody>
          <a:bodyPr/>
          <a:lstStyle/>
          <a:p>
            <a:endParaRPr lang="en-US"/>
          </a:p>
        </p:txBody>
      </p:sp>
      <p:sp>
        <p:nvSpPr>
          <p:cNvPr id="23" name="Shape 21"/>
          <p:cNvSpPr/>
          <p:nvPr/>
        </p:nvSpPr>
        <p:spPr>
          <a:xfrm>
            <a:off x="2468880" y="4983480"/>
            <a:ext cx="36576" cy="365760"/>
          </a:xfrm>
          <a:prstGeom prst="rect">
            <a:avLst/>
          </a:prstGeom>
          <a:solidFill>
            <a:srgbClr val="1B2638"/>
          </a:solidFill>
          <a:ln w="12700">
            <a:solidFill>
              <a:srgbClr val="1B2638"/>
            </a:solidFill>
            <a:prstDash val="solid"/>
          </a:ln>
        </p:spPr>
        <p:txBody>
          <a:bodyPr/>
          <a:lstStyle/>
          <a:p>
            <a:endParaRPr lang="en-US"/>
          </a:p>
        </p:txBody>
      </p:sp>
      <p:sp>
        <p:nvSpPr>
          <p:cNvPr id="24" name="Shape 22"/>
          <p:cNvSpPr/>
          <p:nvPr/>
        </p:nvSpPr>
        <p:spPr>
          <a:xfrm>
            <a:off x="2688336" y="4983480"/>
            <a:ext cx="36576" cy="365760"/>
          </a:xfrm>
          <a:prstGeom prst="rect">
            <a:avLst/>
          </a:prstGeom>
          <a:solidFill>
            <a:srgbClr val="1B2638"/>
          </a:solidFill>
          <a:ln w="12700">
            <a:solidFill>
              <a:srgbClr val="1B2638"/>
            </a:solidFill>
            <a:prstDash val="solid"/>
          </a:ln>
        </p:spPr>
        <p:txBody>
          <a:bodyPr/>
          <a:lstStyle/>
          <a:p>
            <a:endParaRPr lang="en-US"/>
          </a:p>
        </p:txBody>
      </p:sp>
      <p:sp>
        <p:nvSpPr>
          <p:cNvPr id="25" name="Shape 23"/>
          <p:cNvSpPr/>
          <p:nvPr/>
        </p:nvSpPr>
        <p:spPr>
          <a:xfrm>
            <a:off x="2871216" y="4983480"/>
            <a:ext cx="36576" cy="365760"/>
          </a:xfrm>
          <a:prstGeom prst="rect">
            <a:avLst/>
          </a:prstGeom>
          <a:solidFill>
            <a:srgbClr val="1B2638"/>
          </a:solidFill>
          <a:ln w="12700">
            <a:solidFill>
              <a:srgbClr val="1B2638"/>
            </a:solidFill>
            <a:prstDash val="solid"/>
          </a:ln>
        </p:spPr>
        <p:txBody>
          <a:bodyPr/>
          <a:lstStyle/>
          <a:p>
            <a:endParaRPr lang="en-US"/>
          </a:p>
        </p:txBody>
      </p:sp>
      <p:sp>
        <p:nvSpPr>
          <p:cNvPr id="26" name="Shape 24"/>
          <p:cNvSpPr/>
          <p:nvPr/>
        </p:nvSpPr>
        <p:spPr>
          <a:xfrm>
            <a:off x="3017520" y="4983480"/>
            <a:ext cx="146304" cy="365760"/>
          </a:xfrm>
          <a:prstGeom prst="rect">
            <a:avLst/>
          </a:prstGeom>
          <a:solidFill>
            <a:srgbClr val="1B2638"/>
          </a:solidFill>
          <a:ln w="12700">
            <a:solidFill>
              <a:srgbClr val="1B2638"/>
            </a:solidFill>
            <a:prstDash val="solid"/>
          </a:ln>
        </p:spPr>
        <p:txBody>
          <a:bodyPr/>
          <a:lstStyle/>
          <a:p>
            <a:endParaRPr lang="en-US"/>
          </a:p>
        </p:txBody>
      </p:sp>
      <p:sp>
        <p:nvSpPr>
          <p:cNvPr id="27" name="Shape 25"/>
          <p:cNvSpPr/>
          <p:nvPr/>
        </p:nvSpPr>
        <p:spPr>
          <a:xfrm>
            <a:off x="3273552" y="4983480"/>
            <a:ext cx="36576" cy="365760"/>
          </a:xfrm>
          <a:prstGeom prst="rect">
            <a:avLst/>
          </a:prstGeom>
          <a:solidFill>
            <a:srgbClr val="1B2638"/>
          </a:solidFill>
          <a:ln w="12700">
            <a:solidFill>
              <a:srgbClr val="1B2638"/>
            </a:solidFill>
            <a:prstDash val="solid"/>
          </a:ln>
        </p:spPr>
        <p:txBody>
          <a:bodyPr/>
          <a:lstStyle/>
          <a:p>
            <a:endParaRPr lang="en-US"/>
          </a:p>
        </p:txBody>
      </p:sp>
      <p:sp>
        <p:nvSpPr>
          <p:cNvPr id="28" name="Shape 26"/>
          <p:cNvSpPr/>
          <p:nvPr/>
        </p:nvSpPr>
        <p:spPr>
          <a:xfrm>
            <a:off x="3456432" y="4983480"/>
            <a:ext cx="36576" cy="365760"/>
          </a:xfrm>
          <a:prstGeom prst="rect">
            <a:avLst/>
          </a:prstGeom>
          <a:solidFill>
            <a:srgbClr val="1B2638"/>
          </a:solidFill>
          <a:ln w="12700">
            <a:solidFill>
              <a:srgbClr val="1B2638"/>
            </a:solidFill>
            <a:prstDash val="solid"/>
          </a:ln>
        </p:spPr>
        <p:txBody>
          <a:bodyPr/>
          <a:lstStyle/>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640080" y="411480"/>
            <a:ext cx="548640" cy="274320"/>
          </a:xfrm>
          <a:prstGeom prst="rect">
            <a:avLst/>
          </a:prstGeom>
          <a:noFill/>
          <a:ln/>
        </p:spPr>
        <p:txBody>
          <a:bodyPr wrap="square" lIns="0" tIns="0" rIns="0" bIns="0" rtlCol="0" anchor="ctr"/>
          <a:lstStyle/>
          <a:p>
            <a:pPr marL="0" indent="0">
              <a:buNone/>
            </a:pPr>
            <a:r>
              <a:rPr lang="en-US" sz="1200" b="1" dirty="0">
                <a:solidFill>
                  <a:srgbClr val="00D9A3"/>
                </a:solidFill>
                <a:latin typeface="Courier New" pitchFamily="34" charset="0"/>
                <a:ea typeface="Courier New" pitchFamily="34" charset="-122"/>
                <a:cs typeface="Courier New" pitchFamily="34" charset="-120"/>
              </a:rPr>
              <a:t>04</a:t>
            </a:r>
            <a:endParaRPr lang="en-US" sz="1200" dirty="0"/>
          </a:p>
        </p:txBody>
      </p:sp>
      <p:sp>
        <p:nvSpPr>
          <p:cNvPr id="3" name="Text 1"/>
          <p:cNvSpPr/>
          <p:nvPr/>
        </p:nvSpPr>
        <p:spPr>
          <a:xfrm>
            <a:off x="1143000" y="411480"/>
            <a:ext cx="7315200" cy="274320"/>
          </a:xfrm>
          <a:prstGeom prst="rect">
            <a:avLst/>
          </a:prstGeom>
          <a:noFill/>
          <a:ln/>
        </p:spPr>
        <p:txBody>
          <a:bodyPr wrap="square" lIns="0" tIns="0" rIns="0" bIns="0" rtlCol="0" anchor="ctr"/>
          <a:lstStyle/>
          <a:p>
            <a:pPr marL="0" indent="0">
              <a:buNone/>
            </a:pPr>
            <a:r>
              <a:rPr lang="en-US" sz="1200" kern="0" spc="100" dirty="0">
                <a:solidFill>
                  <a:srgbClr val="8FA0B8"/>
                </a:solidFill>
                <a:latin typeface="Courier New" pitchFamily="34" charset="0"/>
                <a:ea typeface="Courier New" pitchFamily="34" charset="-122"/>
                <a:cs typeface="Courier New" pitchFamily="34" charset="-120"/>
              </a:rPr>
              <a:t>ERFAHRUNGEN / PROBLEME</a:t>
            </a:r>
            <a:endParaRPr lang="en-US" sz="1200" dirty="0"/>
          </a:p>
        </p:txBody>
      </p:sp>
      <p:sp>
        <p:nvSpPr>
          <p:cNvPr id="4" name="Shape 2"/>
          <p:cNvSpPr/>
          <p:nvPr/>
        </p:nvSpPr>
        <p:spPr>
          <a:xfrm>
            <a:off x="640080" y="749808"/>
            <a:ext cx="566928" cy="566928"/>
          </a:xfrm>
          <a:prstGeom prst="roundRect">
            <a:avLst>
              <a:gd name="adj" fmla="val 19355"/>
            </a:avLst>
          </a:prstGeom>
          <a:solidFill>
            <a:srgbClr val="151E2E"/>
          </a:solidFill>
          <a:ln w="12700">
            <a:solidFill>
              <a:srgbClr val="FFB020"/>
            </a:solidFill>
            <a:prstDash val="solid"/>
          </a:ln>
        </p:spPr>
        <p:txBody>
          <a:bodyPr/>
          <a:lstStyle/>
          <a:p>
            <a:endParaRPr lang="en-US"/>
          </a:p>
        </p:txBody>
      </p:sp>
      <p:sp>
        <p:nvSpPr>
          <p:cNvPr id="5" name="Text 3"/>
          <p:cNvSpPr/>
          <p:nvPr/>
        </p:nvSpPr>
        <p:spPr>
          <a:xfrm>
            <a:off x="640080" y="749808"/>
            <a:ext cx="566928" cy="566928"/>
          </a:xfrm>
          <a:prstGeom prst="rect">
            <a:avLst/>
          </a:prstGeom>
          <a:noFill/>
          <a:ln/>
        </p:spPr>
        <p:txBody>
          <a:bodyPr wrap="square" lIns="0" tIns="0" rIns="0" bIns="0" rtlCol="0" anchor="ctr"/>
          <a:lstStyle/>
          <a:p>
            <a:pPr marL="0" indent="0" algn="ctr">
              <a:buNone/>
            </a:pPr>
            <a:r>
              <a:rPr lang="en-US" sz="1800" b="1" dirty="0">
                <a:solidFill>
                  <a:srgbClr val="FFB020"/>
                </a:solidFill>
                <a:latin typeface="Courier New" pitchFamily="34" charset="0"/>
                <a:ea typeface="Courier New" pitchFamily="34" charset="-122"/>
                <a:cs typeface="Courier New" pitchFamily="34" charset="-120"/>
              </a:rPr>
              <a:t>5</a:t>
            </a:r>
            <a:endParaRPr lang="en-US" sz="1800" dirty="0"/>
          </a:p>
        </p:txBody>
      </p:sp>
      <p:sp>
        <p:nvSpPr>
          <p:cNvPr id="6" name="Text 4"/>
          <p:cNvSpPr/>
          <p:nvPr/>
        </p:nvSpPr>
        <p:spPr>
          <a:xfrm>
            <a:off x="1417320" y="749808"/>
            <a:ext cx="8412480" cy="566928"/>
          </a:xfrm>
          <a:prstGeom prst="rect">
            <a:avLst/>
          </a:prstGeom>
          <a:noFill/>
          <a:ln/>
        </p:spPr>
        <p:txBody>
          <a:bodyPr wrap="square" lIns="0" tIns="0" rIns="0" bIns="0" rtlCol="0" anchor="ctr"/>
          <a:lstStyle/>
          <a:p>
            <a:pPr marL="0" indent="0">
              <a:buNone/>
            </a:pPr>
            <a:r>
              <a:rPr lang="en-US" sz="3000" b="1" dirty="0">
                <a:solidFill>
                  <a:srgbClr val="E8EDF5"/>
                </a:solidFill>
                <a:latin typeface="Arial" pitchFamily="34" charset="0"/>
                <a:ea typeface="Arial" pitchFamily="34" charset="-122"/>
                <a:cs typeface="Arial" pitchFamily="34" charset="-120"/>
              </a:rPr>
              <a:t>Wenig Testgeräte</a:t>
            </a:r>
            <a:endParaRPr lang="en-US" sz="3000" dirty="0"/>
          </a:p>
        </p:txBody>
      </p:sp>
      <p:sp>
        <p:nvSpPr>
          <p:cNvPr id="7" name="Text 5"/>
          <p:cNvSpPr/>
          <p:nvPr/>
        </p:nvSpPr>
        <p:spPr>
          <a:xfrm>
            <a:off x="9966960" y="749808"/>
            <a:ext cx="1581912" cy="566928"/>
          </a:xfrm>
          <a:prstGeom prst="rect">
            <a:avLst/>
          </a:prstGeom>
          <a:noFill/>
          <a:ln/>
        </p:spPr>
        <p:txBody>
          <a:bodyPr wrap="square" lIns="0" tIns="0" rIns="0" bIns="0" rtlCol="0" anchor="ctr"/>
          <a:lstStyle/>
          <a:p>
            <a:pPr marL="0" indent="0" algn="r">
              <a:buNone/>
            </a:pPr>
            <a:r>
              <a:rPr lang="en-US" sz="1200" dirty="0">
                <a:solidFill>
                  <a:srgbClr val="8FA0B8"/>
                </a:solidFill>
                <a:latin typeface="Courier New" pitchFamily="34" charset="0"/>
                <a:ea typeface="Courier New" pitchFamily="34" charset="-122"/>
                <a:cs typeface="Courier New" pitchFamily="34" charset="-120"/>
              </a:rPr>
              <a:t>5 / 5</a:t>
            </a:r>
            <a:endParaRPr lang="en-US" sz="1200" dirty="0"/>
          </a:p>
        </p:txBody>
      </p:sp>
      <p:sp>
        <p:nvSpPr>
          <p:cNvPr id="8" name="Shape 6"/>
          <p:cNvSpPr/>
          <p:nvPr/>
        </p:nvSpPr>
        <p:spPr>
          <a:xfrm>
            <a:off x="640080" y="1691640"/>
            <a:ext cx="5285232" cy="2788920"/>
          </a:xfrm>
          <a:prstGeom prst="roundRect">
            <a:avLst>
              <a:gd name="adj" fmla="val 1967"/>
            </a:avLst>
          </a:prstGeom>
          <a:solidFill>
            <a:srgbClr val="151E2E"/>
          </a:solidFill>
          <a:ln w="12700">
            <a:solidFill>
              <a:srgbClr val="FFB020"/>
            </a:solidFill>
            <a:prstDash val="solid"/>
          </a:ln>
        </p:spPr>
        <p:txBody>
          <a:bodyPr/>
          <a:lstStyle/>
          <a:p>
            <a:endParaRPr lang="en-US"/>
          </a:p>
        </p:txBody>
      </p:sp>
      <p:sp>
        <p:nvSpPr>
          <p:cNvPr id="9" name="Text 7"/>
          <p:cNvSpPr/>
          <p:nvPr/>
        </p:nvSpPr>
        <p:spPr>
          <a:xfrm>
            <a:off x="960120" y="1965960"/>
            <a:ext cx="2743200" cy="274320"/>
          </a:xfrm>
          <a:prstGeom prst="rect">
            <a:avLst/>
          </a:prstGeom>
          <a:noFill/>
          <a:ln/>
        </p:spPr>
        <p:txBody>
          <a:bodyPr wrap="square" lIns="0" tIns="0" rIns="0" bIns="0" rtlCol="0" anchor="ctr"/>
          <a:lstStyle/>
          <a:p>
            <a:pPr marL="0" indent="0">
              <a:buNone/>
            </a:pPr>
            <a:r>
              <a:rPr lang="en-US" sz="1200" b="1" kern="0" spc="100" dirty="0">
                <a:solidFill>
                  <a:srgbClr val="FFB020"/>
                </a:solidFill>
                <a:latin typeface="Courier New" pitchFamily="34" charset="0"/>
                <a:ea typeface="Courier New" pitchFamily="34" charset="-122"/>
                <a:cs typeface="Courier New" pitchFamily="34" charset="-120"/>
              </a:rPr>
              <a:t>Problem</a:t>
            </a:r>
            <a:endParaRPr lang="en-US" sz="1200" dirty="0"/>
          </a:p>
        </p:txBody>
      </p:sp>
      <p:sp>
        <p:nvSpPr>
          <p:cNvPr id="10" name="Text 8"/>
          <p:cNvSpPr/>
          <p:nvPr/>
        </p:nvSpPr>
        <p:spPr>
          <a:xfrm>
            <a:off x="960120" y="2377440"/>
            <a:ext cx="4663440" cy="2286000"/>
          </a:xfrm>
          <a:prstGeom prst="rect">
            <a:avLst/>
          </a:prstGeom>
          <a:noFill/>
          <a:ln/>
        </p:spPr>
        <p:txBody>
          <a:bodyPr wrap="square" lIns="0" tIns="0" rIns="0" bIns="0" rtlCol="0" anchor="t"/>
          <a:lstStyle/>
          <a:p>
            <a:pPr marL="0" indent="0">
              <a:lnSpc>
                <a:spcPts val="2300"/>
              </a:lnSpc>
              <a:buNone/>
            </a:pPr>
            <a:r>
              <a:rPr lang="en-US" sz="1500" dirty="0">
                <a:solidFill>
                  <a:srgbClr val="E8EDF5"/>
                </a:solidFill>
                <a:latin typeface="Calibri" pitchFamily="34" charset="0"/>
                <a:ea typeface="Calibri" pitchFamily="34" charset="-122"/>
                <a:cs typeface="Calibri" pitchFamily="34" charset="-120"/>
              </a:rPr>
              <a:t>Zum Testen wird eine echte Kamera benötigt, ein Emulator kam dafür nicht in Frage. Entsprechend wenige Geräte standen für Tests zur Verfügung.</a:t>
            </a:r>
            <a:endParaRPr lang="en-US" sz="1500" dirty="0"/>
          </a:p>
        </p:txBody>
      </p:sp>
      <p:sp>
        <p:nvSpPr>
          <p:cNvPr id="11" name="Shape 9"/>
          <p:cNvSpPr/>
          <p:nvPr/>
        </p:nvSpPr>
        <p:spPr>
          <a:xfrm>
            <a:off x="6263640" y="1691640"/>
            <a:ext cx="5285232" cy="2788920"/>
          </a:xfrm>
          <a:prstGeom prst="roundRect">
            <a:avLst>
              <a:gd name="adj" fmla="val 1967"/>
            </a:avLst>
          </a:prstGeom>
          <a:solidFill>
            <a:srgbClr val="151E2E"/>
          </a:solidFill>
          <a:ln w="12700">
            <a:solidFill>
              <a:srgbClr val="00D9A3"/>
            </a:solidFill>
            <a:prstDash val="solid"/>
          </a:ln>
        </p:spPr>
        <p:txBody>
          <a:bodyPr/>
          <a:lstStyle/>
          <a:p>
            <a:endParaRPr lang="en-US"/>
          </a:p>
        </p:txBody>
      </p:sp>
      <p:sp>
        <p:nvSpPr>
          <p:cNvPr id="12" name="Text 10"/>
          <p:cNvSpPr/>
          <p:nvPr/>
        </p:nvSpPr>
        <p:spPr>
          <a:xfrm>
            <a:off x="6583680" y="1965960"/>
            <a:ext cx="2743200" cy="274320"/>
          </a:xfrm>
          <a:prstGeom prst="rect">
            <a:avLst/>
          </a:prstGeom>
          <a:noFill/>
          <a:ln/>
        </p:spPr>
        <p:txBody>
          <a:bodyPr wrap="square" lIns="0" tIns="0" rIns="0" bIns="0" rtlCol="0" anchor="ctr"/>
          <a:lstStyle/>
          <a:p>
            <a:pPr marL="0" indent="0">
              <a:buNone/>
            </a:pPr>
            <a:r>
              <a:rPr lang="en-US" sz="1200" b="1" kern="0" spc="100" dirty="0">
                <a:solidFill>
                  <a:srgbClr val="00D9A3"/>
                </a:solidFill>
                <a:latin typeface="Courier New" pitchFamily="34" charset="0"/>
                <a:ea typeface="Courier New" pitchFamily="34" charset="-122"/>
                <a:cs typeface="Courier New" pitchFamily="34" charset="-120"/>
              </a:rPr>
              <a:t>Lösung</a:t>
            </a:r>
            <a:endParaRPr lang="en-US" sz="1200" dirty="0"/>
          </a:p>
        </p:txBody>
      </p:sp>
      <p:sp>
        <p:nvSpPr>
          <p:cNvPr id="13" name="Text 11"/>
          <p:cNvSpPr/>
          <p:nvPr/>
        </p:nvSpPr>
        <p:spPr>
          <a:xfrm>
            <a:off x="6583680" y="2377440"/>
            <a:ext cx="4663440" cy="2286000"/>
          </a:xfrm>
          <a:prstGeom prst="rect">
            <a:avLst/>
          </a:prstGeom>
          <a:noFill/>
          <a:ln/>
        </p:spPr>
        <p:txBody>
          <a:bodyPr wrap="square" lIns="0" tIns="0" rIns="0" bIns="0" rtlCol="0" anchor="t"/>
          <a:lstStyle/>
          <a:p>
            <a:pPr marL="0" indent="0">
              <a:lnSpc>
                <a:spcPts val="2300"/>
              </a:lnSpc>
              <a:buNone/>
            </a:pPr>
            <a:r>
              <a:rPr lang="en-US" sz="1500" dirty="0">
                <a:solidFill>
                  <a:srgbClr val="E8EDF5"/>
                </a:solidFill>
                <a:latin typeface="Calibri" pitchFamily="34" charset="0"/>
                <a:ea typeface="Calibri" pitchFamily="34" charset="-122"/>
                <a:cs typeface="Calibri" pitchFamily="34" charset="-120"/>
              </a:rPr>
              <a:t>Ältere Android-Handys wurden als zusätzliche Testgeräte eingesetzt.</a:t>
            </a:r>
            <a:endParaRPr lang="en-US" sz="1500" dirty="0"/>
          </a:p>
        </p:txBody>
      </p:sp>
      <p:sp>
        <p:nvSpPr>
          <p:cNvPr id="14" name="Shape 12"/>
          <p:cNvSpPr/>
          <p:nvPr/>
        </p:nvSpPr>
        <p:spPr>
          <a:xfrm>
            <a:off x="640080" y="4983480"/>
            <a:ext cx="109728" cy="365760"/>
          </a:xfrm>
          <a:prstGeom prst="rect">
            <a:avLst/>
          </a:prstGeom>
          <a:solidFill>
            <a:srgbClr val="1B2638"/>
          </a:solidFill>
          <a:ln w="12700">
            <a:solidFill>
              <a:srgbClr val="1B2638"/>
            </a:solidFill>
            <a:prstDash val="solid"/>
          </a:ln>
        </p:spPr>
        <p:txBody>
          <a:bodyPr/>
          <a:lstStyle/>
          <a:p>
            <a:endParaRPr lang="en-US"/>
          </a:p>
        </p:txBody>
      </p:sp>
      <p:sp>
        <p:nvSpPr>
          <p:cNvPr id="15" name="Shape 13"/>
          <p:cNvSpPr/>
          <p:nvPr/>
        </p:nvSpPr>
        <p:spPr>
          <a:xfrm>
            <a:off x="859536" y="4983480"/>
            <a:ext cx="36576" cy="365760"/>
          </a:xfrm>
          <a:prstGeom prst="rect">
            <a:avLst/>
          </a:prstGeom>
          <a:solidFill>
            <a:srgbClr val="1B2638"/>
          </a:solidFill>
          <a:ln w="12700">
            <a:solidFill>
              <a:srgbClr val="1B2638"/>
            </a:solidFill>
            <a:prstDash val="solid"/>
          </a:ln>
        </p:spPr>
        <p:txBody>
          <a:bodyPr/>
          <a:lstStyle/>
          <a:p>
            <a:endParaRPr lang="en-US"/>
          </a:p>
        </p:txBody>
      </p:sp>
      <p:sp>
        <p:nvSpPr>
          <p:cNvPr id="16" name="Shape 14"/>
          <p:cNvSpPr/>
          <p:nvPr/>
        </p:nvSpPr>
        <p:spPr>
          <a:xfrm>
            <a:off x="1042416" y="4983480"/>
            <a:ext cx="36576" cy="365760"/>
          </a:xfrm>
          <a:prstGeom prst="rect">
            <a:avLst/>
          </a:prstGeom>
          <a:solidFill>
            <a:srgbClr val="1B2638"/>
          </a:solidFill>
          <a:ln w="12700">
            <a:solidFill>
              <a:srgbClr val="1B2638"/>
            </a:solidFill>
            <a:prstDash val="solid"/>
          </a:ln>
        </p:spPr>
        <p:txBody>
          <a:bodyPr/>
          <a:lstStyle/>
          <a:p>
            <a:endParaRPr lang="en-US"/>
          </a:p>
        </p:txBody>
      </p:sp>
      <p:sp>
        <p:nvSpPr>
          <p:cNvPr id="17" name="Shape 15"/>
          <p:cNvSpPr/>
          <p:nvPr/>
        </p:nvSpPr>
        <p:spPr>
          <a:xfrm>
            <a:off x="1298448" y="4983480"/>
            <a:ext cx="36576" cy="365760"/>
          </a:xfrm>
          <a:prstGeom prst="rect">
            <a:avLst/>
          </a:prstGeom>
          <a:solidFill>
            <a:srgbClr val="1B2638"/>
          </a:solidFill>
          <a:ln w="12700">
            <a:solidFill>
              <a:srgbClr val="1B2638"/>
            </a:solidFill>
            <a:prstDash val="solid"/>
          </a:ln>
        </p:spPr>
        <p:txBody>
          <a:bodyPr/>
          <a:lstStyle/>
          <a:p>
            <a:endParaRPr lang="en-US"/>
          </a:p>
        </p:txBody>
      </p:sp>
      <p:sp>
        <p:nvSpPr>
          <p:cNvPr id="18" name="Shape 16"/>
          <p:cNvSpPr/>
          <p:nvPr/>
        </p:nvSpPr>
        <p:spPr>
          <a:xfrm>
            <a:off x="1444752" y="4983480"/>
            <a:ext cx="73152" cy="365760"/>
          </a:xfrm>
          <a:prstGeom prst="rect">
            <a:avLst/>
          </a:prstGeom>
          <a:solidFill>
            <a:srgbClr val="1B2638"/>
          </a:solidFill>
          <a:ln w="12700">
            <a:solidFill>
              <a:srgbClr val="1B2638"/>
            </a:solidFill>
            <a:prstDash val="solid"/>
          </a:ln>
        </p:spPr>
        <p:txBody>
          <a:bodyPr/>
          <a:lstStyle/>
          <a:p>
            <a:endParaRPr lang="en-US"/>
          </a:p>
        </p:txBody>
      </p:sp>
      <p:sp>
        <p:nvSpPr>
          <p:cNvPr id="19" name="Shape 17"/>
          <p:cNvSpPr/>
          <p:nvPr/>
        </p:nvSpPr>
        <p:spPr>
          <a:xfrm>
            <a:off x="1700784" y="4983480"/>
            <a:ext cx="36576" cy="365760"/>
          </a:xfrm>
          <a:prstGeom prst="rect">
            <a:avLst/>
          </a:prstGeom>
          <a:solidFill>
            <a:srgbClr val="1B2638"/>
          </a:solidFill>
          <a:ln w="12700">
            <a:solidFill>
              <a:srgbClr val="1B2638"/>
            </a:solidFill>
            <a:prstDash val="solid"/>
          </a:ln>
        </p:spPr>
        <p:txBody>
          <a:bodyPr/>
          <a:lstStyle/>
          <a:p>
            <a:endParaRPr lang="en-US"/>
          </a:p>
        </p:txBody>
      </p:sp>
      <p:sp>
        <p:nvSpPr>
          <p:cNvPr id="20" name="Shape 18"/>
          <p:cNvSpPr/>
          <p:nvPr/>
        </p:nvSpPr>
        <p:spPr>
          <a:xfrm>
            <a:off x="1847088" y="4983480"/>
            <a:ext cx="36576" cy="365760"/>
          </a:xfrm>
          <a:prstGeom prst="rect">
            <a:avLst/>
          </a:prstGeom>
          <a:solidFill>
            <a:srgbClr val="1B2638"/>
          </a:solidFill>
          <a:ln w="12700">
            <a:solidFill>
              <a:srgbClr val="1B2638"/>
            </a:solidFill>
            <a:prstDash val="solid"/>
          </a:ln>
        </p:spPr>
        <p:txBody>
          <a:bodyPr/>
          <a:lstStyle/>
          <a:p>
            <a:endParaRPr lang="en-US"/>
          </a:p>
        </p:txBody>
      </p:sp>
      <p:sp>
        <p:nvSpPr>
          <p:cNvPr id="21" name="Shape 19"/>
          <p:cNvSpPr/>
          <p:nvPr/>
        </p:nvSpPr>
        <p:spPr>
          <a:xfrm>
            <a:off x="2029968" y="4983480"/>
            <a:ext cx="146304" cy="365760"/>
          </a:xfrm>
          <a:prstGeom prst="rect">
            <a:avLst/>
          </a:prstGeom>
          <a:solidFill>
            <a:srgbClr val="1B2638"/>
          </a:solidFill>
          <a:ln w="12700">
            <a:solidFill>
              <a:srgbClr val="1B2638"/>
            </a:solidFill>
            <a:prstDash val="solid"/>
          </a:ln>
        </p:spPr>
        <p:txBody>
          <a:bodyPr/>
          <a:lstStyle/>
          <a:p>
            <a:endParaRPr lang="en-US"/>
          </a:p>
        </p:txBody>
      </p:sp>
      <p:sp>
        <p:nvSpPr>
          <p:cNvPr id="22" name="Shape 20"/>
          <p:cNvSpPr/>
          <p:nvPr/>
        </p:nvSpPr>
        <p:spPr>
          <a:xfrm>
            <a:off x="2286000" y="4983480"/>
            <a:ext cx="73152" cy="365760"/>
          </a:xfrm>
          <a:prstGeom prst="rect">
            <a:avLst/>
          </a:prstGeom>
          <a:solidFill>
            <a:srgbClr val="1B2638"/>
          </a:solidFill>
          <a:ln w="12700">
            <a:solidFill>
              <a:srgbClr val="1B2638"/>
            </a:solidFill>
            <a:prstDash val="solid"/>
          </a:ln>
        </p:spPr>
        <p:txBody>
          <a:bodyPr/>
          <a:lstStyle/>
          <a:p>
            <a:endParaRPr lang="en-US"/>
          </a:p>
        </p:txBody>
      </p:sp>
      <p:sp>
        <p:nvSpPr>
          <p:cNvPr id="23" name="Shape 21"/>
          <p:cNvSpPr/>
          <p:nvPr/>
        </p:nvSpPr>
        <p:spPr>
          <a:xfrm>
            <a:off x="2468880" y="4983480"/>
            <a:ext cx="36576" cy="365760"/>
          </a:xfrm>
          <a:prstGeom prst="rect">
            <a:avLst/>
          </a:prstGeom>
          <a:solidFill>
            <a:srgbClr val="1B2638"/>
          </a:solidFill>
          <a:ln w="12700">
            <a:solidFill>
              <a:srgbClr val="1B2638"/>
            </a:solidFill>
            <a:prstDash val="solid"/>
          </a:ln>
        </p:spPr>
        <p:txBody>
          <a:bodyPr/>
          <a:lstStyle/>
          <a:p>
            <a:endParaRPr lang="en-US"/>
          </a:p>
        </p:txBody>
      </p:sp>
      <p:sp>
        <p:nvSpPr>
          <p:cNvPr id="24" name="Shape 22"/>
          <p:cNvSpPr/>
          <p:nvPr/>
        </p:nvSpPr>
        <p:spPr>
          <a:xfrm>
            <a:off x="2688336" y="4983480"/>
            <a:ext cx="36576" cy="365760"/>
          </a:xfrm>
          <a:prstGeom prst="rect">
            <a:avLst/>
          </a:prstGeom>
          <a:solidFill>
            <a:srgbClr val="1B2638"/>
          </a:solidFill>
          <a:ln w="12700">
            <a:solidFill>
              <a:srgbClr val="1B2638"/>
            </a:solidFill>
            <a:prstDash val="solid"/>
          </a:ln>
        </p:spPr>
        <p:txBody>
          <a:bodyPr/>
          <a:lstStyle/>
          <a:p>
            <a:endParaRPr lang="en-US"/>
          </a:p>
        </p:txBody>
      </p:sp>
      <p:sp>
        <p:nvSpPr>
          <p:cNvPr id="25" name="Shape 23"/>
          <p:cNvSpPr/>
          <p:nvPr/>
        </p:nvSpPr>
        <p:spPr>
          <a:xfrm>
            <a:off x="2871216" y="4983480"/>
            <a:ext cx="36576" cy="365760"/>
          </a:xfrm>
          <a:prstGeom prst="rect">
            <a:avLst/>
          </a:prstGeom>
          <a:solidFill>
            <a:srgbClr val="1B2638"/>
          </a:solidFill>
          <a:ln w="12700">
            <a:solidFill>
              <a:srgbClr val="1B2638"/>
            </a:solidFill>
            <a:prstDash val="solid"/>
          </a:ln>
        </p:spPr>
        <p:txBody>
          <a:bodyPr/>
          <a:lstStyle/>
          <a:p>
            <a:endParaRPr lang="en-US"/>
          </a:p>
        </p:txBody>
      </p:sp>
      <p:sp>
        <p:nvSpPr>
          <p:cNvPr id="26" name="Shape 24"/>
          <p:cNvSpPr/>
          <p:nvPr/>
        </p:nvSpPr>
        <p:spPr>
          <a:xfrm>
            <a:off x="3017520" y="4983480"/>
            <a:ext cx="146304" cy="365760"/>
          </a:xfrm>
          <a:prstGeom prst="rect">
            <a:avLst/>
          </a:prstGeom>
          <a:solidFill>
            <a:srgbClr val="1B2638"/>
          </a:solidFill>
          <a:ln w="12700">
            <a:solidFill>
              <a:srgbClr val="1B2638"/>
            </a:solidFill>
            <a:prstDash val="solid"/>
          </a:ln>
        </p:spPr>
        <p:txBody>
          <a:bodyPr/>
          <a:lstStyle/>
          <a:p>
            <a:endParaRPr lang="en-US"/>
          </a:p>
        </p:txBody>
      </p:sp>
      <p:sp>
        <p:nvSpPr>
          <p:cNvPr id="27" name="Shape 25"/>
          <p:cNvSpPr/>
          <p:nvPr/>
        </p:nvSpPr>
        <p:spPr>
          <a:xfrm>
            <a:off x="3273552" y="4983480"/>
            <a:ext cx="36576" cy="365760"/>
          </a:xfrm>
          <a:prstGeom prst="rect">
            <a:avLst/>
          </a:prstGeom>
          <a:solidFill>
            <a:srgbClr val="1B2638"/>
          </a:solidFill>
          <a:ln w="12700">
            <a:solidFill>
              <a:srgbClr val="1B2638"/>
            </a:solidFill>
            <a:prstDash val="solid"/>
          </a:ln>
        </p:spPr>
        <p:txBody>
          <a:bodyPr/>
          <a:lstStyle/>
          <a:p>
            <a:endParaRPr lang="en-US"/>
          </a:p>
        </p:txBody>
      </p:sp>
      <p:sp>
        <p:nvSpPr>
          <p:cNvPr id="28" name="Shape 26"/>
          <p:cNvSpPr/>
          <p:nvPr/>
        </p:nvSpPr>
        <p:spPr>
          <a:xfrm>
            <a:off x="3456432" y="4983480"/>
            <a:ext cx="36576" cy="365760"/>
          </a:xfrm>
          <a:prstGeom prst="rect">
            <a:avLst/>
          </a:prstGeom>
          <a:solidFill>
            <a:srgbClr val="1B2638"/>
          </a:solidFill>
          <a:ln w="12700">
            <a:solidFill>
              <a:srgbClr val="1B2638"/>
            </a:solidFill>
            <a:prstDash val="solid"/>
          </a:ln>
        </p:spPr>
        <p:txBody>
          <a:bodyP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151E2E"/>
        </a:solidFill>
        <a:effectLst/>
      </p:bgPr>
    </p:bg>
    <p:spTree>
      <p:nvGrpSpPr>
        <p:cNvPr id="1" name=""/>
        <p:cNvGrpSpPr/>
        <p:nvPr/>
      </p:nvGrpSpPr>
      <p:grpSpPr>
        <a:xfrm>
          <a:off x="0" y="0"/>
          <a:ext cx="0" cy="0"/>
          <a:chOff x="0" y="0"/>
          <a:chExt cx="0" cy="0"/>
        </a:xfrm>
      </p:grpSpPr>
      <p:sp>
        <p:nvSpPr>
          <p:cNvPr id="2" name="Text 0"/>
          <p:cNvSpPr/>
          <p:nvPr/>
        </p:nvSpPr>
        <p:spPr>
          <a:xfrm>
            <a:off x="548640" y="1371600"/>
            <a:ext cx="3200400" cy="2377440"/>
          </a:xfrm>
          <a:prstGeom prst="rect">
            <a:avLst/>
          </a:prstGeom>
          <a:noFill/>
          <a:ln/>
        </p:spPr>
        <p:txBody>
          <a:bodyPr wrap="square" lIns="0" tIns="0" rIns="0" bIns="0" rtlCol="0" anchor="ctr"/>
          <a:lstStyle/>
          <a:p>
            <a:pPr marL="0" indent="0">
              <a:buNone/>
            </a:pPr>
            <a:r>
              <a:rPr lang="en-US" sz="13000" b="1" dirty="0">
                <a:solidFill>
                  <a:srgbClr val="1B2638"/>
                </a:solidFill>
                <a:latin typeface="Arial" pitchFamily="34" charset="0"/>
                <a:ea typeface="Arial" pitchFamily="34" charset="-122"/>
                <a:cs typeface="Arial" pitchFamily="34" charset="-120"/>
              </a:rPr>
              <a:t>05</a:t>
            </a:r>
            <a:endParaRPr lang="en-US" sz="13000" dirty="0"/>
          </a:p>
        </p:txBody>
      </p:sp>
      <p:sp>
        <p:nvSpPr>
          <p:cNvPr id="3" name="Text 1"/>
          <p:cNvSpPr/>
          <p:nvPr/>
        </p:nvSpPr>
        <p:spPr>
          <a:xfrm>
            <a:off x="3108960" y="2148840"/>
            <a:ext cx="7863840" cy="822960"/>
          </a:xfrm>
          <a:prstGeom prst="rect">
            <a:avLst/>
          </a:prstGeom>
          <a:noFill/>
          <a:ln/>
        </p:spPr>
        <p:txBody>
          <a:bodyPr wrap="square" lIns="0" tIns="0" rIns="0" bIns="0" rtlCol="0" anchor="ctr"/>
          <a:lstStyle/>
          <a:p>
            <a:pPr marL="0" indent="0">
              <a:buNone/>
            </a:pPr>
            <a:r>
              <a:rPr lang="en-US" sz="4000" b="1" dirty="0">
                <a:solidFill>
                  <a:srgbClr val="E8EDF5"/>
                </a:solidFill>
                <a:latin typeface="Arial" pitchFamily="34" charset="0"/>
                <a:ea typeface="Arial" pitchFamily="34" charset="-122"/>
                <a:cs typeface="Arial" pitchFamily="34" charset="-120"/>
              </a:rPr>
              <a:t>Angewendete Tools</a:t>
            </a:r>
            <a:endParaRPr lang="en-US" sz="4000" dirty="0"/>
          </a:p>
        </p:txBody>
      </p:sp>
      <p:sp>
        <p:nvSpPr>
          <p:cNvPr id="4" name="Text 2"/>
          <p:cNvSpPr/>
          <p:nvPr/>
        </p:nvSpPr>
        <p:spPr>
          <a:xfrm>
            <a:off x="3154680" y="3017520"/>
            <a:ext cx="7680960" cy="365760"/>
          </a:xfrm>
          <a:prstGeom prst="rect">
            <a:avLst/>
          </a:prstGeom>
          <a:noFill/>
          <a:ln/>
        </p:spPr>
        <p:txBody>
          <a:bodyPr wrap="square" lIns="0" tIns="0" rIns="0" bIns="0" rtlCol="0" anchor="ctr"/>
          <a:lstStyle/>
          <a:p>
            <a:pPr marL="0" indent="0">
              <a:buNone/>
            </a:pPr>
            <a:r>
              <a:rPr lang="en-US" sz="1600" dirty="0">
                <a:solidFill>
                  <a:srgbClr val="8FA0B8"/>
                </a:solidFill>
                <a:latin typeface="Calibri" pitchFamily="34" charset="0"/>
                <a:ea typeface="Calibri" pitchFamily="34" charset="-122"/>
                <a:cs typeface="Calibri" pitchFamily="34" charset="-120"/>
              </a:rPr>
              <a:t>Womit das Projekt entwickelt wurde</a:t>
            </a:r>
            <a:endParaRPr lang="en-US" sz="1600" dirty="0"/>
          </a:p>
        </p:txBody>
      </p:sp>
      <p:sp>
        <p:nvSpPr>
          <p:cNvPr id="5" name="Shape 3"/>
          <p:cNvSpPr/>
          <p:nvPr/>
        </p:nvSpPr>
        <p:spPr>
          <a:xfrm>
            <a:off x="3154680" y="3749040"/>
            <a:ext cx="109728" cy="320040"/>
          </a:xfrm>
          <a:prstGeom prst="rect">
            <a:avLst/>
          </a:prstGeom>
          <a:solidFill>
            <a:srgbClr val="00D9A3"/>
          </a:solidFill>
          <a:ln w="12700">
            <a:solidFill>
              <a:srgbClr val="00D9A3"/>
            </a:solidFill>
            <a:prstDash val="solid"/>
          </a:ln>
        </p:spPr>
        <p:txBody>
          <a:bodyPr/>
          <a:lstStyle/>
          <a:p>
            <a:endParaRPr lang="en-US"/>
          </a:p>
        </p:txBody>
      </p:sp>
      <p:sp>
        <p:nvSpPr>
          <p:cNvPr id="6" name="Shape 4"/>
          <p:cNvSpPr/>
          <p:nvPr/>
        </p:nvSpPr>
        <p:spPr>
          <a:xfrm>
            <a:off x="3374136" y="3749040"/>
            <a:ext cx="36576" cy="320040"/>
          </a:xfrm>
          <a:prstGeom prst="rect">
            <a:avLst/>
          </a:prstGeom>
          <a:solidFill>
            <a:srgbClr val="00D9A3"/>
          </a:solidFill>
          <a:ln w="12700">
            <a:solidFill>
              <a:srgbClr val="00D9A3"/>
            </a:solidFill>
            <a:prstDash val="solid"/>
          </a:ln>
        </p:spPr>
        <p:txBody>
          <a:bodyPr/>
          <a:lstStyle/>
          <a:p>
            <a:endParaRPr lang="en-US"/>
          </a:p>
        </p:txBody>
      </p:sp>
      <p:sp>
        <p:nvSpPr>
          <p:cNvPr id="7" name="Shape 5"/>
          <p:cNvSpPr/>
          <p:nvPr/>
        </p:nvSpPr>
        <p:spPr>
          <a:xfrm>
            <a:off x="3557016" y="3749040"/>
            <a:ext cx="36576" cy="320040"/>
          </a:xfrm>
          <a:prstGeom prst="rect">
            <a:avLst/>
          </a:prstGeom>
          <a:solidFill>
            <a:srgbClr val="00D9A3"/>
          </a:solidFill>
          <a:ln w="12700">
            <a:solidFill>
              <a:srgbClr val="00D9A3"/>
            </a:solidFill>
            <a:prstDash val="solid"/>
          </a:ln>
        </p:spPr>
        <p:txBody>
          <a:bodyPr/>
          <a:lstStyle/>
          <a:p>
            <a:endParaRPr lang="en-US"/>
          </a:p>
        </p:txBody>
      </p:sp>
      <p:sp>
        <p:nvSpPr>
          <p:cNvPr id="8" name="Shape 6"/>
          <p:cNvSpPr/>
          <p:nvPr/>
        </p:nvSpPr>
        <p:spPr>
          <a:xfrm>
            <a:off x="3813048" y="3749040"/>
            <a:ext cx="36576" cy="320040"/>
          </a:xfrm>
          <a:prstGeom prst="rect">
            <a:avLst/>
          </a:prstGeom>
          <a:solidFill>
            <a:srgbClr val="00D9A3"/>
          </a:solidFill>
          <a:ln w="12700">
            <a:solidFill>
              <a:srgbClr val="00D9A3"/>
            </a:solidFill>
            <a:prstDash val="solid"/>
          </a:ln>
        </p:spPr>
        <p:txBody>
          <a:bodyPr/>
          <a:lstStyle/>
          <a:p>
            <a:endParaRPr lang="en-US"/>
          </a:p>
        </p:txBody>
      </p:sp>
      <p:sp>
        <p:nvSpPr>
          <p:cNvPr id="9" name="Shape 7"/>
          <p:cNvSpPr/>
          <p:nvPr/>
        </p:nvSpPr>
        <p:spPr>
          <a:xfrm>
            <a:off x="3959352" y="3749040"/>
            <a:ext cx="73152" cy="320040"/>
          </a:xfrm>
          <a:prstGeom prst="rect">
            <a:avLst/>
          </a:prstGeom>
          <a:solidFill>
            <a:srgbClr val="00D9A3"/>
          </a:solidFill>
          <a:ln w="12700">
            <a:solidFill>
              <a:srgbClr val="00D9A3"/>
            </a:solidFill>
            <a:prstDash val="solid"/>
          </a:ln>
        </p:spPr>
        <p:txBody>
          <a:bodyPr/>
          <a:lstStyle/>
          <a:p>
            <a:endParaRPr lang="en-US"/>
          </a:p>
        </p:txBody>
      </p:sp>
      <p:sp>
        <p:nvSpPr>
          <p:cNvPr id="10" name="Shape 8"/>
          <p:cNvSpPr/>
          <p:nvPr/>
        </p:nvSpPr>
        <p:spPr>
          <a:xfrm>
            <a:off x="4215384" y="3749040"/>
            <a:ext cx="36576" cy="320040"/>
          </a:xfrm>
          <a:prstGeom prst="rect">
            <a:avLst/>
          </a:prstGeom>
          <a:solidFill>
            <a:srgbClr val="00D9A3"/>
          </a:solidFill>
          <a:ln w="12700">
            <a:solidFill>
              <a:srgbClr val="00D9A3"/>
            </a:solidFill>
            <a:prstDash val="solid"/>
          </a:ln>
        </p:spPr>
        <p:txBody>
          <a:bodyPr/>
          <a:lstStyle/>
          <a:p>
            <a:endParaRPr lang="en-US"/>
          </a:p>
        </p:txBody>
      </p:sp>
      <p:sp>
        <p:nvSpPr>
          <p:cNvPr id="11" name="Shape 9"/>
          <p:cNvSpPr/>
          <p:nvPr/>
        </p:nvSpPr>
        <p:spPr>
          <a:xfrm>
            <a:off x="4361688" y="3749040"/>
            <a:ext cx="36576" cy="320040"/>
          </a:xfrm>
          <a:prstGeom prst="rect">
            <a:avLst/>
          </a:prstGeom>
          <a:solidFill>
            <a:srgbClr val="00D9A3"/>
          </a:solidFill>
          <a:ln w="12700">
            <a:solidFill>
              <a:srgbClr val="00D9A3"/>
            </a:solidFill>
            <a:prstDash val="solid"/>
          </a:ln>
        </p:spPr>
        <p:txBody>
          <a:bodyPr/>
          <a:lstStyle/>
          <a:p>
            <a:endParaRPr lang="en-US"/>
          </a:p>
        </p:txBody>
      </p:sp>
      <p:sp>
        <p:nvSpPr>
          <p:cNvPr id="12" name="Shape 10"/>
          <p:cNvSpPr/>
          <p:nvPr/>
        </p:nvSpPr>
        <p:spPr>
          <a:xfrm>
            <a:off x="4544568" y="3749040"/>
            <a:ext cx="146304" cy="320040"/>
          </a:xfrm>
          <a:prstGeom prst="rect">
            <a:avLst/>
          </a:prstGeom>
          <a:solidFill>
            <a:srgbClr val="00D9A3"/>
          </a:solidFill>
          <a:ln w="12700">
            <a:solidFill>
              <a:srgbClr val="00D9A3"/>
            </a:solidFill>
            <a:prstDash val="solid"/>
          </a:ln>
        </p:spPr>
        <p:txBody>
          <a:bodyPr/>
          <a:lstStyle/>
          <a:p>
            <a:endParaRPr lang="en-US"/>
          </a:p>
        </p:txBody>
      </p:sp>
      <p:sp>
        <p:nvSpPr>
          <p:cNvPr id="13" name="Shape 11"/>
          <p:cNvSpPr/>
          <p:nvPr/>
        </p:nvSpPr>
        <p:spPr>
          <a:xfrm>
            <a:off x="4800600" y="3749040"/>
            <a:ext cx="73152" cy="320040"/>
          </a:xfrm>
          <a:prstGeom prst="rect">
            <a:avLst/>
          </a:prstGeom>
          <a:solidFill>
            <a:srgbClr val="00D9A3"/>
          </a:solidFill>
          <a:ln w="12700">
            <a:solidFill>
              <a:srgbClr val="00D9A3"/>
            </a:solidFill>
            <a:prstDash val="solid"/>
          </a:ln>
        </p:spPr>
        <p:txBody>
          <a:bodyPr/>
          <a:lstStyle/>
          <a:p>
            <a:endParaRPr lang="en-US"/>
          </a:p>
        </p:txBody>
      </p:sp>
      <p:sp>
        <p:nvSpPr>
          <p:cNvPr id="14" name="Shape 12"/>
          <p:cNvSpPr/>
          <p:nvPr/>
        </p:nvSpPr>
        <p:spPr>
          <a:xfrm>
            <a:off x="4983480" y="3749040"/>
            <a:ext cx="36576" cy="320040"/>
          </a:xfrm>
          <a:prstGeom prst="rect">
            <a:avLst/>
          </a:prstGeom>
          <a:solidFill>
            <a:srgbClr val="00D9A3"/>
          </a:solidFill>
          <a:ln w="12700">
            <a:solidFill>
              <a:srgbClr val="00D9A3"/>
            </a:solidFill>
            <a:prstDash val="solid"/>
          </a:ln>
        </p:spPr>
        <p:txBody>
          <a:bodyPr/>
          <a:lstStyle/>
          <a:p>
            <a:endParaRPr lang="en-US"/>
          </a:p>
        </p:txBody>
      </p:sp>
      <p:sp>
        <p:nvSpPr>
          <p:cNvPr id="15" name="Shape 13"/>
          <p:cNvSpPr/>
          <p:nvPr/>
        </p:nvSpPr>
        <p:spPr>
          <a:xfrm>
            <a:off x="5202936" y="3749040"/>
            <a:ext cx="36576" cy="320040"/>
          </a:xfrm>
          <a:prstGeom prst="rect">
            <a:avLst/>
          </a:prstGeom>
          <a:solidFill>
            <a:srgbClr val="00D9A3"/>
          </a:solidFill>
          <a:ln w="12700">
            <a:solidFill>
              <a:srgbClr val="00D9A3"/>
            </a:solidFill>
            <a:prstDash val="solid"/>
          </a:ln>
        </p:spPr>
        <p:txBody>
          <a:bodyPr/>
          <a:lstStyle/>
          <a:p>
            <a:endParaRPr lang="en-US"/>
          </a:p>
        </p:txBody>
      </p:sp>
      <p:sp>
        <p:nvSpPr>
          <p:cNvPr id="16" name="Shape 14"/>
          <p:cNvSpPr/>
          <p:nvPr/>
        </p:nvSpPr>
        <p:spPr>
          <a:xfrm>
            <a:off x="5385816" y="3749040"/>
            <a:ext cx="36576" cy="320040"/>
          </a:xfrm>
          <a:prstGeom prst="rect">
            <a:avLst/>
          </a:prstGeom>
          <a:solidFill>
            <a:srgbClr val="00D9A3"/>
          </a:solidFill>
          <a:ln w="12700">
            <a:solidFill>
              <a:srgbClr val="00D9A3"/>
            </a:solidFill>
            <a:prstDash val="solid"/>
          </a:ln>
        </p:spPr>
        <p:txBody>
          <a:bodyPr/>
          <a:lstStyle/>
          <a:p>
            <a:endParaRPr lang="en-US"/>
          </a:p>
        </p:txBody>
      </p:sp>
      <p:sp>
        <p:nvSpPr>
          <p:cNvPr id="17" name="Shape 15"/>
          <p:cNvSpPr/>
          <p:nvPr/>
        </p:nvSpPr>
        <p:spPr>
          <a:xfrm>
            <a:off x="5532120" y="3749040"/>
            <a:ext cx="146304" cy="320040"/>
          </a:xfrm>
          <a:prstGeom prst="rect">
            <a:avLst/>
          </a:prstGeom>
          <a:solidFill>
            <a:srgbClr val="00D9A3"/>
          </a:solidFill>
          <a:ln w="12700">
            <a:solidFill>
              <a:srgbClr val="00D9A3"/>
            </a:solidFill>
            <a:prstDash val="solid"/>
          </a:ln>
        </p:spPr>
        <p:txBody>
          <a:bodyPr/>
          <a:lstStyle/>
          <a:p>
            <a:endParaRPr lang="en-US"/>
          </a:p>
        </p:txBody>
      </p:sp>
      <p:sp>
        <p:nvSpPr>
          <p:cNvPr id="18" name="Shape 16"/>
          <p:cNvSpPr/>
          <p:nvPr/>
        </p:nvSpPr>
        <p:spPr>
          <a:xfrm>
            <a:off x="5788152" y="3749040"/>
            <a:ext cx="36576" cy="320040"/>
          </a:xfrm>
          <a:prstGeom prst="rect">
            <a:avLst/>
          </a:prstGeom>
          <a:solidFill>
            <a:srgbClr val="00D9A3"/>
          </a:solidFill>
          <a:ln w="12700">
            <a:solidFill>
              <a:srgbClr val="00D9A3"/>
            </a:solidFill>
            <a:prstDash val="solid"/>
          </a:ln>
        </p:spPr>
        <p:txBody>
          <a:bodyPr/>
          <a:lstStyle/>
          <a:p>
            <a:endParaRPr lang="en-US"/>
          </a:p>
        </p:txBody>
      </p:sp>
      <p:sp>
        <p:nvSpPr>
          <p:cNvPr id="19" name="Shape 17"/>
          <p:cNvSpPr/>
          <p:nvPr/>
        </p:nvSpPr>
        <p:spPr>
          <a:xfrm>
            <a:off x="5971032" y="3749040"/>
            <a:ext cx="36576" cy="320040"/>
          </a:xfrm>
          <a:prstGeom prst="rect">
            <a:avLst/>
          </a:prstGeom>
          <a:solidFill>
            <a:srgbClr val="00D9A3"/>
          </a:solidFill>
          <a:ln w="12700">
            <a:solidFill>
              <a:srgbClr val="00D9A3"/>
            </a:solidFill>
            <a:prstDash val="solid"/>
          </a:ln>
        </p:spPr>
        <p:txBody>
          <a:bodyP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640080" y="411480"/>
            <a:ext cx="548640" cy="274320"/>
          </a:xfrm>
          <a:prstGeom prst="rect">
            <a:avLst/>
          </a:prstGeom>
          <a:noFill/>
          <a:ln/>
        </p:spPr>
        <p:txBody>
          <a:bodyPr wrap="square" lIns="0" tIns="0" rIns="0" bIns="0" rtlCol="0" anchor="ctr"/>
          <a:lstStyle/>
          <a:p>
            <a:pPr marL="0" indent="0">
              <a:buNone/>
            </a:pPr>
            <a:r>
              <a:rPr lang="en-US" sz="1200" b="1" dirty="0">
                <a:solidFill>
                  <a:srgbClr val="00D9A3"/>
                </a:solidFill>
                <a:latin typeface="Courier New" pitchFamily="34" charset="0"/>
                <a:ea typeface="Courier New" pitchFamily="34" charset="-122"/>
                <a:cs typeface="Courier New" pitchFamily="34" charset="-120"/>
              </a:rPr>
              <a:t>05</a:t>
            </a:r>
            <a:endParaRPr lang="en-US" sz="1200" dirty="0"/>
          </a:p>
        </p:txBody>
      </p:sp>
      <p:sp>
        <p:nvSpPr>
          <p:cNvPr id="3" name="Text 1"/>
          <p:cNvSpPr/>
          <p:nvPr/>
        </p:nvSpPr>
        <p:spPr>
          <a:xfrm>
            <a:off x="1143000" y="411480"/>
            <a:ext cx="7315200" cy="274320"/>
          </a:xfrm>
          <a:prstGeom prst="rect">
            <a:avLst/>
          </a:prstGeom>
          <a:noFill/>
          <a:ln/>
        </p:spPr>
        <p:txBody>
          <a:bodyPr wrap="square" lIns="0" tIns="0" rIns="0" bIns="0" rtlCol="0" anchor="ctr"/>
          <a:lstStyle/>
          <a:p>
            <a:pPr marL="0" indent="0">
              <a:buNone/>
            </a:pPr>
            <a:r>
              <a:rPr lang="en-US" sz="1200" kern="0" spc="100" dirty="0">
                <a:solidFill>
                  <a:srgbClr val="8FA0B8"/>
                </a:solidFill>
                <a:latin typeface="Courier New" pitchFamily="34" charset="0"/>
                <a:ea typeface="Courier New" pitchFamily="34" charset="-122"/>
                <a:cs typeface="Courier New" pitchFamily="34" charset="-120"/>
              </a:rPr>
              <a:t>TOOLS</a:t>
            </a:r>
            <a:endParaRPr lang="en-US" sz="1200" dirty="0"/>
          </a:p>
        </p:txBody>
      </p:sp>
      <p:sp>
        <p:nvSpPr>
          <p:cNvPr id="4" name="Text 2"/>
          <p:cNvSpPr/>
          <p:nvPr/>
        </p:nvSpPr>
        <p:spPr>
          <a:xfrm>
            <a:off x="640080" y="777240"/>
            <a:ext cx="10881360" cy="685800"/>
          </a:xfrm>
          <a:prstGeom prst="rect">
            <a:avLst/>
          </a:prstGeom>
          <a:noFill/>
          <a:ln/>
        </p:spPr>
        <p:txBody>
          <a:bodyPr wrap="square" lIns="0" tIns="0" rIns="0" bIns="0" rtlCol="0" anchor="ctr"/>
          <a:lstStyle/>
          <a:p>
            <a:pPr marL="0" indent="0">
              <a:buNone/>
            </a:pPr>
            <a:r>
              <a:rPr lang="en-US" sz="3400" b="1" dirty="0">
                <a:solidFill>
                  <a:srgbClr val="E8EDF5"/>
                </a:solidFill>
                <a:latin typeface="Arial" pitchFamily="34" charset="0"/>
                <a:ea typeface="Arial" pitchFamily="34" charset="-122"/>
                <a:cs typeface="Arial" pitchFamily="34" charset="-120"/>
              </a:rPr>
              <a:t>Angewendete Tools</a:t>
            </a:r>
            <a:endParaRPr lang="en-US" sz="3400" dirty="0"/>
          </a:p>
        </p:txBody>
      </p:sp>
      <p:sp>
        <p:nvSpPr>
          <p:cNvPr id="5" name="Text 3"/>
          <p:cNvSpPr/>
          <p:nvPr/>
        </p:nvSpPr>
        <p:spPr>
          <a:xfrm>
            <a:off x="640080" y="1691640"/>
            <a:ext cx="10881360" cy="274320"/>
          </a:xfrm>
          <a:prstGeom prst="rect">
            <a:avLst/>
          </a:prstGeom>
          <a:noFill/>
          <a:ln/>
        </p:spPr>
        <p:txBody>
          <a:bodyPr wrap="square" lIns="0" tIns="0" rIns="0" bIns="0" rtlCol="0" anchor="ctr"/>
          <a:lstStyle/>
          <a:p>
            <a:pPr marL="0" indent="0">
              <a:buNone/>
            </a:pPr>
            <a:r>
              <a:rPr lang="en-US" sz="1200" b="1" kern="0" spc="100" dirty="0">
                <a:solidFill>
                  <a:srgbClr val="00D9A3"/>
                </a:solidFill>
                <a:latin typeface="Courier New" pitchFamily="34" charset="0"/>
                <a:ea typeface="Courier New" pitchFamily="34" charset="-122"/>
                <a:cs typeface="Courier New" pitchFamily="34" charset="-120"/>
              </a:rPr>
              <a:t>UNTERSTÜTZUNG UND ZUSAMMENARBEIT</a:t>
            </a:r>
            <a:endParaRPr lang="en-US" sz="1200" dirty="0"/>
          </a:p>
        </p:txBody>
      </p:sp>
      <p:sp>
        <p:nvSpPr>
          <p:cNvPr id="6" name="Shape 4"/>
          <p:cNvSpPr/>
          <p:nvPr/>
        </p:nvSpPr>
        <p:spPr>
          <a:xfrm>
            <a:off x="640080" y="2039112"/>
            <a:ext cx="3483864" cy="1691640"/>
          </a:xfrm>
          <a:prstGeom prst="roundRect">
            <a:avLst>
              <a:gd name="adj" fmla="val 3243"/>
            </a:avLst>
          </a:prstGeom>
          <a:solidFill>
            <a:srgbClr val="151E2E"/>
          </a:solidFill>
          <a:ln w="12700">
            <a:solidFill>
              <a:srgbClr val="24314A"/>
            </a:solidFill>
            <a:prstDash val="solid"/>
          </a:ln>
        </p:spPr>
        <p:txBody>
          <a:bodyPr/>
          <a:lstStyle/>
          <a:p>
            <a:endParaRPr lang="en-US"/>
          </a:p>
        </p:txBody>
      </p:sp>
      <p:sp>
        <p:nvSpPr>
          <p:cNvPr id="7" name="Text 5"/>
          <p:cNvSpPr/>
          <p:nvPr/>
        </p:nvSpPr>
        <p:spPr>
          <a:xfrm>
            <a:off x="914400" y="2240280"/>
            <a:ext cx="2980944" cy="292608"/>
          </a:xfrm>
          <a:prstGeom prst="rect">
            <a:avLst/>
          </a:prstGeom>
          <a:noFill/>
          <a:ln/>
        </p:spPr>
        <p:txBody>
          <a:bodyPr wrap="square" lIns="0" tIns="0" rIns="0" bIns="0" rtlCol="0" anchor="ctr"/>
          <a:lstStyle/>
          <a:p>
            <a:pPr marL="0" indent="0">
              <a:buNone/>
            </a:pPr>
            <a:r>
              <a:rPr lang="en-US" sz="1600" b="1" dirty="0">
                <a:solidFill>
                  <a:srgbClr val="E8EDF5"/>
                </a:solidFill>
                <a:latin typeface="Arial" pitchFamily="34" charset="0"/>
                <a:ea typeface="Arial" pitchFamily="34" charset="-122"/>
                <a:cs typeface="Arial" pitchFamily="34" charset="-120"/>
              </a:rPr>
              <a:t>Claude Code</a:t>
            </a:r>
            <a:endParaRPr lang="en-US" sz="1600" dirty="0"/>
          </a:p>
        </p:txBody>
      </p:sp>
      <p:sp>
        <p:nvSpPr>
          <p:cNvPr id="8" name="Text 6"/>
          <p:cNvSpPr/>
          <p:nvPr/>
        </p:nvSpPr>
        <p:spPr>
          <a:xfrm>
            <a:off x="914400" y="2551176"/>
            <a:ext cx="2980944" cy="237744"/>
          </a:xfrm>
          <a:prstGeom prst="rect">
            <a:avLst/>
          </a:prstGeom>
          <a:noFill/>
          <a:ln/>
        </p:spPr>
        <p:txBody>
          <a:bodyPr wrap="square" lIns="0" tIns="0" rIns="0" bIns="0" rtlCol="0" anchor="ctr"/>
          <a:lstStyle/>
          <a:p>
            <a:pPr marL="0" indent="0">
              <a:buNone/>
            </a:pPr>
            <a:r>
              <a:rPr lang="en-US" sz="1100" dirty="0">
                <a:solidFill>
                  <a:srgbClr val="00D9A3"/>
                </a:solidFill>
                <a:latin typeface="Courier New" pitchFamily="34" charset="0"/>
                <a:ea typeface="Courier New" pitchFamily="34" charset="-122"/>
                <a:cs typeface="Courier New" pitchFamily="34" charset="-120"/>
              </a:rPr>
              <a:t>Opus 5</a:t>
            </a:r>
            <a:endParaRPr lang="en-US" sz="1100" dirty="0"/>
          </a:p>
        </p:txBody>
      </p:sp>
      <p:sp>
        <p:nvSpPr>
          <p:cNvPr id="9" name="Text 7"/>
          <p:cNvSpPr/>
          <p:nvPr/>
        </p:nvSpPr>
        <p:spPr>
          <a:xfrm>
            <a:off x="914400" y="2825496"/>
            <a:ext cx="3026664" cy="777240"/>
          </a:xfrm>
          <a:prstGeom prst="rect">
            <a:avLst/>
          </a:prstGeom>
          <a:noFill/>
          <a:ln/>
        </p:spPr>
        <p:txBody>
          <a:bodyPr wrap="square" lIns="0" tIns="0" rIns="0" bIns="0" rtlCol="0" anchor="t"/>
          <a:lstStyle/>
          <a:p>
            <a:pPr marL="0" indent="0">
              <a:lnSpc>
                <a:spcPts val="1500"/>
              </a:lnSpc>
              <a:buNone/>
            </a:pPr>
            <a:r>
              <a:rPr lang="en-US" sz="1200" dirty="0">
                <a:solidFill>
                  <a:srgbClr val="8FA0B8"/>
                </a:solidFill>
                <a:latin typeface="Calibri" pitchFamily="34" charset="0"/>
                <a:ea typeface="Calibri" pitchFamily="34" charset="-122"/>
                <a:cs typeface="Calibri" pitchFamily="34" charset="-120"/>
              </a:rPr>
              <a:t>Code-Snippets und Ideen für die Umsetzung</a:t>
            </a:r>
            <a:endParaRPr lang="en-US" sz="1200" dirty="0"/>
          </a:p>
        </p:txBody>
      </p:sp>
      <p:sp>
        <p:nvSpPr>
          <p:cNvPr id="10" name="Shape 8"/>
          <p:cNvSpPr/>
          <p:nvPr/>
        </p:nvSpPr>
        <p:spPr>
          <a:xfrm>
            <a:off x="4352544" y="2039112"/>
            <a:ext cx="3483864" cy="1691640"/>
          </a:xfrm>
          <a:prstGeom prst="roundRect">
            <a:avLst>
              <a:gd name="adj" fmla="val 3243"/>
            </a:avLst>
          </a:prstGeom>
          <a:solidFill>
            <a:srgbClr val="151E2E"/>
          </a:solidFill>
          <a:ln w="12700">
            <a:solidFill>
              <a:srgbClr val="24314A"/>
            </a:solidFill>
            <a:prstDash val="solid"/>
          </a:ln>
        </p:spPr>
        <p:txBody>
          <a:bodyPr/>
          <a:lstStyle/>
          <a:p>
            <a:endParaRPr lang="en-US" dirty="0"/>
          </a:p>
        </p:txBody>
      </p:sp>
      <p:sp>
        <p:nvSpPr>
          <p:cNvPr id="11" name="Text 9"/>
          <p:cNvSpPr/>
          <p:nvPr/>
        </p:nvSpPr>
        <p:spPr>
          <a:xfrm>
            <a:off x="4626864" y="2240280"/>
            <a:ext cx="2980944" cy="292608"/>
          </a:xfrm>
          <a:prstGeom prst="rect">
            <a:avLst/>
          </a:prstGeom>
          <a:noFill/>
          <a:ln/>
        </p:spPr>
        <p:txBody>
          <a:bodyPr wrap="square" lIns="0" tIns="0" rIns="0" bIns="0" rtlCol="0" anchor="ctr"/>
          <a:lstStyle/>
          <a:p>
            <a:pPr marL="0" indent="0">
              <a:buNone/>
            </a:pPr>
            <a:r>
              <a:rPr lang="en-US" sz="1600" b="1" dirty="0">
                <a:solidFill>
                  <a:srgbClr val="E8EDF5"/>
                </a:solidFill>
                <a:latin typeface="Arial" pitchFamily="34" charset="0"/>
                <a:ea typeface="Arial" pitchFamily="34" charset="-122"/>
                <a:cs typeface="Arial" pitchFamily="34" charset="-120"/>
              </a:rPr>
              <a:t>Codex</a:t>
            </a:r>
            <a:endParaRPr lang="en-US" sz="1600" dirty="0"/>
          </a:p>
        </p:txBody>
      </p:sp>
      <p:sp>
        <p:nvSpPr>
          <p:cNvPr id="12" name="Text 10"/>
          <p:cNvSpPr/>
          <p:nvPr/>
        </p:nvSpPr>
        <p:spPr>
          <a:xfrm>
            <a:off x="4626864" y="2825496"/>
            <a:ext cx="3026664" cy="777240"/>
          </a:xfrm>
          <a:prstGeom prst="rect">
            <a:avLst/>
          </a:prstGeom>
          <a:noFill/>
          <a:ln/>
        </p:spPr>
        <p:txBody>
          <a:bodyPr wrap="square" lIns="0" tIns="0" rIns="0" bIns="0" rtlCol="0" anchor="t"/>
          <a:lstStyle/>
          <a:p>
            <a:pPr marL="0" indent="0">
              <a:lnSpc>
                <a:spcPts val="1500"/>
              </a:lnSpc>
              <a:buNone/>
            </a:pPr>
            <a:r>
              <a:rPr lang="en-US" sz="1200" dirty="0">
                <a:solidFill>
                  <a:srgbClr val="8FA0B8"/>
                </a:solidFill>
                <a:latin typeface="Calibri" pitchFamily="34" charset="0"/>
                <a:ea typeface="Calibri" pitchFamily="34" charset="-122"/>
                <a:cs typeface="Calibri" pitchFamily="34" charset="-120"/>
              </a:rPr>
              <a:t>Optimierung von bestehendem Code</a:t>
            </a:r>
            <a:endParaRPr lang="en-US" sz="1200" dirty="0"/>
          </a:p>
        </p:txBody>
      </p:sp>
      <p:sp>
        <p:nvSpPr>
          <p:cNvPr id="13" name="Shape 11"/>
          <p:cNvSpPr/>
          <p:nvPr/>
        </p:nvSpPr>
        <p:spPr>
          <a:xfrm>
            <a:off x="8065008" y="2039112"/>
            <a:ext cx="3483864" cy="1691640"/>
          </a:xfrm>
          <a:prstGeom prst="roundRect">
            <a:avLst>
              <a:gd name="adj" fmla="val 3243"/>
            </a:avLst>
          </a:prstGeom>
          <a:solidFill>
            <a:srgbClr val="151E2E"/>
          </a:solidFill>
          <a:ln w="12700">
            <a:solidFill>
              <a:srgbClr val="24314A"/>
            </a:solidFill>
            <a:prstDash val="solid"/>
          </a:ln>
        </p:spPr>
        <p:txBody>
          <a:bodyPr/>
          <a:lstStyle/>
          <a:p>
            <a:endParaRPr lang="en-US"/>
          </a:p>
        </p:txBody>
      </p:sp>
      <p:sp>
        <p:nvSpPr>
          <p:cNvPr id="14" name="Text 12"/>
          <p:cNvSpPr/>
          <p:nvPr/>
        </p:nvSpPr>
        <p:spPr>
          <a:xfrm>
            <a:off x="8339328" y="2240280"/>
            <a:ext cx="2980944" cy="292608"/>
          </a:xfrm>
          <a:prstGeom prst="rect">
            <a:avLst/>
          </a:prstGeom>
          <a:noFill/>
          <a:ln/>
        </p:spPr>
        <p:txBody>
          <a:bodyPr wrap="square" lIns="0" tIns="0" rIns="0" bIns="0" rtlCol="0" anchor="ctr"/>
          <a:lstStyle/>
          <a:p>
            <a:pPr marL="0" indent="0">
              <a:buNone/>
            </a:pPr>
            <a:r>
              <a:rPr lang="en-US" sz="1600" b="1" dirty="0">
                <a:solidFill>
                  <a:srgbClr val="E8EDF5"/>
                </a:solidFill>
                <a:latin typeface="Arial" pitchFamily="34" charset="0"/>
                <a:ea typeface="Arial" pitchFamily="34" charset="-122"/>
                <a:cs typeface="Arial" pitchFamily="34" charset="-120"/>
              </a:rPr>
              <a:t>Git / GitHub</a:t>
            </a:r>
            <a:endParaRPr lang="en-US" sz="1600" dirty="0"/>
          </a:p>
        </p:txBody>
      </p:sp>
      <p:sp>
        <p:nvSpPr>
          <p:cNvPr id="15" name="Text 13"/>
          <p:cNvSpPr/>
          <p:nvPr/>
        </p:nvSpPr>
        <p:spPr>
          <a:xfrm>
            <a:off x="8339328" y="2825496"/>
            <a:ext cx="3026664" cy="777240"/>
          </a:xfrm>
          <a:prstGeom prst="rect">
            <a:avLst/>
          </a:prstGeom>
          <a:noFill/>
          <a:ln/>
        </p:spPr>
        <p:txBody>
          <a:bodyPr wrap="square" lIns="0" tIns="0" rIns="0" bIns="0" rtlCol="0" anchor="t"/>
          <a:lstStyle/>
          <a:p>
            <a:pPr marL="0" indent="0">
              <a:lnSpc>
                <a:spcPts val="1500"/>
              </a:lnSpc>
              <a:buNone/>
            </a:pPr>
            <a:r>
              <a:rPr lang="en-US" sz="1200" dirty="0">
                <a:solidFill>
                  <a:srgbClr val="8FA0B8"/>
                </a:solidFill>
                <a:latin typeface="Calibri" pitchFamily="34" charset="0"/>
                <a:ea typeface="Calibri" pitchFamily="34" charset="-122"/>
                <a:cs typeface="Calibri" pitchFamily="34" charset="-120"/>
              </a:rPr>
              <a:t>Versionsverwaltung, Sicherung des Codes und gemeinsames Arbeiten</a:t>
            </a:r>
            <a:endParaRPr lang="en-US" sz="1200" dirty="0"/>
          </a:p>
        </p:txBody>
      </p:sp>
      <p:sp>
        <p:nvSpPr>
          <p:cNvPr id="16" name="Text 14"/>
          <p:cNvSpPr/>
          <p:nvPr/>
        </p:nvSpPr>
        <p:spPr>
          <a:xfrm>
            <a:off x="640080" y="3977640"/>
            <a:ext cx="10881360" cy="274320"/>
          </a:xfrm>
          <a:prstGeom prst="rect">
            <a:avLst/>
          </a:prstGeom>
          <a:noFill/>
          <a:ln/>
        </p:spPr>
        <p:txBody>
          <a:bodyPr wrap="square" lIns="0" tIns="0" rIns="0" bIns="0" rtlCol="0" anchor="ctr"/>
          <a:lstStyle/>
          <a:p>
            <a:pPr marL="0" indent="0">
              <a:buNone/>
            </a:pPr>
            <a:r>
              <a:rPr lang="en-US" sz="1200" b="1" kern="0" spc="100" dirty="0">
                <a:solidFill>
                  <a:srgbClr val="00D9A3"/>
                </a:solidFill>
                <a:latin typeface="Courier New" pitchFamily="34" charset="0"/>
                <a:ea typeface="Courier New" pitchFamily="34" charset="-122"/>
                <a:cs typeface="Courier New" pitchFamily="34" charset="-120"/>
              </a:rPr>
              <a:t>TECHNISCHER STACK</a:t>
            </a:r>
            <a:endParaRPr lang="en-US" sz="1200" dirty="0"/>
          </a:p>
        </p:txBody>
      </p:sp>
      <p:sp>
        <p:nvSpPr>
          <p:cNvPr id="17" name="Shape 15"/>
          <p:cNvSpPr/>
          <p:nvPr/>
        </p:nvSpPr>
        <p:spPr>
          <a:xfrm>
            <a:off x="640080" y="4325112"/>
            <a:ext cx="2555748" cy="1691640"/>
          </a:xfrm>
          <a:prstGeom prst="roundRect">
            <a:avLst>
              <a:gd name="adj" fmla="val 3243"/>
            </a:avLst>
          </a:prstGeom>
          <a:solidFill>
            <a:srgbClr val="151E2E"/>
          </a:solidFill>
          <a:ln w="12700">
            <a:solidFill>
              <a:srgbClr val="24314A"/>
            </a:solidFill>
            <a:prstDash val="solid"/>
          </a:ln>
        </p:spPr>
        <p:txBody>
          <a:bodyPr/>
          <a:lstStyle/>
          <a:p>
            <a:endParaRPr lang="en-US"/>
          </a:p>
        </p:txBody>
      </p:sp>
      <p:sp>
        <p:nvSpPr>
          <p:cNvPr id="18" name="Text 16"/>
          <p:cNvSpPr/>
          <p:nvPr/>
        </p:nvSpPr>
        <p:spPr>
          <a:xfrm>
            <a:off x="914400" y="4526280"/>
            <a:ext cx="2052828" cy="292608"/>
          </a:xfrm>
          <a:prstGeom prst="rect">
            <a:avLst/>
          </a:prstGeom>
          <a:noFill/>
          <a:ln/>
        </p:spPr>
        <p:txBody>
          <a:bodyPr wrap="square" lIns="0" tIns="0" rIns="0" bIns="0" rtlCol="0" anchor="ctr"/>
          <a:lstStyle/>
          <a:p>
            <a:pPr marL="0" indent="0">
              <a:buNone/>
            </a:pPr>
            <a:r>
              <a:rPr lang="en-US" sz="1600" b="1" dirty="0">
                <a:solidFill>
                  <a:srgbClr val="E8EDF5"/>
                </a:solidFill>
                <a:latin typeface="Arial" pitchFamily="34" charset="0"/>
                <a:ea typeface="Arial" pitchFamily="34" charset="-122"/>
                <a:cs typeface="Arial" pitchFamily="34" charset="-120"/>
              </a:rPr>
              <a:t>Vue.js</a:t>
            </a:r>
            <a:endParaRPr lang="en-US" sz="1600" dirty="0"/>
          </a:p>
        </p:txBody>
      </p:sp>
      <p:sp>
        <p:nvSpPr>
          <p:cNvPr id="19" name="Text 17"/>
          <p:cNvSpPr/>
          <p:nvPr/>
        </p:nvSpPr>
        <p:spPr>
          <a:xfrm>
            <a:off x="914400" y="5111496"/>
            <a:ext cx="2098548" cy="777240"/>
          </a:xfrm>
          <a:prstGeom prst="rect">
            <a:avLst/>
          </a:prstGeom>
          <a:noFill/>
          <a:ln/>
        </p:spPr>
        <p:txBody>
          <a:bodyPr wrap="square" lIns="0" tIns="0" rIns="0" bIns="0" rtlCol="0" anchor="t"/>
          <a:lstStyle/>
          <a:p>
            <a:pPr marL="0" indent="0">
              <a:lnSpc>
                <a:spcPts val="1500"/>
              </a:lnSpc>
              <a:buNone/>
            </a:pPr>
            <a:r>
              <a:rPr lang="en-US" sz="1200" dirty="0">
                <a:solidFill>
                  <a:srgbClr val="8FA0B8"/>
                </a:solidFill>
                <a:latin typeface="Calibri" pitchFamily="34" charset="0"/>
                <a:ea typeface="Calibri" pitchFamily="34" charset="-122"/>
                <a:cs typeface="Calibri" pitchFamily="34" charset="-120"/>
              </a:rPr>
              <a:t>Benutzeroberfläche und Anwendungslogik</a:t>
            </a:r>
            <a:endParaRPr lang="en-US" sz="1200" dirty="0"/>
          </a:p>
        </p:txBody>
      </p:sp>
      <p:sp>
        <p:nvSpPr>
          <p:cNvPr id="20" name="Shape 18"/>
          <p:cNvSpPr/>
          <p:nvPr/>
        </p:nvSpPr>
        <p:spPr>
          <a:xfrm>
            <a:off x="3424428" y="4325112"/>
            <a:ext cx="2555748" cy="1691640"/>
          </a:xfrm>
          <a:prstGeom prst="roundRect">
            <a:avLst>
              <a:gd name="adj" fmla="val 3243"/>
            </a:avLst>
          </a:prstGeom>
          <a:solidFill>
            <a:srgbClr val="151E2E"/>
          </a:solidFill>
          <a:ln w="12700">
            <a:solidFill>
              <a:srgbClr val="24314A"/>
            </a:solidFill>
            <a:prstDash val="solid"/>
          </a:ln>
        </p:spPr>
        <p:txBody>
          <a:bodyPr/>
          <a:lstStyle/>
          <a:p>
            <a:endParaRPr lang="en-US"/>
          </a:p>
        </p:txBody>
      </p:sp>
      <p:sp>
        <p:nvSpPr>
          <p:cNvPr id="21" name="Text 19"/>
          <p:cNvSpPr/>
          <p:nvPr/>
        </p:nvSpPr>
        <p:spPr>
          <a:xfrm>
            <a:off x="3698748" y="4526280"/>
            <a:ext cx="2052828" cy="292608"/>
          </a:xfrm>
          <a:prstGeom prst="rect">
            <a:avLst/>
          </a:prstGeom>
          <a:noFill/>
          <a:ln/>
        </p:spPr>
        <p:txBody>
          <a:bodyPr wrap="square" lIns="0" tIns="0" rIns="0" bIns="0" rtlCol="0" anchor="ctr"/>
          <a:lstStyle/>
          <a:p>
            <a:pPr marL="0" indent="0">
              <a:buNone/>
            </a:pPr>
            <a:r>
              <a:rPr lang="en-US" sz="1600" b="1" dirty="0">
                <a:solidFill>
                  <a:srgbClr val="E8EDF5"/>
                </a:solidFill>
                <a:latin typeface="Arial" pitchFamily="34" charset="0"/>
                <a:ea typeface="Arial" pitchFamily="34" charset="-122"/>
                <a:cs typeface="Arial" pitchFamily="34" charset="-120"/>
              </a:rPr>
              <a:t>Ionic</a:t>
            </a:r>
            <a:endParaRPr lang="en-US" sz="1600" dirty="0"/>
          </a:p>
        </p:txBody>
      </p:sp>
      <p:sp>
        <p:nvSpPr>
          <p:cNvPr id="22" name="Text 20"/>
          <p:cNvSpPr/>
          <p:nvPr/>
        </p:nvSpPr>
        <p:spPr>
          <a:xfrm>
            <a:off x="3698748" y="5111496"/>
            <a:ext cx="2098548" cy="777240"/>
          </a:xfrm>
          <a:prstGeom prst="rect">
            <a:avLst/>
          </a:prstGeom>
          <a:noFill/>
          <a:ln/>
        </p:spPr>
        <p:txBody>
          <a:bodyPr wrap="square" lIns="0" tIns="0" rIns="0" bIns="0" rtlCol="0" anchor="t"/>
          <a:lstStyle/>
          <a:p>
            <a:pPr marL="0" indent="0">
              <a:lnSpc>
                <a:spcPts val="1500"/>
              </a:lnSpc>
              <a:buNone/>
            </a:pPr>
            <a:r>
              <a:rPr lang="en-US" sz="1200" dirty="0">
                <a:solidFill>
                  <a:srgbClr val="8FA0B8"/>
                </a:solidFill>
                <a:latin typeface="Calibri" pitchFamily="34" charset="0"/>
                <a:ea typeface="Calibri" pitchFamily="34" charset="-122"/>
                <a:cs typeface="Calibri" pitchFamily="34" charset="-120"/>
              </a:rPr>
              <a:t>Mobile Bedienelemente und Gestaltung</a:t>
            </a:r>
            <a:endParaRPr lang="en-US" sz="1200" dirty="0"/>
          </a:p>
        </p:txBody>
      </p:sp>
      <p:sp>
        <p:nvSpPr>
          <p:cNvPr id="23" name="Shape 21"/>
          <p:cNvSpPr/>
          <p:nvPr/>
        </p:nvSpPr>
        <p:spPr>
          <a:xfrm>
            <a:off x="6208776" y="4325112"/>
            <a:ext cx="2555748" cy="1691640"/>
          </a:xfrm>
          <a:prstGeom prst="roundRect">
            <a:avLst>
              <a:gd name="adj" fmla="val 3243"/>
            </a:avLst>
          </a:prstGeom>
          <a:solidFill>
            <a:srgbClr val="151E2E"/>
          </a:solidFill>
          <a:ln w="12700">
            <a:solidFill>
              <a:srgbClr val="24314A"/>
            </a:solidFill>
            <a:prstDash val="solid"/>
          </a:ln>
        </p:spPr>
        <p:txBody>
          <a:bodyPr/>
          <a:lstStyle/>
          <a:p>
            <a:endParaRPr lang="en-US"/>
          </a:p>
        </p:txBody>
      </p:sp>
      <p:sp>
        <p:nvSpPr>
          <p:cNvPr id="24" name="Text 22"/>
          <p:cNvSpPr/>
          <p:nvPr/>
        </p:nvSpPr>
        <p:spPr>
          <a:xfrm>
            <a:off x="6483096" y="4526280"/>
            <a:ext cx="2052828" cy="292608"/>
          </a:xfrm>
          <a:prstGeom prst="rect">
            <a:avLst/>
          </a:prstGeom>
          <a:noFill/>
          <a:ln/>
        </p:spPr>
        <p:txBody>
          <a:bodyPr wrap="square" lIns="0" tIns="0" rIns="0" bIns="0" rtlCol="0" anchor="ctr"/>
          <a:lstStyle/>
          <a:p>
            <a:pPr marL="0" indent="0">
              <a:buNone/>
            </a:pPr>
            <a:r>
              <a:rPr lang="en-US" sz="1600" b="1" dirty="0">
                <a:solidFill>
                  <a:srgbClr val="E8EDF5"/>
                </a:solidFill>
                <a:latin typeface="Arial" pitchFamily="34" charset="0"/>
                <a:ea typeface="Arial" pitchFamily="34" charset="-122"/>
                <a:cs typeface="Arial" pitchFamily="34" charset="-120"/>
              </a:rPr>
              <a:t>Capacitor</a:t>
            </a:r>
            <a:endParaRPr lang="en-US" sz="1600" dirty="0"/>
          </a:p>
        </p:txBody>
      </p:sp>
      <p:sp>
        <p:nvSpPr>
          <p:cNvPr id="25" name="Text 23"/>
          <p:cNvSpPr/>
          <p:nvPr/>
        </p:nvSpPr>
        <p:spPr>
          <a:xfrm>
            <a:off x="6483096" y="5111496"/>
            <a:ext cx="2098548" cy="777240"/>
          </a:xfrm>
          <a:prstGeom prst="rect">
            <a:avLst/>
          </a:prstGeom>
          <a:noFill/>
          <a:ln/>
        </p:spPr>
        <p:txBody>
          <a:bodyPr wrap="square" lIns="0" tIns="0" rIns="0" bIns="0" rtlCol="0" anchor="t"/>
          <a:lstStyle/>
          <a:p>
            <a:pPr marL="0" indent="0">
              <a:lnSpc>
                <a:spcPts val="1500"/>
              </a:lnSpc>
              <a:buNone/>
            </a:pPr>
            <a:r>
              <a:rPr lang="en-US" sz="1200" dirty="0">
                <a:solidFill>
                  <a:srgbClr val="8FA0B8"/>
                </a:solidFill>
                <a:latin typeface="Calibri" pitchFamily="34" charset="0"/>
                <a:ea typeface="Calibri" pitchFamily="34" charset="-122"/>
                <a:cs typeface="Calibri" pitchFamily="34" charset="-120"/>
              </a:rPr>
              <a:t>Zugriff auf native Smartphone-Funktionen</a:t>
            </a:r>
            <a:endParaRPr lang="en-US" sz="1200" dirty="0"/>
          </a:p>
        </p:txBody>
      </p:sp>
      <p:sp>
        <p:nvSpPr>
          <p:cNvPr id="26" name="Shape 24"/>
          <p:cNvSpPr/>
          <p:nvPr/>
        </p:nvSpPr>
        <p:spPr>
          <a:xfrm>
            <a:off x="8993124" y="4325112"/>
            <a:ext cx="2555748" cy="1691640"/>
          </a:xfrm>
          <a:prstGeom prst="roundRect">
            <a:avLst>
              <a:gd name="adj" fmla="val 3243"/>
            </a:avLst>
          </a:prstGeom>
          <a:solidFill>
            <a:srgbClr val="151E2E"/>
          </a:solidFill>
          <a:ln w="12700">
            <a:solidFill>
              <a:srgbClr val="24314A"/>
            </a:solidFill>
            <a:prstDash val="solid"/>
          </a:ln>
        </p:spPr>
        <p:txBody>
          <a:bodyPr/>
          <a:lstStyle/>
          <a:p>
            <a:endParaRPr lang="en-US"/>
          </a:p>
        </p:txBody>
      </p:sp>
      <p:sp>
        <p:nvSpPr>
          <p:cNvPr id="27" name="Text 25"/>
          <p:cNvSpPr/>
          <p:nvPr/>
        </p:nvSpPr>
        <p:spPr>
          <a:xfrm>
            <a:off x="9267444" y="4526280"/>
            <a:ext cx="2052828" cy="292608"/>
          </a:xfrm>
          <a:prstGeom prst="rect">
            <a:avLst/>
          </a:prstGeom>
          <a:noFill/>
          <a:ln/>
        </p:spPr>
        <p:txBody>
          <a:bodyPr wrap="square" lIns="0" tIns="0" rIns="0" bIns="0" rtlCol="0" anchor="ctr"/>
          <a:lstStyle/>
          <a:p>
            <a:pPr marL="0" indent="0">
              <a:buNone/>
            </a:pPr>
            <a:r>
              <a:rPr lang="en-US" sz="1600" b="1" dirty="0">
                <a:solidFill>
                  <a:srgbClr val="E8EDF5"/>
                </a:solidFill>
                <a:latin typeface="Arial" pitchFamily="34" charset="0"/>
                <a:ea typeface="Arial" pitchFamily="34" charset="-122"/>
                <a:cs typeface="Arial" pitchFamily="34" charset="-120"/>
              </a:rPr>
              <a:t>Vite</a:t>
            </a:r>
            <a:endParaRPr lang="en-US" sz="1600" dirty="0"/>
          </a:p>
        </p:txBody>
      </p:sp>
      <p:sp>
        <p:nvSpPr>
          <p:cNvPr id="28" name="Text 26"/>
          <p:cNvSpPr/>
          <p:nvPr/>
        </p:nvSpPr>
        <p:spPr>
          <a:xfrm>
            <a:off x="9267444" y="5111496"/>
            <a:ext cx="2098548" cy="777240"/>
          </a:xfrm>
          <a:prstGeom prst="rect">
            <a:avLst/>
          </a:prstGeom>
          <a:noFill/>
          <a:ln/>
        </p:spPr>
        <p:txBody>
          <a:bodyPr wrap="square" lIns="0" tIns="0" rIns="0" bIns="0" rtlCol="0" anchor="t"/>
          <a:lstStyle/>
          <a:p>
            <a:pPr marL="0" indent="0">
              <a:lnSpc>
                <a:spcPts val="1500"/>
              </a:lnSpc>
              <a:buNone/>
            </a:pPr>
            <a:r>
              <a:rPr lang="en-US" sz="1200" dirty="0">
                <a:solidFill>
                  <a:srgbClr val="8FA0B8"/>
                </a:solidFill>
                <a:latin typeface="Calibri" pitchFamily="34" charset="0"/>
                <a:ea typeface="Calibri" pitchFamily="34" charset="-122"/>
                <a:cs typeface="Calibri" pitchFamily="34" charset="-120"/>
              </a:rPr>
              <a:t>Stellt den Quellcode während der Entwicklung bereit</a:t>
            </a:r>
            <a:endParaRPr lang="en-US" sz="1200" dirty="0"/>
          </a:p>
        </p:txBody>
      </p:sp>
      <p:sp>
        <p:nvSpPr>
          <p:cNvPr id="29" name="Text 6">
            <a:extLst>
              <a:ext uri="{FF2B5EF4-FFF2-40B4-BE49-F238E27FC236}">
                <a16:creationId xmlns:a16="http://schemas.microsoft.com/office/drawing/2014/main" id="{C04EE10C-A9F7-90F0-6E1B-1141EA7FB80D}"/>
              </a:ext>
            </a:extLst>
          </p:cNvPr>
          <p:cNvSpPr/>
          <p:nvPr/>
        </p:nvSpPr>
        <p:spPr>
          <a:xfrm>
            <a:off x="4649724" y="2560320"/>
            <a:ext cx="2980944" cy="237744"/>
          </a:xfrm>
          <a:prstGeom prst="rect">
            <a:avLst/>
          </a:prstGeom>
          <a:noFill/>
          <a:ln/>
        </p:spPr>
        <p:txBody>
          <a:bodyPr wrap="square" lIns="0" tIns="0" rIns="0" bIns="0" rtlCol="0" anchor="ctr"/>
          <a:lstStyle/>
          <a:p>
            <a:pPr marL="0" indent="0">
              <a:buNone/>
            </a:pPr>
            <a:r>
              <a:rPr lang="en-US" sz="1100" dirty="0">
                <a:solidFill>
                  <a:srgbClr val="00D9A3"/>
                </a:solidFill>
                <a:latin typeface="Courier New" pitchFamily="34" charset="0"/>
                <a:ea typeface="Courier New" pitchFamily="34" charset="-122"/>
                <a:cs typeface="Courier New" pitchFamily="34" charset="-120"/>
              </a:rPr>
              <a:t>Open AI</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151E2E"/>
        </a:solidFill>
        <a:effectLst/>
      </p:bgPr>
    </p:bg>
    <p:spTree>
      <p:nvGrpSpPr>
        <p:cNvPr id="1" name=""/>
        <p:cNvGrpSpPr/>
        <p:nvPr/>
      </p:nvGrpSpPr>
      <p:grpSpPr>
        <a:xfrm>
          <a:off x="0" y="0"/>
          <a:ext cx="0" cy="0"/>
          <a:chOff x="0" y="0"/>
          <a:chExt cx="0" cy="0"/>
        </a:xfrm>
      </p:grpSpPr>
      <p:sp>
        <p:nvSpPr>
          <p:cNvPr id="2" name="Shape 0"/>
          <p:cNvSpPr/>
          <p:nvPr/>
        </p:nvSpPr>
        <p:spPr>
          <a:xfrm>
            <a:off x="640080" y="1463040"/>
            <a:ext cx="137160" cy="457200"/>
          </a:xfrm>
          <a:prstGeom prst="rect">
            <a:avLst/>
          </a:prstGeom>
          <a:solidFill>
            <a:srgbClr val="00D9A3"/>
          </a:solidFill>
          <a:ln w="12700">
            <a:solidFill>
              <a:srgbClr val="00D9A3"/>
            </a:solidFill>
            <a:prstDash val="solid"/>
          </a:ln>
        </p:spPr>
        <p:txBody>
          <a:bodyPr/>
          <a:lstStyle/>
          <a:p>
            <a:endParaRPr lang="en-US"/>
          </a:p>
        </p:txBody>
      </p:sp>
      <p:sp>
        <p:nvSpPr>
          <p:cNvPr id="3" name="Shape 1"/>
          <p:cNvSpPr/>
          <p:nvPr/>
        </p:nvSpPr>
        <p:spPr>
          <a:xfrm>
            <a:off x="914400" y="1463040"/>
            <a:ext cx="45720" cy="457200"/>
          </a:xfrm>
          <a:prstGeom prst="rect">
            <a:avLst/>
          </a:prstGeom>
          <a:solidFill>
            <a:srgbClr val="00D9A3"/>
          </a:solidFill>
          <a:ln w="12700">
            <a:solidFill>
              <a:srgbClr val="00D9A3"/>
            </a:solidFill>
            <a:prstDash val="solid"/>
          </a:ln>
        </p:spPr>
        <p:txBody>
          <a:bodyPr/>
          <a:lstStyle/>
          <a:p>
            <a:endParaRPr lang="en-US"/>
          </a:p>
        </p:txBody>
      </p:sp>
      <p:sp>
        <p:nvSpPr>
          <p:cNvPr id="4" name="Shape 2"/>
          <p:cNvSpPr/>
          <p:nvPr/>
        </p:nvSpPr>
        <p:spPr>
          <a:xfrm>
            <a:off x="1143000" y="1463040"/>
            <a:ext cx="45720" cy="457200"/>
          </a:xfrm>
          <a:prstGeom prst="rect">
            <a:avLst/>
          </a:prstGeom>
          <a:solidFill>
            <a:srgbClr val="00D9A3"/>
          </a:solidFill>
          <a:ln w="12700">
            <a:solidFill>
              <a:srgbClr val="00D9A3"/>
            </a:solidFill>
            <a:prstDash val="solid"/>
          </a:ln>
        </p:spPr>
        <p:txBody>
          <a:bodyPr/>
          <a:lstStyle/>
          <a:p>
            <a:endParaRPr lang="en-US"/>
          </a:p>
        </p:txBody>
      </p:sp>
      <p:sp>
        <p:nvSpPr>
          <p:cNvPr id="5" name="Shape 3"/>
          <p:cNvSpPr/>
          <p:nvPr/>
        </p:nvSpPr>
        <p:spPr>
          <a:xfrm>
            <a:off x="1463040" y="1463040"/>
            <a:ext cx="45720" cy="457200"/>
          </a:xfrm>
          <a:prstGeom prst="rect">
            <a:avLst/>
          </a:prstGeom>
          <a:solidFill>
            <a:srgbClr val="00D9A3"/>
          </a:solidFill>
          <a:ln w="12700">
            <a:solidFill>
              <a:srgbClr val="00D9A3"/>
            </a:solidFill>
            <a:prstDash val="solid"/>
          </a:ln>
        </p:spPr>
        <p:txBody>
          <a:bodyPr/>
          <a:lstStyle/>
          <a:p>
            <a:endParaRPr lang="en-US"/>
          </a:p>
        </p:txBody>
      </p:sp>
      <p:sp>
        <p:nvSpPr>
          <p:cNvPr id="6" name="Shape 4"/>
          <p:cNvSpPr/>
          <p:nvPr/>
        </p:nvSpPr>
        <p:spPr>
          <a:xfrm>
            <a:off x="1645920" y="1463040"/>
            <a:ext cx="91440" cy="457200"/>
          </a:xfrm>
          <a:prstGeom prst="rect">
            <a:avLst/>
          </a:prstGeom>
          <a:solidFill>
            <a:srgbClr val="00D9A3"/>
          </a:solidFill>
          <a:ln w="12700">
            <a:solidFill>
              <a:srgbClr val="00D9A3"/>
            </a:solidFill>
            <a:prstDash val="solid"/>
          </a:ln>
        </p:spPr>
        <p:txBody>
          <a:bodyPr/>
          <a:lstStyle/>
          <a:p>
            <a:endParaRPr lang="en-US"/>
          </a:p>
        </p:txBody>
      </p:sp>
      <p:sp>
        <p:nvSpPr>
          <p:cNvPr id="7" name="Shape 5"/>
          <p:cNvSpPr/>
          <p:nvPr/>
        </p:nvSpPr>
        <p:spPr>
          <a:xfrm>
            <a:off x="1965960" y="1463040"/>
            <a:ext cx="45720" cy="457200"/>
          </a:xfrm>
          <a:prstGeom prst="rect">
            <a:avLst/>
          </a:prstGeom>
          <a:solidFill>
            <a:srgbClr val="00D9A3"/>
          </a:solidFill>
          <a:ln w="12700">
            <a:solidFill>
              <a:srgbClr val="00D9A3"/>
            </a:solidFill>
            <a:prstDash val="solid"/>
          </a:ln>
        </p:spPr>
        <p:txBody>
          <a:bodyPr/>
          <a:lstStyle/>
          <a:p>
            <a:endParaRPr lang="en-US"/>
          </a:p>
        </p:txBody>
      </p:sp>
      <p:sp>
        <p:nvSpPr>
          <p:cNvPr id="8" name="Shape 6"/>
          <p:cNvSpPr/>
          <p:nvPr/>
        </p:nvSpPr>
        <p:spPr>
          <a:xfrm>
            <a:off x="2148840" y="1463040"/>
            <a:ext cx="45720" cy="457200"/>
          </a:xfrm>
          <a:prstGeom prst="rect">
            <a:avLst/>
          </a:prstGeom>
          <a:solidFill>
            <a:srgbClr val="00D9A3"/>
          </a:solidFill>
          <a:ln w="12700">
            <a:solidFill>
              <a:srgbClr val="00D9A3"/>
            </a:solidFill>
            <a:prstDash val="solid"/>
          </a:ln>
        </p:spPr>
        <p:txBody>
          <a:bodyPr/>
          <a:lstStyle/>
          <a:p>
            <a:endParaRPr lang="en-US"/>
          </a:p>
        </p:txBody>
      </p:sp>
      <p:sp>
        <p:nvSpPr>
          <p:cNvPr id="9" name="Shape 7"/>
          <p:cNvSpPr/>
          <p:nvPr/>
        </p:nvSpPr>
        <p:spPr>
          <a:xfrm>
            <a:off x="2377440" y="1463040"/>
            <a:ext cx="182880" cy="457200"/>
          </a:xfrm>
          <a:prstGeom prst="rect">
            <a:avLst/>
          </a:prstGeom>
          <a:solidFill>
            <a:srgbClr val="00D9A3"/>
          </a:solidFill>
          <a:ln w="12700">
            <a:solidFill>
              <a:srgbClr val="00D9A3"/>
            </a:solidFill>
            <a:prstDash val="solid"/>
          </a:ln>
        </p:spPr>
        <p:txBody>
          <a:bodyPr/>
          <a:lstStyle/>
          <a:p>
            <a:endParaRPr lang="en-US"/>
          </a:p>
        </p:txBody>
      </p:sp>
      <p:sp>
        <p:nvSpPr>
          <p:cNvPr id="10" name="Shape 8"/>
          <p:cNvSpPr/>
          <p:nvPr/>
        </p:nvSpPr>
        <p:spPr>
          <a:xfrm>
            <a:off x="2697480" y="1463040"/>
            <a:ext cx="91440" cy="457200"/>
          </a:xfrm>
          <a:prstGeom prst="rect">
            <a:avLst/>
          </a:prstGeom>
          <a:solidFill>
            <a:srgbClr val="00D9A3"/>
          </a:solidFill>
          <a:ln w="12700">
            <a:solidFill>
              <a:srgbClr val="00D9A3"/>
            </a:solidFill>
            <a:prstDash val="solid"/>
          </a:ln>
        </p:spPr>
        <p:txBody>
          <a:bodyPr/>
          <a:lstStyle/>
          <a:p>
            <a:endParaRPr lang="en-US"/>
          </a:p>
        </p:txBody>
      </p:sp>
      <p:sp>
        <p:nvSpPr>
          <p:cNvPr id="11" name="Shape 9"/>
          <p:cNvSpPr/>
          <p:nvPr/>
        </p:nvSpPr>
        <p:spPr>
          <a:xfrm>
            <a:off x="2926080" y="1463040"/>
            <a:ext cx="45720" cy="457200"/>
          </a:xfrm>
          <a:prstGeom prst="rect">
            <a:avLst/>
          </a:prstGeom>
          <a:solidFill>
            <a:srgbClr val="00D9A3"/>
          </a:solidFill>
          <a:ln w="12700">
            <a:solidFill>
              <a:srgbClr val="00D9A3"/>
            </a:solidFill>
            <a:prstDash val="solid"/>
          </a:ln>
        </p:spPr>
        <p:txBody>
          <a:bodyPr/>
          <a:lstStyle/>
          <a:p>
            <a:endParaRPr lang="en-US"/>
          </a:p>
        </p:txBody>
      </p:sp>
      <p:sp>
        <p:nvSpPr>
          <p:cNvPr id="12" name="Shape 10"/>
          <p:cNvSpPr/>
          <p:nvPr/>
        </p:nvSpPr>
        <p:spPr>
          <a:xfrm>
            <a:off x="3200400" y="1463040"/>
            <a:ext cx="45720" cy="457200"/>
          </a:xfrm>
          <a:prstGeom prst="rect">
            <a:avLst/>
          </a:prstGeom>
          <a:solidFill>
            <a:srgbClr val="00D9A3"/>
          </a:solidFill>
          <a:ln w="12700">
            <a:solidFill>
              <a:srgbClr val="00D9A3"/>
            </a:solidFill>
            <a:prstDash val="solid"/>
          </a:ln>
        </p:spPr>
        <p:txBody>
          <a:bodyPr/>
          <a:lstStyle/>
          <a:p>
            <a:endParaRPr lang="en-US"/>
          </a:p>
        </p:txBody>
      </p:sp>
      <p:sp>
        <p:nvSpPr>
          <p:cNvPr id="13" name="Shape 11"/>
          <p:cNvSpPr/>
          <p:nvPr/>
        </p:nvSpPr>
        <p:spPr>
          <a:xfrm>
            <a:off x="3429000" y="1463040"/>
            <a:ext cx="45720" cy="457200"/>
          </a:xfrm>
          <a:prstGeom prst="rect">
            <a:avLst/>
          </a:prstGeom>
          <a:solidFill>
            <a:srgbClr val="00D9A3"/>
          </a:solidFill>
          <a:ln w="12700">
            <a:solidFill>
              <a:srgbClr val="00D9A3"/>
            </a:solidFill>
            <a:prstDash val="solid"/>
          </a:ln>
        </p:spPr>
        <p:txBody>
          <a:bodyPr/>
          <a:lstStyle/>
          <a:p>
            <a:endParaRPr lang="en-US"/>
          </a:p>
        </p:txBody>
      </p:sp>
      <p:sp>
        <p:nvSpPr>
          <p:cNvPr id="14" name="Shape 12"/>
          <p:cNvSpPr/>
          <p:nvPr/>
        </p:nvSpPr>
        <p:spPr>
          <a:xfrm>
            <a:off x="3611880" y="1463040"/>
            <a:ext cx="182880" cy="457200"/>
          </a:xfrm>
          <a:prstGeom prst="rect">
            <a:avLst/>
          </a:prstGeom>
          <a:solidFill>
            <a:srgbClr val="00D9A3"/>
          </a:solidFill>
          <a:ln w="12700">
            <a:solidFill>
              <a:srgbClr val="00D9A3"/>
            </a:solidFill>
            <a:prstDash val="solid"/>
          </a:ln>
        </p:spPr>
        <p:txBody>
          <a:bodyPr/>
          <a:lstStyle/>
          <a:p>
            <a:endParaRPr lang="en-US"/>
          </a:p>
        </p:txBody>
      </p:sp>
      <p:sp>
        <p:nvSpPr>
          <p:cNvPr id="15" name="Shape 13"/>
          <p:cNvSpPr/>
          <p:nvPr/>
        </p:nvSpPr>
        <p:spPr>
          <a:xfrm>
            <a:off x="3931920" y="1463040"/>
            <a:ext cx="45720" cy="457200"/>
          </a:xfrm>
          <a:prstGeom prst="rect">
            <a:avLst/>
          </a:prstGeom>
          <a:solidFill>
            <a:srgbClr val="00D9A3"/>
          </a:solidFill>
          <a:ln w="12700">
            <a:solidFill>
              <a:srgbClr val="00D9A3"/>
            </a:solidFill>
            <a:prstDash val="solid"/>
          </a:ln>
        </p:spPr>
        <p:txBody>
          <a:bodyPr/>
          <a:lstStyle/>
          <a:p>
            <a:endParaRPr lang="en-US"/>
          </a:p>
        </p:txBody>
      </p:sp>
      <p:sp>
        <p:nvSpPr>
          <p:cNvPr id="16" name="Shape 14"/>
          <p:cNvSpPr/>
          <p:nvPr/>
        </p:nvSpPr>
        <p:spPr>
          <a:xfrm>
            <a:off x="4160520" y="1463040"/>
            <a:ext cx="45720" cy="457200"/>
          </a:xfrm>
          <a:prstGeom prst="rect">
            <a:avLst/>
          </a:prstGeom>
          <a:solidFill>
            <a:srgbClr val="00D9A3"/>
          </a:solidFill>
          <a:ln w="12700">
            <a:solidFill>
              <a:srgbClr val="00D9A3"/>
            </a:solidFill>
            <a:prstDash val="solid"/>
          </a:ln>
        </p:spPr>
        <p:txBody>
          <a:bodyPr/>
          <a:lstStyle/>
          <a:p>
            <a:endParaRPr lang="en-US"/>
          </a:p>
        </p:txBody>
      </p:sp>
      <p:sp>
        <p:nvSpPr>
          <p:cNvPr id="17" name="Text 15"/>
          <p:cNvSpPr/>
          <p:nvPr/>
        </p:nvSpPr>
        <p:spPr>
          <a:xfrm>
            <a:off x="640080" y="2194560"/>
            <a:ext cx="7315200" cy="822960"/>
          </a:xfrm>
          <a:prstGeom prst="rect">
            <a:avLst/>
          </a:prstGeom>
          <a:noFill/>
          <a:ln/>
        </p:spPr>
        <p:txBody>
          <a:bodyPr wrap="square" lIns="0" tIns="0" rIns="0" bIns="0" rtlCol="0" anchor="ctr"/>
          <a:lstStyle/>
          <a:p>
            <a:pPr marL="0" indent="0">
              <a:buNone/>
            </a:pPr>
            <a:r>
              <a:rPr lang="en-US" sz="4400" b="1" dirty="0" err="1">
                <a:solidFill>
                  <a:srgbClr val="E8EDF5"/>
                </a:solidFill>
                <a:latin typeface="Arial" pitchFamily="34" charset="0"/>
                <a:ea typeface="Arial" pitchFamily="34" charset="-122"/>
                <a:cs typeface="Arial" pitchFamily="34" charset="-120"/>
              </a:rPr>
              <a:t>Vielen</a:t>
            </a:r>
            <a:r>
              <a:rPr lang="en-US" sz="4400" b="1" dirty="0">
                <a:solidFill>
                  <a:srgbClr val="E8EDF5"/>
                </a:solidFill>
                <a:latin typeface="Arial" pitchFamily="34" charset="0"/>
                <a:ea typeface="Arial" pitchFamily="34" charset="-122"/>
                <a:cs typeface="Arial" pitchFamily="34" charset="-120"/>
              </a:rPr>
              <a:t> Dank </a:t>
            </a:r>
            <a:endParaRPr lang="en-US" sz="4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1344</Words>
  <Application>Microsoft Office PowerPoint</Application>
  <PresentationFormat>Breitbild</PresentationFormat>
  <Paragraphs>275</Paragraphs>
  <Slides>25</Slides>
  <Notes>25</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25</vt:i4>
      </vt:variant>
    </vt:vector>
  </HeadingPairs>
  <TitlesOfParts>
    <vt:vector size="29" baseType="lpstr">
      <vt:lpstr>Arial</vt:lpstr>
      <vt:lpstr>Calibri</vt:lpstr>
      <vt:lpstr>Courier New</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Barcode Scanner App</dc:title>
  <dc:subject>PptxGenJS Presentation</dc:subject>
  <dc:creator>PptxGenJS</dc:creator>
  <cp:lastModifiedBy>Paul Genswein</cp:lastModifiedBy>
  <cp:revision>8</cp:revision>
  <dcterms:created xsi:type="dcterms:W3CDTF">2026-08-13T08:00:18Z</dcterms:created>
  <dcterms:modified xsi:type="dcterms:W3CDTF">2026-08-17T14:29:49Z</dcterms:modified>
</cp:coreProperties>
</file>